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Layouts/slideLayout5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_rels/slideLayout5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54.xml" ContentType="application/vnd.openxmlformats-officedocument.presentationml.slide+xml"/>
  <Override PartName="/ppt/slides/slide11.xml" ContentType="application/vnd.openxmlformats-officedocument.presentationml.slide+xml"/>
  <Override PartName="/ppt/slides/slide33.xml" ContentType="application/vnd.openxmlformats-officedocument.presentationml.slide+xml"/>
  <Override PartName="/ppt/slides/slide55.xml" ContentType="application/vnd.openxmlformats-officedocument.presentationml.slide+xml"/>
  <Override PartName="/ppt/slides/slide12.xml" ContentType="application/vnd.openxmlformats-officedocument.presentationml.slide+xml"/>
  <Override PartName="/ppt/slides/slide34.xml" ContentType="application/vnd.openxmlformats-officedocument.presentationml.slide+xml"/>
  <Override PartName="/ppt/slides/slide56.xml" ContentType="application/vnd.openxmlformats-officedocument.presentationml.slide+xml"/>
  <Override PartName="/ppt/slides/slide13.xml" ContentType="application/vnd.openxmlformats-officedocument.presentationml.slide+xml"/>
  <Override PartName="/ppt/slides/slide35.xml" ContentType="application/vnd.openxmlformats-officedocument.presentationml.slide+xml"/>
  <Override PartName="/ppt/slides/slide57.xml" ContentType="application/vnd.openxmlformats-officedocument.presentationml.slide+xml"/>
  <Override PartName="/ppt/slides/slide14.xml" ContentType="application/vnd.openxmlformats-officedocument.presentationml.slide+xml"/>
  <Override PartName="/ppt/slides/slide36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37.xml" ContentType="application/vnd.openxmlformats-officedocument.presentationml.slide+xml"/>
  <Override PartName="/ppt/slides/slide59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17.xml" ContentType="application/vnd.openxmlformats-officedocument.presentationml.slide+xml"/>
  <Override PartName="/ppt/slides/slide39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42.xml" ContentType="application/vnd.openxmlformats-officedocument.presentationml.slide+xml"/>
  <Override PartName="/ppt/slides/slide64.xml" ContentType="application/vnd.openxmlformats-officedocument.presentationml.slide+xml"/>
  <Override PartName="/ppt/slides/slide21.xml" ContentType="application/vnd.openxmlformats-officedocument.presentationml.slide+xml"/>
  <Override PartName="/ppt/slides/slide43.xml" ContentType="application/vnd.openxmlformats-officedocument.presentationml.slide+xml"/>
  <Override PartName="/ppt/slides/slide22.xml" ContentType="application/vnd.openxmlformats-officedocument.presentationml.slide+xml"/>
  <Override PartName="/ppt/slides/slide44.xml" ContentType="application/vnd.openxmlformats-officedocument.presentationml.slide+xml"/>
  <Override PartName="/ppt/slides/slide23.xml" ContentType="application/vnd.openxmlformats-officedocument.presentationml.slide+xml"/>
  <Override PartName="/ppt/slides/slide45.xml" ContentType="application/vnd.openxmlformats-officedocument.presentationml.slide+xml"/>
  <Override PartName="/ppt/slides/slide24.xml" ContentType="application/vnd.openxmlformats-officedocument.presentationml.slide+xml"/>
  <Override PartName="/ppt/slides/slide46.xml" ContentType="application/vnd.openxmlformats-officedocument.presentationml.slide+xml"/>
  <Override PartName="/ppt/slides/slide25.xml" ContentType="application/vnd.openxmlformats-officedocument.presentationml.slide+xml"/>
  <Override PartName="/ppt/slides/slide47.xml" ContentType="application/vnd.openxmlformats-officedocument.presentationml.slide+xml"/>
  <Override PartName="/ppt/slides/slide26.xml" ContentType="application/vnd.openxmlformats-officedocument.presentationml.slide+xml"/>
  <Override PartName="/ppt/slides/slide48.xml" ContentType="application/vnd.openxmlformats-officedocument.presentationml.slide+xml"/>
  <Override PartName="/ppt/slides/slide27.xml" ContentType="application/vnd.openxmlformats-officedocument.presentationml.slide+xml"/>
  <Override PartName="/ppt/slides/slide49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52.xml" ContentType="application/vnd.openxmlformats-officedocument.presentationml.slide+xml"/>
  <Override PartName="/ppt/slides/slide31.xml" ContentType="application/vnd.openxmlformats-officedocument.presentationml.slide+xml"/>
  <Override PartName="/ppt/slides/slide53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1.xml" ContentType="application/vnd.openxmlformats-officedocument.presentationml.slide+xml"/>
  <Override PartName="/ppt/slides/slide63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54.xml.rels" ContentType="application/vnd.openxmlformats-package.relationships+xml"/>
  <Override PartName="/ppt/slides/_rels/slide32.xml.rels" ContentType="application/vnd.openxmlformats-package.relationships+xml"/>
  <Override PartName="/ppt/slides/_rels/slide10.xml.rels" ContentType="application/vnd.openxmlformats-package.relationships+xml"/>
  <Override PartName="/ppt/slides/_rels/slide55.xml.rels" ContentType="application/vnd.openxmlformats-package.relationships+xml"/>
  <Override PartName="/ppt/slides/_rels/slide33.xml.rels" ContentType="application/vnd.openxmlformats-package.relationships+xml"/>
  <Override PartName="/ppt/slides/_rels/slide11.xml.rels" ContentType="application/vnd.openxmlformats-package.relationships+xml"/>
  <Override PartName="/ppt/slides/_rels/slide56.xml.rels" ContentType="application/vnd.openxmlformats-package.relationships+xml"/>
  <Override PartName="/ppt/slides/_rels/slide34.xml.rels" ContentType="application/vnd.openxmlformats-package.relationships+xml"/>
  <Override PartName="/ppt/slides/_rels/slide12.xml.rels" ContentType="application/vnd.openxmlformats-package.relationships+xml"/>
  <Override PartName="/ppt/slides/_rels/slide57.xml.rels" ContentType="application/vnd.openxmlformats-package.relationships+xml"/>
  <Override PartName="/ppt/slides/_rels/slide35.xml.rels" ContentType="application/vnd.openxmlformats-package.relationships+xml"/>
  <Override PartName="/ppt/slides/_rels/slide13.xml.rels" ContentType="application/vnd.openxmlformats-package.relationships+xml"/>
  <Override PartName="/ppt/slides/_rels/slide58.xml.rels" ContentType="application/vnd.openxmlformats-package.relationships+xml"/>
  <Override PartName="/ppt/slides/_rels/slide36.xml.rels" ContentType="application/vnd.openxmlformats-package.relationships+xml"/>
  <Override PartName="/ppt/slides/_rels/slide14.xml.rels" ContentType="application/vnd.openxmlformats-package.relationships+xml"/>
  <Override PartName="/ppt/slides/_rels/slide59.xml.rels" ContentType="application/vnd.openxmlformats-package.relationships+xml"/>
  <Override PartName="/ppt/slides/_rels/slide37.xml.rels" ContentType="application/vnd.openxmlformats-package.relationships+xml"/>
  <Override PartName="/ppt/slides/_rels/slide15.xml.rels" ContentType="application/vnd.openxmlformats-package.relationships+xml"/>
  <Override PartName="/ppt/slides/_rels/slide38.xml.rels" ContentType="application/vnd.openxmlformats-package.relationships+xml"/>
  <Override PartName="/ppt/slides/_rels/slide16.xml.rels" ContentType="application/vnd.openxmlformats-package.relationships+xml"/>
  <Override PartName="/ppt/slides/_rels/slide39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64.xml.rels" ContentType="application/vnd.openxmlformats-package.relationships+xml"/>
  <Override PartName="/ppt/slides/_rels/slide42.xml.rels" ContentType="application/vnd.openxmlformats-package.relationships+xml"/>
  <Override PartName="/ppt/slides/_rels/slide20.xml.rels" ContentType="application/vnd.openxmlformats-package.relationships+xml"/>
  <Override PartName="/ppt/slides/_rels/slide43.xml.rels" ContentType="application/vnd.openxmlformats-package.relationships+xml"/>
  <Override PartName="/ppt/slides/_rels/slide21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45.xml.rels" ContentType="application/vnd.openxmlformats-package.relationships+xml"/>
  <Override PartName="/ppt/slides/_rels/slide23.xml.rels" ContentType="application/vnd.openxmlformats-package.relationships+xml"/>
  <Override PartName="/ppt/slides/_rels/slide46.xml.rels" ContentType="application/vnd.openxmlformats-package.relationships+xml"/>
  <Override PartName="/ppt/slides/_rels/slide24.xml.rels" ContentType="application/vnd.openxmlformats-package.relationships+xml"/>
  <Override PartName="/ppt/slides/_rels/slide47.xml.rels" ContentType="application/vnd.openxmlformats-package.relationships+xml"/>
  <Override PartName="/ppt/slides/_rels/slide25.xml.rels" ContentType="application/vnd.openxmlformats-package.relationships+xml"/>
  <Override PartName="/ppt/slides/_rels/slide48.xml.rels" ContentType="application/vnd.openxmlformats-package.relationships+xml"/>
  <Override PartName="/ppt/slides/_rels/slide26.xml.rels" ContentType="application/vnd.openxmlformats-package.relationships+xml"/>
  <Override PartName="/ppt/slides/_rels/slide4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52.xml.rels" ContentType="application/vnd.openxmlformats-package.relationships+xml"/>
  <Override PartName="/ppt/slides/_rels/slide30.xml.rels" ContentType="application/vnd.openxmlformats-package.relationships+xml"/>
  <Override PartName="/ppt/slides/_rels/slide53.xml.rels" ContentType="application/vnd.openxmlformats-package.relationships+xml"/>
  <Override PartName="/ppt/slides/_rels/slide31.xml.rels" ContentType="application/vnd.openxmlformats-package.relationships+xml"/>
  <Override PartName="/ppt/slides/_rels/slide62.xml.rels" ContentType="application/vnd.openxmlformats-package.relationships+xml"/>
  <Override PartName="/ppt/slides/_rels/slide40.xml.rels" ContentType="application/vnd.openxmlformats-package.relationships+xml"/>
  <Override PartName="/ppt/slides/_rels/slide63.xml.rels" ContentType="application/vnd.openxmlformats-package.relationships+xml"/>
  <Override PartName="/ppt/slides/_rels/slide41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67.xml.rels" ContentType="application/vnd.openxmlformats-package.relationships+xml"/>
  <Override PartName="/ppt/slides/_rels/slide68.xml.rels" ContentType="application/vnd.openxmlformats-package.relationships+xml"/>
  <Override PartName="/ppt/slides/_rels/slide69.xml.rels" ContentType="application/vnd.openxmlformats-package.relationships+xml"/>
  <Override PartName="/ppt/slides/_rels/slide70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75.xml.rels" ContentType="application/vnd.openxmlformats-package.relationships+xml"/>
  <Override PartName="/ppt/slides/_rels/slide76.xml.rels" ContentType="application/vnd.openxmlformats-package.relationships+xml"/>
  <Override PartName="/ppt/slides/_rels/slide77.xml.rels" ContentType="application/vnd.openxmlformats-package.relationships+xml"/>
  <Override PartName="/ppt/slides/_rels/slide78.xml.rels" ContentType="application/vnd.openxmlformats-package.relationships+xml"/>
  <Override PartName="/ppt/slides/_rels/slide79.xml.rels" ContentType="application/vnd.openxmlformats-package.relationships+xml"/>
  <Override PartName="/ppt/slides/_rels/slide80.xml.rels" ContentType="application/vnd.openxmlformats-package.relationships+xml"/>
  <Override PartName="/ppt/slides/_rels/slide81.xml.rels" ContentType="application/vnd.openxmlformats-package.relationships+xml"/>
  <Override PartName="/ppt/slides/_rels/slide82.xml.rels" ContentType="application/vnd.openxmlformats-package.relationships+xml"/>
  <Override PartName="/ppt/slides/_rels/slide83.xml.rels" ContentType="application/vnd.openxmlformats-package.relationships+xml"/>
  <Override PartName="/ppt/slides/_rels/slide84.xml.rels" ContentType="application/vnd.openxmlformats-package.relationships+xml"/>
  <Override PartName="/ppt/slides/_rels/slide85.xml.rels" ContentType="application/vnd.openxmlformats-package.relationships+xml"/>
  <Override PartName="/ppt/slides/_rels/slide86.xml.rels" ContentType="application/vnd.openxmlformats-package.relationships+xml"/>
  <Override PartName="/ppt/media/image1.jpeg" ContentType="image/jpeg"/>
  <Override PartName="/ppt/media/image2.jpeg" ContentType="image/jpeg"/>
  <Override PartName="/ppt/media/image59.jpeg" ContentType="image/jpeg"/>
  <Override PartName="/ppt/media/image15.jpeg" ContentType="image/jpeg"/>
  <Override PartName="/ppt/media/image7.png" ContentType="image/png"/>
  <Override PartName="/ppt/media/image30.jpeg" ContentType="image/jpeg"/>
  <Override PartName="/ppt/media/image3.jpeg" ContentType="image/jpeg"/>
  <Override PartName="/ppt/media/image5.jpeg" ContentType="image/jpeg"/>
  <Override PartName="/ppt/media/image10.jpeg" ContentType="image/jpeg"/>
  <Override PartName="/ppt/media/image54.jpeg" ContentType="image/jpeg"/>
  <Override PartName="/ppt/media/image4.png" ContentType="image/png"/>
  <Override PartName="/ppt/media/image31.png" ContentType="image/png"/>
  <Override PartName="/ppt/media/image29.jpeg" ContentType="image/jpeg"/>
  <Override PartName="/ppt/media/image53.png" ContentType="image/png"/>
  <Override PartName="/ppt/media/image33.jpeg" ContentType="image/jpeg"/>
  <Override PartName="/ppt/media/image6.jpeg" ContentType="image/jpeg"/>
  <Override PartName="/ppt/media/image38.png" ContentType="image/png"/>
  <Override PartName="/ppt/media/image55.jpeg" ContentType="image/jpeg"/>
  <Override PartName="/ppt/media/image8.jpeg" ContentType="image/jpeg"/>
  <Override PartName="/ppt/media/image35.jpeg" ContentType="image/jpeg"/>
  <Override PartName="/ppt/media/image36.png" ContentType="image/png"/>
  <Override PartName="/ppt/media/image9.png" ContentType="image/png"/>
  <Override PartName="/ppt/media/image57.jpeg" ContentType="image/jpeg"/>
  <Override PartName="/ppt/media/image27.jpeg" ContentType="image/jpeg"/>
  <Override PartName="/ppt/media/image11.png" ContentType="image/png"/>
  <Override PartName="/ppt/media/image49.jpeg" ContentType="image/jpeg"/>
  <Override PartName="/ppt/media/image12.jpeg" ContentType="image/jpeg"/>
  <Override PartName="/ppt/media/image34.jpeg" ContentType="image/jpeg"/>
  <Override PartName="/ppt/media/image56.jpeg" ContentType="image/jpeg"/>
  <Override PartName="/ppt/media/image13.png" ContentType="image/png"/>
  <Override PartName="/ppt/media/image47.jpeg" ContentType="image/jpeg"/>
  <Override PartName="/ppt/media/image14.jpeg" ContentType="image/jpeg"/>
  <Override PartName="/ppt/media/image24.png" ContentType="image/png"/>
  <Override PartName="/ppt/media/image46.png" ContentType="image/png"/>
  <Override PartName="/ppt/media/image58.jpeg" ContentType="image/jpeg"/>
  <Override PartName="/ppt/media/image22.png" ContentType="image/png"/>
  <Override PartName="/ppt/media/image16.jpeg" ContentType="image/jpeg"/>
  <Override PartName="/ppt/media/image44.png" ContentType="image/png"/>
  <Override PartName="/ppt/media/image17.jpeg" ContentType="image/jpeg"/>
  <Override PartName="/ppt/media/image32.png" ContentType="image/png"/>
  <Override PartName="/ppt/media/image18.jpeg" ContentType="image/jpeg"/>
  <Override PartName="/ppt/media/image20.png" ContentType="image/png"/>
  <Override PartName="/ppt/media/image19.jpeg" ContentType="image/jpeg"/>
  <Override PartName="/ppt/media/image52.png" ContentType="image/png"/>
  <Override PartName="/ppt/media/image21.png" ContentType="image/png"/>
  <Override PartName="/ppt/media/image28.jpeg" ContentType="image/jpeg"/>
  <Override PartName="/ppt/media/image23.png" ContentType="image/png"/>
  <Override PartName="/ppt/media/image26.jpeg" ContentType="image/jpeg"/>
  <Override PartName="/ppt/media/image45.png" ContentType="image/png"/>
  <Override PartName="/ppt/media/image48.jpeg" ContentType="image/jpeg"/>
  <Override PartName="/ppt/media/image25.png" ContentType="image/png"/>
  <Override PartName="/ppt/media/image37.png" ContentType="image/png"/>
  <Override PartName="/ppt/media/image39.png" ContentType="image/png"/>
  <Override PartName="/ppt/media/image43.jpeg" ContentType="image/jpeg"/>
  <Override PartName="/ppt/media/image40.png" ContentType="image/png"/>
  <Override PartName="/ppt/media/image41.jpeg" ContentType="image/jpeg"/>
  <Override PartName="/ppt/media/image63.jpeg" ContentType="image/jpeg"/>
  <Override PartName="/ppt/media/image42.jpeg" ContentType="image/jpeg"/>
  <Override PartName="/ppt/media/image64.jpeg" ContentType="image/jpeg"/>
  <Override PartName="/ppt/media/image50.png" ContentType="image/png"/>
  <Override PartName="/ppt/media/image51.png" ContentType="image/png"/>
  <Override PartName="/ppt/media/image60.png" ContentType="image/png"/>
  <Override PartName="/ppt/media/image61.png" ContentType="image/png"/>
  <Override PartName="/ppt/media/image62.jpeg" ContentType="image/jpeg"/>
  <Override PartName="/ppt/media/image65.jpeg" ContentType="image/jpeg"/>
  <Override PartName="/ppt/media/image66.png" ContentType="image/png"/>
  <Override PartName="/ppt/media/image67.png" ContentType="image/png"/>
  <Override PartName="/ppt/media/image68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6D68A3E-31A2-44EE-9CC0-C0C724BB6AE1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75B4E89-DBF7-4BF4-8397-62CFC4C08BD6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B8C0E79-D5E0-470C-8466-A664C092FFA4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8989E9C-88E1-4E14-B7BC-D089792E9FDE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02368DB-B786-450A-ABC5-DBBEFE0BACB1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50BDF38-0893-4639-9A96-F6703964A946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76A375C-0AB0-4FD7-B159-5F343B62082D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2A8F6C1-D81E-4478-8AA1-4151749793E4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104FECC-7644-4CA9-972C-354D1351F33E}" type="slidenum">
              <a:t>&lt;#&gt;</a:t>
            </a:fld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0B4E30D-1A32-4AA4-A36D-53E645438EED}" type="slidenum">
              <a:t>&lt;#&gt;</a:t>
            </a:fld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267FB48-4EEE-419A-B330-1E4D874D88A1}" type="slidenum">
              <a:t>&lt;#&gt;</a:t>
            </a:fld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A2D2EB7-A5BC-4345-AE2A-90F49E2787D8}" type="slidenum">
              <a:t>&lt;#&gt;</a:t>
            </a:fld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5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8277120" y="5619600"/>
            <a:ext cx="3000240" cy="137880"/>
          </a:xfrm>
          <a:prstGeom prst="rect">
            <a:avLst/>
          </a:prstGeom>
          <a:solidFill>
            <a:srgbClr val="4ecd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1084320" y="1506600"/>
            <a:ext cx="2044440" cy="137520"/>
          </a:xfrm>
          <a:prstGeom prst="rect">
            <a:avLst/>
          </a:prstGeom>
          <a:solidFill>
            <a:srgbClr val="4ecd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83960" cy="6857640"/>
          </a:xfrm>
          <a:prstGeom prst="rect">
            <a:avLst/>
          </a:prstGeom>
          <a:solidFill>
            <a:srgbClr val="f670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0" y="0"/>
            <a:ext cx="183960" cy="6857640"/>
          </a:xfrm>
          <a:prstGeom prst="rect">
            <a:avLst/>
          </a:prstGeom>
          <a:solidFill>
            <a:srgbClr val="f670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" name=""/>
          <p:cNvSpPr/>
          <p:nvPr/>
        </p:nvSpPr>
        <p:spPr>
          <a:xfrm>
            <a:off x="1084320" y="1506600"/>
            <a:ext cx="2044440" cy="137520"/>
          </a:xfrm>
          <a:prstGeom prst="rect">
            <a:avLst/>
          </a:prstGeom>
          <a:solidFill>
            <a:srgbClr val="4ecd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/>
          <p:nvPr/>
        </p:nvSpPr>
        <p:spPr>
          <a:xfrm>
            <a:off x="7574040" y="0"/>
            <a:ext cx="461772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0" y="0"/>
            <a:ext cx="1080" cy="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45360" bIns="-45360" anchor="ctr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</a:tabLst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" name="PlaceHolder 1"/>
          <p:cNvSpPr>
            <a:spLocks noGrp="1"/>
          </p:cNvSpPr>
          <p:nvPr>
            <p:ph type="sldNum" idx="1"/>
          </p:nvPr>
        </p:nvSpPr>
        <p:spPr>
          <a:xfrm>
            <a:off x="-360" y="-36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6440" bIns="-46440" anchor="t">
            <a:noAutofit/>
          </a:bodyPr>
          <a:lstStyle>
            <a:lvl1pPr indent="0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None/>
              <a:tabLst>
                <a:tab algn="l" pos="0"/>
              </a:tabLst>
              <a:defRPr b="0" lang="pt-BR" sz="2400" spc="-1" strike="noStrike">
                <a:solidFill>
                  <a:srgbClr val="000000"/>
                </a:solidFill>
                <a:latin typeface="Roboto Condensed"/>
                <a:ea typeface="Segoe UI"/>
              </a:defRPr>
            </a:lvl1pPr>
          </a:lstStyle>
          <a:p>
            <a:pPr indent="0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None/>
              <a:tabLst>
                <a:tab algn="l" pos="0"/>
              </a:tabLst>
            </a:pPr>
            <a:fld id="{D556B3D0-56A0-4A37-B546-3C831363F571}" type="slidenum">
              <a:rPr b="0" lang="pt-BR" sz="2400" spc="-1" strike="noStrike">
                <a:solidFill>
                  <a:srgbClr val="000000"/>
                </a:solidFill>
                <a:latin typeface="Roboto Condensed"/>
                <a:ea typeface="Segoe UI"/>
              </a:rPr>
              <a:t>&lt;número&gt;</a:t>
            </a:fld>
            <a:endParaRPr b="0" lang="pt-B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0" y="6719760"/>
            <a:ext cx="12191760" cy="137880"/>
          </a:xfrm>
          <a:prstGeom prst="rect">
            <a:avLst/>
          </a:prstGeom>
          <a:solidFill>
            <a:srgbClr val="f670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http://www.youtube.com/watch?v=Ny94aGWOXPw" TargetMode="External"/><Relationship Id="rId3" Type="http://schemas.openxmlformats.org/officeDocument/2006/relationships/slideLayout" Target="../slideLayouts/slideLayout2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4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jpeg"/><Relationship Id="rId3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2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2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2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2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slideLayout" Target="../slideLayouts/slideLayout2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slideLayout" Target="../slideLayouts/slideLayout25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8.jpeg"/><Relationship Id="rId2" Type="http://schemas.openxmlformats.org/officeDocument/2006/relationships/slideLayout" Target="../slideLayouts/slideLayout2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9.jpeg"/><Relationship Id="rId2" Type="http://schemas.openxmlformats.org/officeDocument/2006/relationships/hyperlink" Target="http://www.engenhariacivil.com/reforco-solos-geossinteticos" TargetMode="External"/><Relationship Id="rId3" Type="http://schemas.openxmlformats.org/officeDocument/2006/relationships/slideLayout" Target="../slideLayouts/slideLayout2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0.jpeg"/><Relationship Id="rId2" Type="http://schemas.openxmlformats.org/officeDocument/2006/relationships/slideLayout" Target="../slideLayouts/slideLayout25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5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jpeg"/><Relationship Id="rId3" Type="http://schemas.openxmlformats.org/officeDocument/2006/relationships/slideLayout" Target="../slideLayouts/slideLayout25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34.jpeg"/><Relationship Id="rId2" Type="http://schemas.openxmlformats.org/officeDocument/2006/relationships/slideLayout" Target="../slideLayouts/slideLayout25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35.jpeg"/><Relationship Id="rId2" Type="http://schemas.openxmlformats.org/officeDocument/2006/relationships/slideLayout" Target="../slideLayouts/slideLayout2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5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5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5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25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2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hyperlink" Target="http://estiradorsemrima.blogspot.com/2007/05/o-umbigo-do-mundo-trs.html" TargetMode="External"/><Relationship Id="rId2" Type="http://schemas.openxmlformats.org/officeDocument/2006/relationships/image" Target="../media/image41.jpeg"/><Relationship Id="rId3" Type="http://schemas.openxmlformats.org/officeDocument/2006/relationships/slideLayout" Target="../slideLayouts/slideLayout25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42.jpeg"/><Relationship Id="rId2" Type="http://schemas.openxmlformats.org/officeDocument/2006/relationships/slideLayout" Target="../slideLayouts/slideLayout25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3.jpeg"/><Relationship Id="rId2" Type="http://schemas.openxmlformats.org/officeDocument/2006/relationships/hyperlink" Target="http://engbolzan.blogspot.com/2010/06/muro-de-arrimo-de-peso.html" TargetMode="External"/><Relationship Id="rId3" Type="http://schemas.openxmlformats.org/officeDocument/2006/relationships/slideLayout" Target="../slideLayouts/slideLayout2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25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25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25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47.jpeg"/><Relationship Id="rId2" Type="http://schemas.openxmlformats.org/officeDocument/2006/relationships/slideLayout" Target="../slideLayouts/slideLayout25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48.jpeg"/><Relationship Id="rId2" Type="http://schemas.openxmlformats.org/officeDocument/2006/relationships/slideLayout" Target="../slideLayouts/slideLayout25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49.jpeg"/><Relationship Id="rId2" Type="http://schemas.openxmlformats.org/officeDocument/2006/relationships/slideLayout" Target="../slideLayouts/slideLayout25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2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25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slideLayout" Target="../slideLayouts/slideLayout25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hyperlink" Target="http://www.ofitexto.com.br/conteudo/deg_230686.htm" TargetMode="External"/><Relationship Id="rId3" Type="http://schemas.openxmlformats.org/officeDocument/2006/relationships/slideLayout" Target="../slideLayouts/slideLayout25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54.jpeg"/><Relationship Id="rId2" Type="http://schemas.openxmlformats.org/officeDocument/2006/relationships/slideLayout" Target="../slideLayouts/slideLayout25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55.jpeg"/><Relationship Id="rId2" Type="http://schemas.openxmlformats.org/officeDocument/2006/relationships/image" Target="../media/image56.jpeg"/><Relationship Id="rId3" Type="http://schemas.openxmlformats.org/officeDocument/2006/relationships/slideLayout" Target="../slideLayouts/slideLayout25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57.jpeg"/><Relationship Id="rId2" Type="http://schemas.openxmlformats.org/officeDocument/2006/relationships/slideLayout" Target="../slideLayouts/slideLayout25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hyperlink" Target="http://www.geofund.com.br/?p=210" TargetMode="External"/><Relationship Id="rId2" Type="http://schemas.openxmlformats.org/officeDocument/2006/relationships/image" Target="../media/image58.jpeg"/><Relationship Id="rId3" Type="http://schemas.openxmlformats.org/officeDocument/2006/relationships/slideLayout" Target="../slideLayouts/slideLayout25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59.jpeg"/><Relationship Id="rId2" Type="http://schemas.openxmlformats.org/officeDocument/2006/relationships/slideLayout" Target="../slideLayouts/slideLayout2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slideLayout" Target="../slideLayouts/slideLayout25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slideLayout" Target="../slideLayouts/slideLayout25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62.jpeg"/><Relationship Id="rId2" Type="http://schemas.openxmlformats.org/officeDocument/2006/relationships/slideLayout" Target="../slideLayouts/slideLayout25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image" Target="../media/image63.jpeg"/><Relationship Id="rId2" Type="http://schemas.openxmlformats.org/officeDocument/2006/relationships/image" Target="../media/image64.jpeg"/><Relationship Id="rId3" Type="http://schemas.openxmlformats.org/officeDocument/2006/relationships/slideLayout" Target="../slideLayouts/slideLayout25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image" Target="../media/image65.jpeg"/><Relationship Id="rId2" Type="http://schemas.openxmlformats.org/officeDocument/2006/relationships/slideLayout" Target="../slideLayouts/slideLayout25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66.png"/><Relationship Id="rId2" Type="http://schemas.openxmlformats.org/officeDocument/2006/relationships/slideLayout" Target="../slideLayouts/slideLayout25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slideLayout" Target="../slideLayouts/slideLayout25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slideLayout" Target="../slideLayouts/slideLayout2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5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>
            <a:off x="5664240" y="3016080"/>
            <a:ext cx="5611320" cy="24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40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Estabilidade de Taludes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8832960" y="5805360"/>
            <a:ext cx="3246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ffffff"/>
                </a:solidFill>
                <a:latin typeface="Roboto Condensed"/>
                <a:ea typeface="DejaVu Sans"/>
              </a:rPr>
              <a:t>Fernando  Ferraz Ribeiro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8077320" y="6353280"/>
            <a:ext cx="21092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fld id="{D743F2FC-2354-4CBE-BC41-B6E19B651AE8}" type="slidenum">
              <a:rPr b="1" lang="pt-BR" sz="1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Estrutura da Aula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1055520" y="1609560"/>
            <a:ext cx="10872720" cy="47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1.0. Conceitos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2.0. Métodos de Estabilização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3.0. Drenagem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4.0. Pré-dimensionamento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>
            <a:off x="8077320" y="6353280"/>
            <a:ext cx="21092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fld id="{B41F9CF8-014A-497C-AD57-7E7BCD7EF3F3}" type="slidenum"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&lt;número&gt;</a:t>
            </a:fld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922320" y="2133720"/>
            <a:ext cx="10693080" cy="30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4572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Entender os fundamentos da estabilização de taludes e pré-dimensionar as soluções mais comuns.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Objetivo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2209680" y="3863880"/>
            <a:ext cx="4505040" cy="19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6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1.</a:t>
            </a:r>
            <a:br>
              <a:rPr sz="9600"/>
            </a:br>
            <a:r>
              <a:rPr b="1" lang="pt-BR" sz="54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Conceitos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" descr=""/>
          <p:cNvPicPr/>
          <p:nvPr/>
        </p:nvPicPr>
        <p:blipFill>
          <a:blip r:embed="rId1"/>
          <a:srcRect l="0" t="5161" r="0" b="16651"/>
          <a:stretch/>
        </p:blipFill>
        <p:spPr>
          <a:xfrm>
            <a:off x="-7920" y="0"/>
            <a:ext cx="12191760" cy="6957720"/>
          </a:xfrm>
          <a:prstGeom prst="rect">
            <a:avLst/>
          </a:prstGeom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1774800" y="6535800"/>
            <a:ext cx="756108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g1.globo.com  - Deslizamento de terra em Whidbey Island, em Washington.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" descr=""/>
          <p:cNvPicPr/>
          <p:nvPr/>
        </p:nvPicPr>
        <p:blipFill>
          <a:blip r:embed="rId1"/>
          <a:srcRect l="0" t="21325" r="0" b="0"/>
          <a:stretch/>
        </p:blipFill>
        <p:spPr>
          <a:xfrm>
            <a:off x="-168120" y="-243000"/>
            <a:ext cx="12359880" cy="7100640"/>
          </a:xfrm>
          <a:prstGeom prst="rect">
            <a:avLst/>
          </a:prstGeom>
          <a:ln w="0">
            <a:noFill/>
          </a:ln>
        </p:spPr>
      </p:pic>
      <p:sp>
        <p:nvSpPr>
          <p:cNvPr id="247" name=""/>
          <p:cNvSpPr/>
          <p:nvPr/>
        </p:nvSpPr>
        <p:spPr>
          <a:xfrm>
            <a:off x="250200" y="6599160"/>
            <a:ext cx="46645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brejinhos.blogspot.com .Deslizamento de terra em Nova Friburgo, no Rio de Janeiro.  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"/>
          <p:cNvSpPr/>
          <p:nvPr/>
        </p:nvSpPr>
        <p:spPr>
          <a:xfrm>
            <a:off x="969840" y="1844640"/>
            <a:ext cx="10512360" cy="52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Os elementos de estabilização de taludes estão ligados à prevenção de escorregamentos;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 </a:t>
            </a:r>
            <a:r>
              <a:rPr b="0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No cenário atual, considera-se o aumento da urbanização e consequentemente das áreas sujeitas a escorregamentos, assim como desflorestamento contínuo e as mudanças na velocidade de escoamento da água relacionadas às alterações do ciclo hidrológico urbano.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As tecnologias mais modernas propiciam maior produtividade, melhor aproveitamento do terreno e escavações mais profundas e seguras.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" descr=""/>
          <p:cNvPicPr/>
          <p:nvPr/>
        </p:nvPicPr>
        <p:blipFill>
          <a:blip r:embed="rId1"/>
          <a:stretch/>
        </p:blipFill>
        <p:spPr>
          <a:xfrm>
            <a:off x="1622520" y="1905120"/>
            <a:ext cx="8946720" cy="439200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/>
          <p:nvPr/>
        </p:nvSpPr>
        <p:spPr>
          <a:xfrm>
            <a:off x="1228320" y="6453360"/>
            <a:ext cx="20556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www.engineeringnaturesway.co.uk -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1245600" y="6453360"/>
            <a:ext cx="1074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http://www.rc.unesp.br/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" descr=""/>
          <p:cNvPicPr/>
          <p:nvPr/>
        </p:nvPicPr>
        <p:blipFill>
          <a:blip r:embed="rId1"/>
          <a:stretch/>
        </p:blipFill>
        <p:spPr>
          <a:xfrm>
            <a:off x="4583160" y="1528920"/>
            <a:ext cx="7176600" cy="4746240"/>
          </a:xfrm>
          <a:prstGeom prst="rect">
            <a:avLst/>
          </a:prstGeom>
          <a:ln w="0">
            <a:noFill/>
          </a:ln>
        </p:spPr>
      </p:pic>
      <p:sp>
        <p:nvSpPr>
          <p:cNvPr id="255" name=""/>
          <p:cNvSpPr/>
          <p:nvPr/>
        </p:nvSpPr>
        <p:spPr>
          <a:xfrm>
            <a:off x="1127160" y="2049480"/>
            <a:ext cx="3455640" cy="25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RASTEJOS (Creep):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Movimento </a:t>
            </a: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descendente, lento e contínuo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da massa de solo de um talude, caracterizando uma deformação plástica, sem geometria e superfície de ruptura definidas.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>
            <a:off x="1378800" y="5761080"/>
            <a:ext cx="324900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https://www.guiadaengenharia.com/estabilidade-taludes-deslizamentos/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1"/>
          <a:srcRect l="3440" t="5003" r="4073" b="2981"/>
          <a:stretch/>
        </p:blipFill>
        <p:spPr>
          <a:xfrm>
            <a:off x="960480" y="2503440"/>
            <a:ext cx="4534920" cy="3277800"/>
          </a:xfrm>
          <a:prstGeom prst="rect">
            <a:avLst/>
          </a:prstGeom>
          <a:ln w="0">
            <a:noFill/>
          </a:ln>
        </p:spPr>
      </p:pic>
      <p:pic>
        <p:nvPicPr>
          <p:cNvPr id="260" name="" descr=""/>
          <p:cNvPicPr/>
          <p:nvPr/>
        </p:nvPicPr>
        <p:blipFill>
          <a:blip r:embed="rId2"/>
          <a:stretch/>
        </p:blipFill>
        <p:spPr>
          <a:xfrm>
            <a:off x="6527880" y="2503440"/>
            <a:ext cx="4703400" cy="3257280"/>
          </a:xfrm>
          <a:prstGeom prst="rect">
            <a:avLst/>
          </a:prstGeom>
          <a:ln w="0">
            <a:noFill/>
          </a:ln>
        </p:spPr>
      </p:pic>
      <p:sp>
        <p:nvSpPr>
          <p:cNvPr id="261" name=""/>
          <p:cNvSpPr/>
          <p:nvPr/>
        </p:nvSpPr>
        <p:spPr>
          <a:xfrm>
            <a:off x="6518160" y="5761080"/>
            <a:ext cx="381600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https://www.rc.unesp.br/igce/aplicada/ead/interacao/inter09a.html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>
            <a:off x="10502280" y="6537240"/>
            <a:ext cx="1074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http://www.rc.unesp.br/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" descr=""/>
          <p:cNvPicPr/>
          <p:nvPr/>
        </p:nvPicPr>
        <p:blipFill>
          <a:blip r:embed="rId1"/>
          <a:stretch/>
        </p:blipFill>
        <p:spPr>
          <a:xfrm>
            <a:off x="5232240" y="1155600"/>
            <a:ext cx="6459480" cy="5067000"/>
          </a:xfrm>
          <a:prstGeom prst="rect">
            <a:avLst/>
          </a:prstGeom>
          <a:ln w="0">
            <a:noFill/>
          </a:ln>
        </p:spPr>
      </p:pic>
      <p:sp>
        <p:nvSpPr>
          <p:cNvPr id="264" name=""/>
          <p:cNvSpPr/>
          <p:nvPr/>
        </p:nvSpPr>
        <p:spPr>
          <a:xfrm>
            <a:off x="955800" y="2038320"/>
            <a:ext cx="3987360" cy="16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(Slides).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 rápido de massas do solo e/ou rocha, com volume bem definido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"/>
          <p:cNvSpPr/>
          <p:nvPr/>
        </p:nvSpPr>
        <p:spPr>
          <a:xfrm>
            <a:off x="8422560" y="6222960"/>
            <a:ext cx="295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https://www.guiadaengenharia.com/estabilidade-taludes-deslizamentos/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955800" y="2038320"/>
            <a:ext cx="3987360" cy="16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(Slides).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 rápido de massas do solo e/ou rocha, com volume bem definido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" descr=""/>
          <p:cNvPicPr/>
          <p:nvPr/>
        </p:nvPicPr>
        <p:blipFill>
          <a:blip r:embed="rId1"/>
          <a:stretch/>
        </p:blipFill>
        <p:spPr>
          <a:xfrm>
            <a:off x="5735520" y="2060640"/>
            <a:ext cx="5819400" cy="4161960"/>
          </a:xfrm>
          <a:prstGeom prst="rect">
            <a:avLst/>
          </a:prstGeom>
          <a:ln w="0">
            <a:noFill/>
          </a:ln>
        </p:spPr>
      </p:pic>
      <p:sp>
        <p:nvSpPr>
          <p:cNvPr id="270" name=""/>
          <p:cNvSpPr/>
          <p:nvPr/>
        </p:nvSpPr>
        <p:spPr>
          <a:xfrm>
            <a:off x="5764320" y="1574640"/>
            <a:ext cx="6098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ROTACIONAIS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1816920" y="6165720"/>
            <a:ext cx="1074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http://www.rc.unesp.br/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1"/>
          <a:stretch/>
        </p:blipFill>
        <p:spPr>
          <a:xfrm>
            <a:off x="5448240" y="1317600"/>
            <a:ext cx="6125760" cy="4857480"/>
          </a:xfrm>
          <a:prstGeom prst="rect">
            <a:avLst/>
          </a:prstGeom>
          <a:ln w="0">
            <a:noFill/>
          </a:ln>
        </p:spPr>
      </p:pic>
      <p:sp>
        <p:nvSpPr>
          <p:cNvPr id="273" name=""/>
          <p:cNvSpPr/>
          <p:nvPr/>
        </p:nvSpPr>
        <p:spPr>
          <a:xfrm>
            <a:off x="955800" y="2038320"/>
            <a:ext cx="3987360" cy="16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(Slides).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 rápido de massas do solo e/ou rocha, com volume bem definido.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>
            <a:off x="1816920" y="6165720"/>
            <a:ext cx="1074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http://www.rc.unesp.br/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955800" y="2038320"/>
            <a:ext cx="3987360" cy="16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(Slides).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 rápido de massas do solo e/ou rocha, com volume bem definido.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1"/>
          <a:stretch/>
        </p:blipFill>
        <p:spPr>
          <a:xfrm>
            <a:off x="5764320" y="2208240"/>
            <a:ext cx="5371560" cy="4084200"/>
          </a:xfrm>
          <a:prstGeom prst="rect">
            <a:avLst/>
          </a:prstGeom>
          <a:ln w="0">
            <a:noFill/>
          </a:ln>
        </p:spPr>
      </p:pic>
      <p:sp>
        <p:nvSpPr>
          <p:cNvPr id="279" name=""/>
          <p:cNvSpPr/>
          <p:nvPr/>
        </p:nvSpPr>
        <p:spPr>
          <a:xfrm>
            <a:off x="5764320" y="1574640"/>
            <a:ext cx="6098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PLANARES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8324280" y="6348240"/>
            <a:ext cx="295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https://www.guiadaengenharia.com/estabilidade-taludes-deslizamentos/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5764320" y="1882800"/>
            <a:ext cx="6098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400" spc="-1" strike="noStrike">
                <a:solidFill>
                  <a:srgbClr val="3a3a3a"/>
                </a:solidFill>
                <a:latin typeface="-apple-system"/>
                <a:ea typeface="DejaVu Sans"/>
              </a:rPr>
              <a:t>Associados a heterogeneidade dos materiais que formam o talude.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>
            <a:off x="1760040" y="6222960"/>
            <a:ext cx="1074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http://www.rc.unesp.br/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3" name="" descr=""/>
          <p:cNvPicPr/>
          <p:nvPr/>
        </p:nvPicPr>
        <p:blipFill>
          <a:blip r:embed="rId1"/>
          <a:stretch/>
        </p:blipFill>
        <p:spPr>
          <a:xfrm>
            <a:off x="5468760" y="1292400"/>
            <a:ext cx="5499000" cy="4872960"/>
          </a:xfrm>
          <a:prstGeom prst="rect">
            <a:avLst/>
          </a:prstGeom>
          <a:ln w="0">
            <a:noFill/>
          </a:ln>
        </p:spPr>
      </p:pic>
      <p:sp>
        <p:nvSpPr>
          <p:cNvPr id="284" name=""/>
          <p:cNvSpPr/>
          <p:nvPr/>
        </p:nvSpPr>
        <p:spPr>
          <a:xfrm>
            <a:off x="955800" y="2038320"/>
            <a:ext cx="3987360" cy="16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(Slides).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 rápido de massas do solo e/ou rocha, com volume bem definido.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>
            <a:off x="1760040" y="6222960"/>
            <a:ext cx="1074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http://www.rc.unesp.br/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955800" y="2038320"/>
            <a:ext cx="3987360" cy="16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(Slides).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 rápido de massas do solo e/ou rocha, com volume bem definido.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9" name="" descr=""/>
          <p:cNvPicPr/>
          <p:nvPr/>
        </p:nvPicPr>
        <p:blipFill>
          <a:blip r:embed="rId1"/>
          <a:stretch/>
        </p:blipFill>
        <p:spPr>
          <a:xfrm>
            <a:off x="5880240" y="2309760"/>
            <a:ext cx="5590800" cy="4038120"/>
          </a:xfrm>
          <a:prstGeom prst="rect">
            <a:avLst/>
          </a:prstGeom>
          <a:ln w="0">
            <a:noFill/>
          </a:ln>
        </p:spPr>
      </p:pic>
      <p:sp>
        <p:nvSpPr>
          <p:cNvPr id="290" name=""/>
          <p:cNvSpPr/>
          <p:nvPr/>
        </p:nvSpPr>
        <p:spPr>
          <a:xfrm>
            <a:off x="8324280" y="6348240"/>
            <a:ext cx="295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https://www.guiadaengenharia.com/estabilidade-taludes-deslizamentos/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5764320" y="1574640"/>
            <a:ext cx="6098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ESCORREGAMENTOS EM CUNHA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5764320" y="1882800"/>
            <a:ext cx="60987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400" spc="-1" strike="noStrike">
                <a:solidFill>
                  <a:srgbClr val="3a3a3a"/>
                </a:solidFill>
                <a:latin typeface="-apple-system"/>
                <a:ea typeface="DejaVu Sans"/>
              </a:rPr>
              <a:t>Associados às ações antrópicas.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>
            <a:off x="9233640" y="5925960"/>
            <a:ext cx="231768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watchoutnaturaldisasters</a:t>
            </a: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.weebly.com 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4" name="" descr=""/>
          <p:cNvPicPr/>
          <p:nvPr/>
        </p:nvPicPr>
        <p:blipFill>
          <a:blip r:embed="rId1"/>
          <a:stretch/>
        </p:blipFill>
        <p:spPr>
          <a:xfrm>
            <a:off x="4511520" y="1628640"/>
            <a:ext cx="7464240" cy="4197240"/>
          </a:xfrm>
          <a:prstGeom prst="rect">
            <a:avLst/>
          </a:prstGeom>
          <a:ln w="0">
            <a:noFill/>
          </a:ln>
        </p:spPr>
      </p:pic>
      <p:sp>
        <p:nvSpPr>
          <p:cNvPr id="295" name=""/>
          <p:cNvSpPr/>
          <p:nvPr/>
        </p:nvSpPr>
        <p:spPr>
          <a:xfrm>
            <a:off x="938160" y="2144880"/>
            <a:ext cx="3573000" cy="223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CORRIDAS (FLOW)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movimentos gravitacionais na forma de escoamento rápido, envolvendo grandes volumes de materiais.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1055520" y="5611680"/>
            <a:ext cx="3744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400" spc="-1" strike="noStrike" u="sng">
                <a:solidFill>
                  <a:srgbClr val="0000ff"/>
                </a:solidFill>
                <a:uFillTx/>
                <a:latin typeface="Roboto Condensed"/>
                <a:ea typeface="DejaVu Sans"/>
                <a:hlinkClick r:id="rId2"/>
              </a:rPr>
              <a:t>http://www.youtube.com/watch?v=Ny94aGWOXPw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" descr=""/>
          <p:cNvPicPr/>
          <p:nvPr/>
        </p:nvPicPr>
        <p:blipFill>
          <a:blip r:embed="rId1"/>
          <a:srcRect l="0" t="12411" r="0" b="1241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1455840" y="6627960"/>
            <a:ext cx="14230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 u="sng">
                <a:solidFill>
                  <a:srgbClr val="000000"/>
                </a:solidFill>
                <a:uFillTx/>
                <a:latin typeface="Roboto Condensed"/>
                <a:ea typeface="DejaVu Sans"/>
              </a:rPr>
              <a:t>www.ukgeohazards.info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>
            <a:off x="7344720" y="6229440"/>
            <a:ext cx="431712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https://www.guiadaengenharia.com/estabilidade-taludes-deslizamentos/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1055520" y="1916280"/>
            <a:ext cx="4327200" cy="20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QUEDAS EM BLOCOS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3a3a3a"/>
                </a:solidFill>
                <a:latin typeface="Roboto Condensed"/>
                <a:ea typeface="DejaVu Sans"/>
              </a:rPr>
              <a:t>A queda de blocos nada mais é do que a queda livre de blocos ao longo do talude, sem uma superfície de movimentação. Ocorre em inclinações acentuadas.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1"/>
          <a:stretch/>
        </p:blipFill>
        <p:spPr>
          <a:xfrm>
            <a:off x="5880240" y="2492280"/>
            <a:ext cx="5514480" cy="3514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>
            <a:off x="3536640" y="6472080"/>
            <a:ext cx="89060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https://g1.globo.com/rn/rio-grande-do-norte/noticia/2020/11/18/se-amavam-muito-diz-mae-de-vitima-sobre-casal-morto-em-desabamento-em-pipa.ghtml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1049400" y="1754280"/>
            <a:ext cx="382212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QUEDAS EM BLOCOS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7" name="" descr=""/>
          <p:cNvPicPr/>
          <p:nvPr/>
        </p:nvPicPr>
        <p:blipFill>
          <a:blip r:embed="rId1"/>
          <a:srcRect l="52259" t="0" r="0" b="7032"/>
          <a:stretch/>
        </p:blipFill>
        <p:spPr>
          <a:xfrm>
            <a:off x="6959520" y="1219320"/>
            <a:ext cx="4584600" cy="4984200"/>
          </a:xfrm>
          <a:prstGeom prst="rect">
            <a:avLst/>
          </a:prstGeom>
          <a:ln w="0">
            <a:noFill/>
          </a:ln>
        </p:spPr>
      </p:pic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1062000" y="2565360"/>
            <a:ext cx="5130360" cy="2887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949320" y="1292400"/>
            <a:ext cx="10345320" cy="52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No contexto da edificações, a intensificação do uso do automóvel representou importante fator para a maior utilização de soluções de contenções.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As tecnologias mais modernas propiciam maior produtividade, melhor aproveitamento do terreno e escavações mais profundas e seguras.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É preciso considerar: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Custo;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Prazo;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Esbeltez.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"/>
          <p:cNvSpPr/>
          <p:nvPr/>
        </p:nvSpPr>
        <p:spPr>
          <a:xfrm>
            <a:off x="922320" y="1628640"/>
            <a:ext cx="10789920" cy="48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Normas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NBR-11682 Estabilidade de Encostas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NBR-6122 Projeto e Execução de Fundações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NBR-6497 Levantamento Geotécnico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NBR-8044 Projeto Geotécnico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NBR-9288 Emprego de terrenos reforçados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NBR-9286 Terra Armada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NBR-9285 Microancoragem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NBR-6501 Rochas e Solos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NBR-9604 Abertura de poço e trincheira de Inspeção em solo, com retirada de amostras deformadas e indeformadas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NBR-9820 Coleta de armostras indeformadas em solo em furos de sondagem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NBR-6484 Execução de sondagens de simples reconhecimento dos solos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NBR-9061 Segurança de escavações a céu aberto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NBR-12589 Proteção de taludes e fixação de margens em obras portuárias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NBR-5629 Execução de tirantes ancorados no terreno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NBR-13896 Aterros de resíduos não perigosos - critérios para projeto, implantação e operação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NBR-5681 Controle tecnológico da execução de aterrros em obras de edificações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NBR-13602 Avaliação de dispersibilidade de solos argilosos pelo ensaio sedimentométrico comparativo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1.0. Conceitos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"/>
          <p:cNvSpPr/>
          <p:nvPr/>
        </p:nvSpPr>
        <p:spPr>
          <a:xfrm>
            <a:off x="2209680" y="3863880"/>
            <a:ext cx="4505040" cy="19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6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2.</a:t>
            </a:r>
            <a:br>
              <a:rPr sz="9600"/>
            </a:br>
            <a:r>
              <a:rPr b="1" lang="pt-BR" sz="54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Métodos de Estabilização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Exemplos de implantações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4140360" y="1393920"/>
            <a:ext cx="7019280" cy="526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"/>
          <p:cNvSpPr/>
          <p:nvPr/>
        </p:nvSpPr>
        <p:spPr>
          <a:xfrm>
            <a:off x="1055520" y="1844640"/>
            <a:ext cx="45367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2.1. Modificação de geometria.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709920" y="6194520"/>
            <a:ext cx="72234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https://www.aecweb.com.br/revista/materias/projeto-de-talude-pode-dispensar-contencoes-complexas-em-escavacoes-profundas/16110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1"/>
          <a:stretch/>
        </p:blipFill>
        <p:spPr>
          <a:xfrm>
            <a:off x="1085760" y="2637000"/>
            <a:ext cx="7984800" cy="329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Tipos de Plataformas e Taludes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1" name="" descr=""/>
          <p:cNvPicPr/>
          <p:nvPr/>
        </p:nvPicPr>
        <p:blipFill>
          <a:blip r:embed="rId1"/>
          <a:stretch/>
        </p:blipFill>
        <p:spPr>
          <a:xfrm>
            <a:off x="3060720" y="1757520"/>
            <a:ext cx="8481600" cy="4722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Determinação de linhas de offset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" descr=""/>
          <p:cNvPicPr/>
          <p:nvPr/>
        </p:nvPicPr>
        <p:blipFill>
          <a:blip r:embed="rId1"/>
          <a:stretch/>
        </p:blipFill>
        <p:spPr>
          <a:xfrm>
            <a:off x="595440" y="2317680"/>
            <a:ext cx="5884200" cy="3443040"/>
          </a:xfrm>
          <a:prstGeom prst="rect">
            <a:avLst/>
          </a:prstGeom>
          <a:ln w="0">
            <a:noFill/>
          </a:ln>
        </p:spPr>
      </p:pic>
      <p:pic>
        <p:nvPicPr>
          <p:cNvPr id="324" name="" descr=""/>
          <p:cNvPicPr/>
          <p:nvPr/>
        </p:nvPicPr>
        <p:blipFill>
          <a:blip r:embed="rId2"/>
          <a:stretch/>
        </p:blipFill>
        <p:spPr>
          <a:xfrm>
            <a:off x="6119640" y="2333520"/>
            <a:ext cx="5759280" cy="3427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Determinação de linhas de offset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" descr=""/>
          <p:cNvPicPr/>
          <p:nvPr/>
        </p:nvPicPr>
        <p:blipFill>
          <a:blip r:embed="rId1"/>
          <a:stretch/>
        </p:blipFill>
        <p:spPr>
          <a:xfrm>
            <a:off x="5313240" y="2717640"/>
            <a:ext cx="5211360" cy="3630240"/>
          </a:xfrm>
          <a:prstGeom prst="rect">
            <a:avLst/>
          </a:prstGeom>
          <a:ln w="0">
            <a:noFill/>
          </a:ln>
        </p:spPr>
      </p:pic>
      <p:pic>
        <p:nvPicPr>
          <p:cNvPr id="327" name="" descr=""/>
          <p:cNvPicPr/>
          <p:nvPr/>
        </p:nvPicPr>
        <p:blipFill>
          <a:blip r:embed="rId2"/>
          <a:stretch/>
        </p:blipFill>
        <p:spPr>
          <a:xfrm>
            <a:off x="1631880" y="2460600"/>
            <a:ext cx="4019400" cy="904680"/>
          </a:xfrm>
          <a:prstGeom prst="rect">
            <a:avLst/>
          </a:prstGeom>
          <a:ln w="0">
            <a:noFill/>
          </a:ln>
        </p:spPr>
      </p:pic>
      <p:sp>
        <p:nvSpPr>
          <p:cNvPr id="328" name=""/>
          <p:cNvSpPr/>
          <p:nvPr/>
        </p:nvSpPr>
        <p:spPr>
          <a:xfrm>
            <a:off x="922320" y="1874880"/>
            <a:ext cx="3239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Arial Unicode MS"/>
              </a:rPr>
              <a:t>Representação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"/>
          <p:cNvSpPr/>
          <p:nvPr/>
        </p:nvSpPr>
        <p:spPr>
          <a:xfrm>
            <a:off x="938160" y="1989000"/>
            <a:ext cx="84247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2.2. Tratamento superficial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Tem a finalidade de evitar que material do maciço seja perdido, através da erosão da face e/ou que a água infiltre no terreno de forma exagerada.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a) Vegetação rasteira;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b) Telas (geossintéticos);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c) Argamassa ou concreto jateado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>
            <a:off x="955800" y="1916280"/>
            <a:ext cx="9935640" cy="34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 Solo Reforçado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“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Consiste na introdução de elementos resistentes na massa de solo, com a finalidade de  aumentar a resistência do maciço como um todo. O método de execução é o chamado “Down-Top” (de baixo para cima). Durante a execução do aterro a ser reforçado, a cada camada de solo compactado executada, faz-se o intercalamento com uma camada de elementos resistentes. À medida que o aterro vai sendo alteado, o talude reforçado vai tomando forma. Geralmente, a face do talude reforçado recebe um revestimento, para que problemas, como erosão, possam ser evitados”. (Dyminski, A.)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"/>
          <p:cNvSpPr/>
          <p:nvPr/>
        </p:nvSpPr>
        <p:spPr>
          <a:xfrm>
            <a:off x="1055520" y="1933560"/>
            <a:ext cx="84247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 Solo Reforçado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2.3.1. Terra armada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Os elementos de reforço são tiras metálicas revestidas.  A disposição das fitas entre as camadas de solo compactadas </a:t>
            </a:r>
            <a:r>
              <a:rPr b="0" lang="pt-BR" sz="2000" spc="-1" strike="noStrike">
                <a:solidFill>
                  <a:srgbClr val="ffffff"/>
                </a:solidFill>
                <a:latin typeface="Roboto Condensed"/>
                <a:ea typeface="DejaVu Sans"/>
              </a:rPr>
              <a:t>aumenta a resistência do solo ao cisalhamento, formando uma massa de solo estável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Os blocos de concreto protegem a face, evitando deslocamento excessivo, no entanto não tem função estrutural;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1001520" y="645336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" descr=""/>
          <p:cNvPicPr/>
          <p:nvPr/>
        </p:nvPicPr>
        <p:blipFill>
          <a:blip r:embed="rId1"/>
          <a:stretch/>
        </p:blipFill>
        <p:spPr>
          <a:xfrm>
            <a:off x="3790800" y="1989000"/>
            <a:ext cx="7273800" cy="4333680"/>
          </a:xfrm>
          <a:prstGeom prst="rect">
            <a:avLst/>
          </a:prstGeom>
          <a:ln w="0">
            <a:noFill/>
          </a:ln>
        </p:spPr>
      </p:pic>
      <p:sp>
        <p:nvSpPr>
          <p:cNvPr id="337" name=""/>
          <p:cNvSpPr/>
          <p:nvPr/>
        </p:nvSpPr>
        <p:spPr>
          <a:xfrm>
            <a:off x="1127160" y="1844640"/>
            <a:ext cx="842436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3.3. Solo Reforçado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3.3.1. Terra armada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400" spc="-1" strike="noStrike">
                <a:solidFill>
                  <a:srgbClr val="ffffff"/>
                </a:solidFill>
                <a:latin typeface="Roboto Condensed"/>
                <a:ea typeface="DejaVu Sans"/>
              </a:rPr>
              <a:t>Já corrigi o e-mail. Sua a turma apresenta em 16/04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1471680" y="609300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62360" cy="68576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/>
          <p:nvPr/>
        </p:nvSpPr>
        <p:spPr>
          <a:xfrm>
            <a:off x="316080" y="6622920"/>
            <a:ext cx="18698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http://www.terraarmada.com.br/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" descr=""/>
          <p:cNvPicPr/>
          <p:nvPr/>
        </p:nvPicPr>
        <p:blipFill>
          <a:blip r:embed="rId1"/>
          <a:stretch/>
        </p:blipFill>
        <p:spPr>
          <a:xfrm>
            <a:off x="192240" y="-34920"/>
            <a:ext cx="9187920" cy="6892560"/>
          </a:xfrm>
          <a:prstGeom prst="rect">
            <a:avLst/>
          </a:prstGeom>
          <a:ln w="0">
            <a:noFill/>
          </a:ln>
        </p:spPr>
      </p:pic>
      <p:sp>
        <p:nvSpPr>
          <p:cNvPr id="343" name=""/>
          <p:cNvSpPr/>
          <p:nvPr/>
        </p:nvSpPr>
        <p:spPr>
          <a:xfrm>
            <a:off x="1441440" y="6438960"/>
            <a:ext cx="1470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www.tierra-armada.com 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" descr=""/>
          <p:cNvPicPr/>
          <p:nvPr/>
        </p:nvPicPr>
        <p:blipFill>
          <a:blip r:embed="rId1"/>
          <a:stretch/>
        </p:blipFill>
        <p:spPr>
          <a:xfrm>
            <a:off x="192240" y="-31680"/>
            <a:ext cx="9186480" cy="6889320"/>
          </a:xfrm>
          <a:prstGeom prst="rect">
            <a:avLst/>
          </a:prstGeom>
          <a:ln w="0">
            <a:noFill/>
          </a:ln>
        </p:spPr>
      </p:pic>
      <p:sp>
        <p:nvSpPr>
          <p:cNvPr id="345" name=""/>
          <p:cNvSpPr/>
          <p:nvPr/>
        </p:nvSpPr>
        <p:spPr>
          <a:xfrm>
            <a:off x="1432080" y="6438960"/>
            <a:ext cx="19929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http://www.cimentoitambe.com.br/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"/>
          <p:cNvSpPr/>
          <p:nvPr/>
        </p:nvSpPr>
        <p:spPr>
          <a:xfrm>
            <a:off x="1055520" y="1989000"/>
            <a:ext cx="8424720" cy="453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3.3. Solo Reforçado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3.3.1. Terra Armada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Resistência interna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: Que, aliada à estabilidade externa do volume armado, confere ao conjunto significativa capacidade de resistir às cargas estáticas e dinâmicas.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Confiabilidade: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 durabilidade dos materiais está bem documentada e é monitorável, permitindo alto grau de confiabilidade.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Adaptabilidade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: A tecnologia provê soluções para casos complexos e, muitas vezes, demonstra ser a melhor solução para problemas como: uma faixa de domínio estreita; taludes naturais instáveis; condições limite de fundação com  expectativa de  recalques significativos.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Aspecto estético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: A variedade de possibilidades de paramentos externos pode atender a diversas exigências arquitetônicas, Dashofer (2006).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ffffff"/>
                </a:solidFill>
                <a:latin typeface="Roboto Condensed"/>
                <a:ea typeface="DejaVu Sans"/>
              </a:rPr>
              <a:t>Já corrigi o e-mail. Sua a turma apresenta em 16/04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988920" y="640872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"/>
          <p:cNvSpPr/>
          <p:nvPr/>
        </p:nvSpPr>
        <p:spPr>
          <a:xfrm>
            <a:off x="1055520" y="1876320"/>
            <a:ext cx="8424720" cy="49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 Solo Reforçado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2.3.2. Geossintéticos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Os geossintéticos são inertes à umidade e às características químicas ou biológicas do solo. Podem ser utilizados com diferentes finalidades: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separação de materiais;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reforço de aterros;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filtração;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drenagem;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barreiras impermeáveis. 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800" spc="-1" strike="noStrike">
                <a:solidFill>
                  <a:srgbClr val="ffffff"/>
                </a:solidFill>
                <a:latin typeface="Roboto Condensed"/>
                <a:ea typeface="DejaVu Sans"/>
              </a:rPr>
              <a:t>Já corrigi o e-mail. Sua a turma apresenta em 16/04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1361880" y="661500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353" name=""/>
          <p:cNvSpPr/>
          <p:nvPr/>
        </p:nvSpPr>
        <p:spPr>
          <a:xfrm>
            <a:off x="1440360" y="6438960"/>
            <a:ext cx="15512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 u="sng">
                <a:solidFill>
                  <a:srgbClr val="0000ff"/>
                </a:solidFill>
                <a:uFillTx/>
                <a:latin typeface="Roboto Condensed"/>
                <a:ea typeface="DejaVu Sans"/>
                <a:hlinkClick r:id="rId2"/>
              </a:rPr>
              <a:t>www.engenhariacivil.com</a:t>
            </a: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 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"/>
          <p:cNvSpPr/>
          <p:nvPr/>
        </p:nvSpPr>
        <p:spPr>
          <a:xfrm>
            <a:off x="949320" y="1916280"/>
            <a:ext cx="8424360" cy="33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 Solo Reforçado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2.3.3. Alternativos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Pneus;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Bambu etc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1471680" y="609300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"/>
          <p:cNvSpPr/>
          <p:nvPr/>
        </p:nvSpPr>
        <p:spPr>
          <a:xfrm>
            <a:off x="1432080" y="6438960"/>
            <a:ext cx="19929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http://www.cimentoitambe.com.br/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8" name="" descr=""/>
          <p:cNvPicPr/>
          <p:nvPr/>
        </p:nvPicPr>
        <p:blipFill>
          <a:blip r:embed="rId1"/>
          <a:stretch/>
        </p:blipFill>
        <p:spPr>
          <a:xfrm>
            <a:off x="192240" y="-14400"/>
            <a:ext cx="9143640" cy="6886440"/>
          </a:xfrm>
          <a:prstGeom prst="rect">
            <a:avLst/>
          </a:prstGeom>
          <a:ln w="0">
            <a:noFill/>
          </a:ln>
        </p:spPr>
      </p:pic>
      <p:sp>
        <p:nvSpPr>
          <p:cNvPr id="359" name=""/>
          <p:cNvSpPr/>
          <p:nvPr/>
        </p:nvSpPr>
        <p:spPr>
          <a:xfrm>
            <a:off x="1470240" y="6550200"/>
            <a:ext cx="10846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www.arq.ufmg.br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>
            <a:off x="922320" y="1989000"/>
            <a:ext cx="10861200" cy="40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2.4. Solo Grampeado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Consiste na introdução de barras metálicas, revestidas ou não, em maciços naturais ou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em aterros.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Sua execução consiste em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perfuração do maciço,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introdução da barra metálica no furo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preenchimento do mesmo com nata de cimento.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 cabeça do prego pode ser protegida, bem como a face do talude, com argamassa de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cimento ou com concreto jateado.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Os grampos não são protendidos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, sendo solicitados somente quando o maciço sofre pequenos deslocamentos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869760" y="619596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922320" y="1749600"/>
            <a:ext cx="8424360" cy="20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2.4. Solo Grampeado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1429200" y="6381720"/>
            <a:ext cx="17067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www.laresengenharia.com.br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1"/>
          <a:stretch/>
        </p:blipFill>
        <p:spPr>
          <a:xfrm>
            <a:off x="3043080" y="2230560"/>
            <a:ext cx="7785000" cy="4395240"/>
          </a:xfrm>
          <a:prstGeom prst="rect">
            <a:avLst/>
          </a:prstGeom>
          <a:ln w="0">
            <a:noFill/>
          </a:ln>
        </p:spPr>
      </p:pic>
      <p:sp>
        <p:nvSpPr>
          <p:cNvPr id="36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" descr=""/>
          <p:cNvPicPr/>
          <p:nvPr/>
        </p:nvPicPr>
        <p:blipFill>
          <a:blip r:embed="rId1"/>
          <a:stretch/>
        </p:blipFill>
        <p:spPr>
          <a:xfrm>
            <a:off x="1200240" y="2598840"/>
            <a:ext cx="5976360" cy="4012560"/>
          </a:xfrm>
          <a:prstGeom prst="rect">
            <a:avLst/>
          </a:prstGeom>
          <a:ln w="0">
            <a:noFill/>
          </a:ln>
        </p:spPr>
      </p:pic>
      <p:sp>
        <p:nvSpPr>
          <p:cNvPr id="368" name=""/>
          <p:cNvSpPr/>
          <p:nvPr/>
        </p:nvSpPr>
        <p:spPr>
          <a:xfrm>
            <a:off x="1055520" y="1967040"/>
            <a:ext cx="8424720" cy="20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2.4. Solo Grampeado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1452960" y="6381720"/>
            <a:ext cx="16610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http://www.metalica.com.br/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0" name="" descr=""/>
          <p:cNvPicPr/>
          <p:nvPr/>
        </p:nvPicPr>
        <p:blipFill>
          <a:blip r:embed="rId2"/>
          <a:stretch/>
        </p:blipFill>
        <p:spPr>
          <a:xfrm>
            <a:off x="7196040" y="1460520"/>
            <a:ext cx="4105080" cy="2155320"/>
          </a:xfrm>
          <a:prstGeom prst="rect">
            <a:avLst/>
          </a:prstGeom>
          <a:ln w="0">
            <a:noFill/>
          </a:ln>
        </p:spPr>
      </p:pic>
      <p:sp>
        <p:nvSpPr>
          <p:cNvPr id="371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1587600" y="-1364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73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8919720" cy="6857640"/>
          </a:xfrm>
          <a:prstGeom prst="rect">
            <a:avLst/>
          </a:prstGeom>
          <a:ln w="0">
            <a:noFill/>
          </a:ln>
        </p:spPr>
      </p:pic>
      <p:sp>
        <p:nvSpPr>
          <p:cNvPr id="374" name=""/>
          <p:cNvSpPr/>
          <p:nvPr/>
        </p:nvSpPr>
        <p:spPr>
          <a:xfrm>
            <a:off x="2138400" y="6611760"/>
            <a:ext cx="159300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http://ancorbras.com.br/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376" name=""/>
          <p:cNvSpPr/>
          <p:nvPr/>
        </p:nvSpPr>
        <p:spPr>
          <a:xfrm>
            <a:off x="2138400" y="6611760"/>
            <a:ext cx="159300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http://ancorbras.com.br/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"/>
          <p:cNvSpPr/>
          <p:nvPr/>
        </p:nvSpPr>
        <p:spPr>
          <a:xfrm>
            <a:off x="922320" y="1916280"/>
            <a:ext cx="10142280" cy="403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 Muro de Arrimo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paredes que servem para conter massas de terra. Podem ser de diversos tipos e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funcionar de diferentes maneiras.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A estabilidade deve-se ao peso próprio. Utilizados para conter desníveis inferiores a  5m.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Em geral são executados em alvenaria ou em concreto. Nos muros de concreto devem ser previstas juntas estruturais com espaçamento máximo de 20m e vedação em Neoprene ou material similar.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1001520" y="645804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0" name="" descr=""/>
          <p:cNvPicPr/>
          <p:nvPr/>
        </p:nvPicPr>
        <p:blipFill>
          <a:blip r:embed="rId1"/>
          <a:stretch/>
        </p:blipFill>
        <p:spPr>
          <a:xfrm>
            <a:off x="2038320" y="1844640"/>
            <a:ext cx="8115120" cy="4505040"/>
          </a:xfrm>
          <a:prstGeom prst="rect">
            <a:avLst/>
          </a:prstGeom>
          <a:ln w="0">
            <a:noFill/>
          </a:ln>
        </p:spPr>
      </p:pic>
      <p:sp>
        <p:nvSpPr>
          <p:cNvPr id="381" name=""/>
          <p:cNvSpPr/>
          <p:nvPr/>
        </p:nvSpPr>
        <p:spPr>
          <a:xfrm>
            <a:off x="1200240" y="661680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" descr=""/>
          <p:cNvPicPr/>
          <p:nvPr/>
        </p:nvPicPr>
        <p:blipFill>
          <a:blip r:embed="rId1"/>
          <a:stretch/>
        </p:blipFill>
        <p:spPr>
          <a:xfrm>
            <a:off x="2062080" y="1752480"/>
            <a:ext cx="8067240" cy="4600440"/>
          </a:xfrm>
          <a:prstGeom prst="rect">
            <a:avLst/>
          </a:prstGeom>
          <a:ln w="0">
            <a:noFill/>
          </a:ln>
        </p:spPr>
      </p:pic>
      <p:sp>
        <p:nvSpPr>
          <p:cNvPr id="384" name=""/>
          <p:cNvSpPr/>
          <p:nvPr/>
        </p:nvSpPr>
        <p:spPr>
          <a:xfrm>
            <a:off x="1774800" y="623736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" descr=""/>
          <p:cNvPicPr/>
          <p:nvPr/>
        </p:nvPicPr>
        <p:blipFill>
          <a:blip r:embed="rId1"/>
          <a:stretch/>
        </p:blipFill>
        <p:spPr>
          <a:xfrm>
            <a:off x="2235240" y="1893960"/>
            <a:ext cx="8181720" cy="4447800"/>
          </a:xfrm>
          <a:prstGeom prst="rect">
            <a:avLst/>
          </a:prstGeom>
          <a:ln w="0">
            <a:noFill/>
          </a:ln>
        </p:spPr>
      </p:pic>
      <p:sp>
        <p:nvSpPr>
          <p:cNvPr id="387" name=""/>
          <p:cNvSpPr/>
          <p:nvPr/>
        </p:nvSpPr>
        <p:spPr>
          <a:xfrm>
            <a:off x="1523880" y="652464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1343160" y="652788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0" name="" descr=""/>
          <p:cNvPicPr/>
          <p:nvPr/>
        </p:nvPicPr>
        <p:blipFill>
          <a:blip r:embed="rId1"/>
          <a:stretch/>
        </p:blipFill>
        <p:spPr>
          <a:xfrm>
            <a:off x="2135160" y="1898640"/>
            <a:ext cx="8429400" cy="4628880"/>
          </a:xfrm>
          <a:prstGeom prst="rect">
            <a:avLst/>
          </a:prstGeom>
          <a:ln w="0">
            <a:noFill/>
          </a:ln>
        </p:spPr>
      </p:pic>
      <p:sp>
        <p:nvSpPr>
          <p:cNvPr id="391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"/>
          <p:cNvSpPr/>
          <p:nvPr/>
        </p:nvSpPr>
        <p:spPr>
          <a:xfrm>
            <a:off x="922320" y="2100240"/>
            <a:ext cx="84243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1650960" y="645336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4" name="" descr=""/>
          <p:cNvPicPr/>
          <p:nvPr/>
        </p:nvPicPr>
        <p:blipFill>
          <a:blip r:embed="rId1"/>
          <a:stretch/>
        </p:blipFill>
        <p:spPr>
          <a:xfrm>
            <a:off x="2397240" y="3429000"/>
            <a:ext cx="7870320" cy="2690280"/>
          </a:xfrm>
          <a:prstGeom prst="rect">
            <a:avLst/>
          </a:prstGeom>
          <a:ln w="0">
            <a:noFill/>
          </a:ln>
        </p:spPr>
      </p:pic>
      <p:sp>
        <p:nvSpPr>
          <p:cNvPr id="39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1055520" y="1917720"/>
            <a:ext cx="5256000" cy="38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a) Pedra sem argamassa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8807400" y="6222960"/>
            <a:ext cx="18399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 u="sng">
                <a:solidFill>
                  <a:srgbClr val="0000ff"/>
                </a:solidFill>
                <a:uFillTx/>
                <a:latin typeface="Roboto Condensed"/>
                <a:ea typeface="DejaVu Sans"/>
                <a:hlinkClick r:id="rId1"/>
              </a:rPr>
              <a:t>estiradorsemrima.blogspot.com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8" name="" descr=""/>
          <p:cNvPicPr/>
          <p:nvPr/>
        </p:nvPicPr>
        <p:blipFill>
          <a:blip r:embed="rId2"/>
          <a:stretch/>
        </p:blipFill>
        <p:spPr>
          <a:xfrm>
            <a:off x="7319880" y="1560600"/>
            <a:ext cx="3779640" cy="4244400"/>
          </a:xfrm>
          <a:prstGeom prst="rect">
            <a:avLst/>
          </a:prstGeom>
          <a:ln w="0">
            <a:noFill/>
          </a:ln>
        </p:spPr>
      </p:pic>
      <p:sp>
        <p:nvSpPr>
          <p:cNvPr id="399" name=""/>
          <p:cNvSpPr/>
          <p:nvPr/>
        </p:nvSpPr>
        <p:spPr>
          <a:xfrm>
            <a:off x="1092240" y="3070080"/>
            <a:ext cx="5530320" cy="28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 marL="216000" indent="-216000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Contenção de taludes com alturas de até 2m;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 base do muro deve ter largura de 0,5 a 1,0m e deve assentar-se sobre cota inferior à da superfície do terreno;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Não necessita de drenos.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"/>
          <p:cNvSpPr/>
          <p:nvPr/>
        </p:nvSpPr>
        <p:spPr>
          <a:xfrm>
            <a:off x="907920" y="1832040"/>
            <a:ext cx="10361520" cy="43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b) Pedra argamassada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Aplica-se a taludes de maior altura (cerca de uns 3m);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A argamassa provoca uma maior rigidez no muro, porém elimina a sua capacidade drenante.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É necessário então implementar os dispositivos usuais de drenagem de muros impermeáveis, tais como dreno de areia ou tubos barbacãs.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404" name=""/>
          <p:cNvSpPr/>
          <p:nvPr/>
        </p:nvSpPr>
        <p:spPr>
          <a:xfrm>
            <a:off x="1523880" y="6308640"/>
            <a:ext cx="457164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http://www.flickr.com/photos/projetomacicodomorrodacruz/3471859424/sizes/z/in/set-72157617175495872/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"/>
          <p:cNvSpPr/>
          <p:nvPr/>
        </p:nvSpPr>
        <p:spPr>
          <a:xfrm>
            <a:off x="1127160" y="2060640"/>
            <a:ext cx="4968360" cy="43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c) Muro de Concreto Ciclópico ou Concreto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O muro de concreto ciclópico é construído mediante o preenchimento de uma fôrma com concreto e pedra de dimensões variadas;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Secção é usualmente trapezoidal. Caso se deseje executar a face frontal plano recomenda-se inclinação de pelo menos dois graus em direção à área aterrada.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6" name="" descr=""/>
          <p:cNvPicPr/>
          <p:nvPr/>
        </p:nvPicPr>
        <p:blipFill>
          <a:blip r:embed="rId1"/>
          <a:stretch/>
        </p:blipFill>
        <p:spPr>
          <a:xfrm>
            <a:off x="6315120" y="2779560"/>
            <a:ext cx="4481280" cy="2952720"/>
          </a:xfrm>
          <a:prstGeom prst="rect">
            <a:avLst/>
          </a:prstGeom>
          <a:ln w="0">
            <a:noFill/>
          </a:ln>
        </p:spPr>
      </p:pic>
      <p:sp>
        <p:nvSpPr>
          <p:cNvPr id="407" name=""/>
          <p:cNvSpPr/>
          <p:nvPr/>
        </p:nvSpPr>
        <p:spPr>
          <a:xfrm>
            <a:off x="10139400" y="6451560"/>
            <a:ext cx="131256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800" spc="-1" strike="noStrike" u="sng">
                <a:solidFill>
                  <a:srgbClr val="0000ff"/>
                </a:solidFill>
                <a:uFillTx/>
                <a:latin typeface="Roboto Condensed"/>
                <a:ea typeface="DejaVu Sans"/>
                <a:hlinkClick r:id="rId2"/>
              </a:rPr>
              <a:t>engbolzan.blogspot.com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" descr=""/>
          <p:cNvPicPr/>
          <p:nvPr/>
        </p:nvPicPr>
        <p:blipFill>
          <a:blip r:embed="rId1"/>
          <a:srcRect l="0" t="0" r="0" b="12324"/>
          <a:stretch/>
        </p:blipFill>
        <p:spPr>
          <a:xfrm>
            <a:off x="1263600" y="2154240"/>
            <a:ext cx="9143640" cy="4333680"/>
          </a:xfrm>
          <a:prstGeom prst="rect">
            <a:avLst/>
          </a:prstGeom>
          <a:ln w="0">
            <a:noFill/>
          </a:ln>
        </p:spPr>
      </p:pic>
      <p:sp>
        <p:nvSpPr>
          <p:cNvPr id="410" name=""/>
          <p:cNvSpPr/>
          <p:nvPr/>
        </p:nvSpPr>
        <p:spPr>
          <a:xfrm>
            <a:off x="933480" y="1846440"/>
            <a:ext cx="828144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8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1273320" y="648828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" descr=""/>
          <p:cNvPicPr/>
          <p:nvPr/>
        </p:nvPicPr>
        <p:blipFill>
          <a:blip r:embed="rId1"/>
          <a:stretch/>
        </p:blipFill>
        <p:spPr>
          <a:xfrm>
            <a:off x="1847880" y="1433520"/>
            <a:ext cx="9143640" cy="5135040"/>
          </a:xfrm>
          <a:prstGeom prst="rect">
            <a:avLst/>
          </a:prstGeom>
          <a:ln w="0">
            <a:noFill/>
          </a:ln>
        </p:spPr>
      </p:pic>
      <p:sp>
        <p:nvSpPr>
          <p:cNvPr id="414" name=""/>
          <p:cNvSpPr/>
          <p:nvPr/>
        </p:nvSpPr>
        <p:spPr>
          <a:xfrm>
            <a:off x="1055520" y="1844640"/>
            <a:ext cx="8281800" cy="5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1523880" y="645336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>
            <a:off x="1055520" y="1706400"/>
            <a:ext cx="8281800" cy="57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1523880" y="638172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9" name="" descr=""/>
          <p:cNvPicPr/>
          <p:nvPr/>
        </p:nvPicPr>
        <p:blipFill>
          <a:blip r:embed="rId1"/>
          <a:stretch/>
        </p:blipFill>
        <p:spPr>
          <a:xfrm>
            <a:off x="1200240" y="2698920"/>
            <a:ext cx="8281440" cy="3579120"/>
          </a:xfrm>
          <a:prstGeom prst="rect">
            <a:avLst/>
          </a:prstGeom>
          <a:ln w="0">
            <a:noFill/>
          </a:ln>
        </p:spPr>
      </p:pic>
      <p:sp>
        <p:nvSpPr>
          <p:cNvPr id="42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"/>
          <p:cNvSpPr/>
          <p:nvPr/>
        </p:nvSpPr>
        <p:spPr>
          <a:xfrm>
            <a:off x="928800" y="1924200"/>
            <a:ext cx="9216720" cy="40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d) Gabião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São constituídos por gaiolas metálicas preenchidas com pedras arrumadas manualmente e construídas com fios de aço galvanizado em malha hexagonal com dupla torção.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Grande fexibilidade;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Permeabilidade;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Tem princípio similar ao Crib Wall, que são estruturas formadas por elementos pré-moldados de concreto armado, madeira ou aço, montados no local, em forma de “fogueiras”, preenchidos com material granular graúdo.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1271520" y="658800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425" name=""/>
          <p:cNvSpPr/>
          <p:nvPr/>
        </p:nvSpPr>
        <p:spPr>
          <a:xfrm>
            <a:off x="1631160" y="6381720"/>
            <a:ext cx="15343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www.fabriciano.mg.gov.br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" name="" descr=""/>
          <p:cNvPicPr/>
          <p:nvPr/>
        </p:nvPicPr>
        <p:blipFill>
          <a:blip r:embed="rId1"/>
          <a:stretch/>
        </p:blipFill>
        <p:spPr>
          <a:xfrm>
            <a:off x="192240" y="-2232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427" name=""/>
          <p:cNvSpPr/>
          <p:nvPr/>
        </p:nvSpPr>
        <p:spPr>
          <a:xfrm>
            <a:off x="1814760" y="6308640"/>
            <a:ext cx="9644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www.cob.org</a:t>
            </a:r>
            <a:r>
              <a:rPr b="0" lang="pt-BR" sz="14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 -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"/>
          <p:cNvSpPr/>
          <p:nvPr/>
        </p:nvSpPr>
        <p:spPr>
          <a:xfrm>
            <a:off x="1127160" y="2070000"/>
            <a:ext cx="9432360" cy="30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d) Muro de Solo-cimento Ensacado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São constituídos por camadas formadas por sacos de poliéster ou similares, preenchidos por uma mistura cimento-solo da ordem de 1:10 a 1:15 (em volume);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-  Solução econômica que não requer mão de obra especializada.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>
            <a:off x="1774800" y="623736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www.umarizal.com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1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>
            <a:off x="954000" y="1892160"/>
            <a:ext cx="10826640" cy="38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2.5.1. Muros a Gravidade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e) Muros de Flexão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estruturas mais esbeltas com seção transversal em “L” que resistem aos empuxos por flexão, utilizando parte do peso próprio do maciço, que se apoia sobre a base do “L”;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construídos em concreto armado, tornando-se antieconômicos para alturas acima de 5 a 7m. A laje de base em geral apresenta largura entre 50 e 70% da altura do muro.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 face trabalha à flexão e se necessário pode empregar vigas de enrijecimento, no caso alturas maiores, os contrafortes, que são em geral espaçados de cerca de 70% da altura do muro.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1523880" y="630864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http://www.eng.uerj.br/~denise/pdf/muros.pdf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5" name="" descr=""/>
          <p:cNvPicPr/>
          <p:nvPr/>
        </p:nvPicPr>
        <p:blipFill>
          <a:blip r:embed="rId1"/>
          <a:stretch/>
        </p:blipFill>
        <p:spPr>
          <a:xfrm>
            <a:off x="3567240" y="1700280"/>
            <a:ext cx="7538400" cy="4962240"/>
          </a:xfrm>
          <a:prstGeom prst="rect">
            <a:avLst/>
          </a:prstGeom>
          <a:ln w="0">
            <a:noFill/>
          </a:ln>
        </p:spPr>
      </p:pic>
      <p:sp>
        <p:nvSpPr>
          <p:cNvPr id="436" name=""/>
          <p:cNvSpPr/>
          <p:nvPr/>
        </p:nvSpPr>
        <p:spPr>
          <a:xfrm>
            <a:off x="1055520" y="1911240"/>
            <a:ext cx="8281800" cy="5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Muros de Flexão sem Contrafortes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1774800" y="623736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3.0. Métodos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1847880" y="1125360"/>
            <a:ext cx="8281440" cy="5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Muros de Flexão com Contrafortes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1774800" y="623736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2" name="" descr=""/>
          <p:cNvPicPr/>
          <p:nvPr/>
        </p:nvPicPr>
        <p:blipFill>
          <a:blip r:embed="rId1"/>
          <a:stretch/>
        </p:blipFill>
        <p:spPr>
          <a:xfrm>
            <a:off x="1774800" y="1773360"/>
            <a:ext cx="8600760" cy="3876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"/>
          <p:cNvSpPr/>
          <p:nvPr/>
        </p:nvSpPr>
        <p:spPr>
          <a:xfrm>
            <a:off x="1127160" y="1871640"/>
            <a:ext cx="8281440" cy="57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Muros de Flexão com Contrafortes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1774800" y="6237360"/>
            <a:ext cx="45716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231f20"/>
                </a:solidFill>
                <a:latin typeface="Roboto Condensed"/>
                <a:ea typeface="DejaVu Sans"/>
              </a:rPr>
              <a:t>http://www.dcc.ufpr.br/mediawiki/index.php/Disciplinas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3071880" y="2446200"/>
            <a:ext cx="7733880" cy="3790800"/>
          </a:xfrm>
          <a:prstGeom prst="rect">
            <a:avLst/>
          </a:prstGeom>
          <a:ln w="0">
            <a:noFill/>
          </a:ln>
        </p:spPr>
      </p:pic>
      <p:sp>
        <p:nvSpPr>
          <p:cNvPr id="44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1200240" y="2022480"/>
            <a:ext cx="10512000" cy="36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3.6. Cortina atirantada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“</a:t>
            </a: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Parede de concreto armado, através da qual o maciço é perfurado, sendo introduzidas nos furos tirantes metálicos; 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Após o posicionamento destas barras, é introduzida nas perfurações nata de cimento a alta pressão, que penetra nos vazios do solo, formando um bulbo, e ancorando as barras metálicas. 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Passado o tempo de cura da nata de cimento, os tirantes são protendidos e presos na parede de concreto, o que faz com que esta estrutura seja “empurrada” contra o maciço”.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1650960" y="645336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" name="" descr=""/>
          <p:cNvPicPr/>
          <p:nvPr/>
        </p:nvPicPr>
        <p:blipFill>
          <a:blip r:embed="rId1"/>
          <a:stretch/>
        </p:blipFill>
        <p:spPr>
          <a:xfrm>
            <a:off x="2846520" y="2852640"/>
            <a:ext cx="7557480" cy="3087360"/>
          </a:xfrm>
          <a:prstGeom prst="rect">
            <a:avLst/>
          </a:prstGeom>
          <a:ln w="0">
            <a:noFill/>
          </a:ln>
        </p:spPr>
      </p:pic>
      <p:sp>
        <p:nvSpPr>
          <p:cNvPr id="451" name=""/>
          <p:cNvSpPr/>
          <p:nvPr/>
        </p:nvSpPr>
        <p:spPr>
          <a:xfrm>
            <a:off x="1179360" y="1908000"/>
            <a:ext cx="8424720" cy="7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2.6. Cortina atirantada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1647720" y="6453360"/>
            <a:ext cx="12524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 u="sng">
                <a:solidFill>
                  <a:srgbClr val="0000ff"/>
                </a:solidFill>
                <a:uFillTx/>
                <a:latin typeface="Roboto Condensed"/>
                <a:ea typeface="DejaVu Sans"/>
                <a:hlinkClick r:id="rId2"/>
              </a:rPr>
              <a:t>www.ofitexto.com.br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455" name=""/>
          <p:cNvSpPr/>
          <p:nvPr/>
        </p:nvSpPr>
        <p:spPr>
          <a:xfrm>
            <a:off x="1423080" y="6611760"/>
            <a:ext cx="218808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http://www.cimentoitambe.com.br/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/>
          <p:nvPr/>
        </p:nvSpPr>
        <p:spPr>
          <a:xfrm>
            <a:off x="982800" y="2060640"/>
            <a:ext cx="8424360" cy="40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3.7. Muros fincados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3.7.1. Estacas Pranchas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Rápida execução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Não se aplica a solos duros;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buClr>
                <a:srgbClr val="000000"/>
              </a:buClr>
              <a:buFont typeface="Roboto Condensed"/>
              <a:buChar char="-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Dificuldade de transporte de perfis e mobilidade do equipamento.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3.7.2. Outras Estacas Metálicas Justapostas.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3.7.3. Soluções Mistas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1650960" y="6453360"/>
            <a:ext cx="149328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http://www.cesec.ufpr.br/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1055520" y="1987560"/>
            <a:ext cx="8424720" cy="20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2.7.1. Estacas Pranchas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1380960" y="6308640"/>
            <a:ext cx="27385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http://www.naresi.com/naresi/24-muro-de-arrimo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6311880" y="692280"/>
            <a:ext cx="4355640" cy="616536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1523880" y="6597720"/>
            <a:ext cx="4787640" cy="259920"/>
          </a:xfrm>
          <a:prstGeom prst="rect">
            <a:avLst/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63" name="" descr=""/>
          <p:cNvPicPr/>
          <p:nvPr/>
        </p:nvPicPr>
        <p:blipFill>
          <a:blip r:embed="rId2"/>
          <a:stretch/>
        </p:blipFill>
        <p:spPr>
          <a:xfrm>
            <a:off x="922320" y="2516040"/>
            <a:ext cx="4855680" cy="3311280"/>
          </a:xfrm>
          <a:prstGeom prst="rect">
            <a:avLst/>
          </a:prstGeom>
          <a:ln w="0">
            <a:noFill/>
          </a:ln>
        </p:spPr>
      </p:pic>
      <p:sp>
        <p:nvSpPr>
          <p:cNvPr id="464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5" name="" descr=""/>
          <p:cNvPicPr/>
          <p:nvPr/>
        </p:nvPicPr>
        <p:blipFill>
          <a:blip r:embed="rId1"/>
          <a:stretch/>
        </p:blipFill>
        <p:spPr>
          <a:xfrm>
            <a:off x="19224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466" name=""/>
          <p:cNvSpPr/>
          <p:nvPr/>
        </p:nvSpPr>
        <p:spPr>
          <a:xfrm>
            <a:off x="1449360" y="6581880"/>
            <a:ext cx="17553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http://www.geodactha.com.br/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1587600" y="-1364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pt-BR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"/>
          <p:cNvSpPr/>
          <p:nvPr/>
        </p:nvSpPr>
        <p:spPr>
          <a:xfrm>
            <a:off x="922320" y="2052720"/>
            <a:ext cx="8424360" cy="20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2.8. Muros escavados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2.8.1. Paredes Diafragma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1644840" y="6453360"/>
            <a:ext cx="13165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 u="sng">
                <a:solidFill>
                  <a:srgbClr val="0000ff"/>
                </a:solidFill>
                <a:uFillTx/>
                <a:latin typeface="Roboto Condensed"/>
                <a:ea typeface="DejaVu Sans"/>
                <a:hlinkClick r:id="rId1"/>
              </a:rPr>
              <a:t>www.geofund.com.br</a:t>
            </a: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 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0" name="" descr=""/>
          <p:cNvPicPr/>
          <p:nvPr/>
        </p:nvPicPr>
        <p:blipFill>
          <a:blip r:embed="rId2"/>
          <a:stretch/>
        </p:blipFill>
        <p:spPr>
          <a:xfrm>
            <a:off x="5076720" y="2052720"/>
            <a:ext cx="6192720" cy="4290480"/>
          </a:xfrm>
          <a:prstGeom prst="rect">
            <a:avLst/>
          </a:prstGeom>
          <a:ln w="0">
            <a:noFill/>
          </a:ln>
        </p:spPr>
      </p:pic>
      <p:sp>
        <p:nvSpPr>
          <p:cNvPr id="471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" descr=""/>
          <p:cNvPicPr/>
          <p:nvPr/>
        </p:nvPicPr>
        <p:blipFill>
          <a:blip r:embed="rId1"/>
          <a:stretch/>
        </p:blipFill>
        <p:spPr>
          <a:xfrm>
            <a:off x="4656240" y="1512720"/>
            <a:ext cx="6874920" cy="5157720"/>
          </a:xfrm>
          <a:prstGeom prst="rect">
            <a:avLst/>
          </a:prstGeom>
          <a:ln w="0">
            <a:noFill/>
          </a:ln>
        </p:spPr>
      </p:pic>
      <p:sp>
        <p:nvSpPr>
          <p:cNvPr id="473" name=""/>
          <p:cNvSpPr/>
          <p:nvPr/>
        </p:nvSpPr>
        <p:spPr>
          <a:xfrm>
            <a:off x="1576440" y="6453360"/>
            <a:ext cx="23778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http://kaliengenharia.com.br/villa-mateus/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263600" y="1916280"/>
            <a:ext cx="260820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2.8.2. Estacas Moldadas Justapostas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"/>
          <p:cNvSpPr/>
          <p:nvPr/>
        </p:nvSpPr>
        <p:spPr>
          <a:xfrm>
            <a:off x="7761240" y="6635880"/>
            <a:ext cx="38761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https://ri.ufs.br/bitstream/riufs/10130/2/Mariana_Oliveira_Andrade.pdf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1229040" y="1697040"/>
            <a:ext cx="162900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Comparativo de custo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2.0. Métodos de Estabilização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9" name="" descr=""/>
          <p:cNvPicPr/>
          <p:nvPr/>
        </p:nvPicPr>
        <p:blipFill>
          <a:blip r:embed="rId1"/>
          <a:srcRect l="25790" t="27934" r="26378" b="14284"/>
          <a:stretch/>
        </p:blipFill>
        <p:spPr>
          <a:xfrm>
            <a:off x="2855880" y="1697040"/>
            <a:ext cx="7194240" cy="4884480"/>
          </a:xfrm>
          <a:prstGeom prst="rect">
            <a:avLst/>
          </a:prstGeom>
          <a:ln w="0">
            <a:noFill/>
          </a:ln>
        </p:spPr>
      </p:pic>
      <p:sp>
        <p:nvSpPr>
          <p:cNvPr id="480" name=""/>
          <p:cNvSpPr/>
          <p:nvPr/>
        </p:nvSpPr>
        <p:spPr>
          <a:xfrm>
            <a:off x="3201840" y="6583320"/>
            <a:ext cx="44244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2018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"/>
          <p:cNvSpPr/>
          <p:nvPr/>
        </p:nvSpPr>
        <p:spPr>
          <a:xfrm>
            <a:off x="2209680" y="3863880"/>
            <a:ext cx="4505040" cy="19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6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3.</a:t>
            </a:r>
            <a:br>
              <a:rPr sz="9600"/>
            </a:br>
            <a:r>
              <a:rPr b="1" lang="pt-BR" sz="54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Drenagem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"/>
          <p:cNvSpPr/>
          <p:nvPr/>
        </p:nvSpPr>
        <p:spPr>
          <a:xfrm>
            <a:off x="1582920" y="6453360"/>
            <a:ext cx="25905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http://www.eng.uerj.br/~denise/pdf/muros.pdf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3" name="" descr=""/>
          <p:cNvPicPr/>
          <p:nvPr/>
        </p:nvPicPr>
        <p:blipFill>
          <a:blip r:embed="rId1"/>
          <a:stretch/>
        </p:blipFill>
        <p:spPr>
          <a:xfrm>
            <a:off x="4513320" y="1292400"/>
            <a:ext cx="7224120" cy="5390640"/>
          </a:xfrm>
          <a:prstGeom prst="rect">
            <a:avLst/>
          </a:prstGeom>
          <a:ln w="0">
            <a:noFill/>
          </a:ln>
        </p:spPr>
      </p:pic>
      <p:sp>
        <p:nvSpPr>
          <p:cNvPr id="484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3.0. Drenagem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52b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>
            <a:off x="-168120" y="3863880"/>
            <a:ext cx="6882840" cy="19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 algn="r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96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4.</a:t>
            </a:r>
            <a:br>
              <a:rPr sz="9600"/>
            </a:br>
            <a:r>
              <a:rPr b="1" lang="pt-BR" sz="5400" spc="-1" strike="noStrike">
                <a:solidFill>
                  <a:srgbClr val="ffffff"/>
                </a:solidFill>
                <a:latin typeface="Roboto Condensed"/>
                <a:ea typeface="Montserrat"/>
              </a:rPr>
              <a:t>Pré-dimensionamento</a:t>
            </a:r>
            <a:endParaRPr b="0" lang="pt-BR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Pré-dimensionamento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7" name="" descr=""/>
          <p:cNvPicPr/>
          <p:nvPr/>
        </p:nvPicPr>
        <p:blipFill>
          <a:blip r:embed="rId1"/>
          <a:stretch/>
        </p:blipFill>
        <p:spPr>
          <a:xfrm>
            <a:off x="3863880" y="2276640"/>
            <a:ext cx="3819240" cy="3809520"/>
          </a:xfrm>
          <a:prstGeom prst="rect">
            <a:avLst/>
          </a:prstGeom>
          <a:ln w="0">
            <a:noFill/>
          </a:ln>
        </p:spPr>
      </p:pic>
      <p:sp>
        <p:nvSpPr>
          <p:cNvPr id="488" name=""/>
          <p:cNvSpPr/>
          <p:nvPr/>
        </p:nvSpPr>
        <p:spPr>
          <a:xfrm>
            <a:off x="1004760" y="1814400"/>
            <a:ext cx="3146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3a3a3a"/>
                </a:solidFill>
                <a:latin typeface="Roboto Condensed"/>
                <a:ea typeface="DejaVu Sans"/>
              </a:rPr>
              <a:t>Muros a gravidade de seção retangular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7391520" y="6421320"/>
            <a:ext cx="60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https://www.guiadaengenharia.com/etapas-dimensionamento-muro-gravidade/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Pré-dimensionamento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1004760" y="1814400"/>
            <a:ext cx="3146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3a3a3a"/>
                </a:solidFill>
                <a:latin typeface="Roboto Condensed"/>
                <a:ea typeface="DejaVu Sans"/>
              </a:rPr>
              <a:t>Muros a gravidade de seção trapezoidal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2" name="" descr=""/>
          <p:cNvPicPr/>
          <p:nvPr/>
        </p:nvPicPr>
        <p:blipFill>
          <a:blip r:embed="rId1"/>
          <a:stretch/>
        </p:blipFill>
        <p:spPr>
          <a:xfrm>
            <a:off x="1558800" y="2365200"/>
            <a:ext cx="3904920" cy="3904920"/>
          </a:xfrm>
          <a:prstGeom prst="rect">
            <a:avLst/>
          </a:prstGeom>
          <a:ln w="0">
            <a:noFill/>
          </a:ln>
        </p:spPr>
      </p:pic>
      <p:pic>
        <p:nvPicPr>
          <p:cNvPr id="493" name="" descr=""/>
          <p:cNvPicPr/>
          <p:nvPr/>
        </p:nvPicPr>
        <p:blipFill>
          <a:blip r:embed="rId2"/>
          <a:stretch/>
        </p:blipFill>
        <p:spPr>
          <a:xfrm>
            <a:off x="5664240" y="2413080"/>
            <a:ext cx="4295520" cy="3809520"/>
          </a:xfrm>
          <a:prstGeom prst="rect">
            <a:avLst/>
          </a:prstGeom>
          <a:ln w="0">
            <a:noFill/>
          </a:ln>
        </p:spPr>
      </p:pic>
      <p:sp>
        <p:nvSpPr>
          <p:cNvPr id="494" name=""/>
          <p:cNvSpPr/>
          <p:nvPr/>
        </p:nvSpPr>
        <p:spPr>
          <a:xfrm>
            <a:off x="7391520" y="6421320"/>
            <a:ext cx="60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https://www.guiadaengenharia.com/etapas-dimensionamento-muro-gravidade/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Pré-dimensionamento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1004760" y="1814400"/>
            <a:ext cx="3146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3a3a3a"/>
                </a:solidFill>
                <a:latin typeface="Roboto Condensed"/>
                <a:ea typeface="DejaVu Sans"/>
              </a:rPr>
              <a:t>Muros a gravidade com perfil escalonado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7" name="" descr=""/>
          <p:cNvPicPr/>
          <p:nvPr/>
        </p:nvPicPr>
        <p:blipFill>
          <a:blip r:embed="rId1"/>
          <a:stretch/>
        </p:blipFill>
        <p:spPr>
          <a:xfrm>
            <a:off x="4186080" y="2413080"/>
            <a:ext cx="3819240" cy="3809520"/>
          </a:xfrm>
          <a:prstGeom prst="rect">
            <a:avLst/>
          </a:prstGeom>
          <a:ln w="0">
            <a:noFill/>
          </a:ln>
        </p:spPr>
      </p:pic>
      <p:sp>
        <p:nvSpPr>
          <p:cNvPr id="498" name=""/>
          <p:cNvSpPr/>
          <p:nvPr/>
        </p:nvSpPr>
        <p:spPr>
          <a:xfrm>
            <a:off x="7391520" y="6421320"/>
            <a:ext cx="60987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0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https://www.guiadaengenharia.com/etapas-dimensionamento-muro-gravidade/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1385280" y="6453360"/>
            <a:ext cx="53733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https://repositorio.unisc.br/jspui/bitstream/11624/2057/1/Brenda%20Rielli%20Spier%20Correa.pdf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Pré-dimensionamento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1004760" y="1814400"/>
            <a:ext cx="3146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3a3a3a"/>
                </a:solidFill>
                <a:latin typeface="Roboto Condensed"/>
                <a:ea typeface="DejaVu Sans"/>
              </a:rPr>
              <a:t>Muros a flexão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2" name="" descr=""/>
          <p:cNvPicPr/>
          <p:nvPr/>
        </p:nvPicPr>
        <p:blipFill>
          <a:blip r:embed="rId1"/>
          <a:srcRect l="31106" t="32142" r="26430" b="19537"/>
          <a:stretch/>
        </p:blipFill>
        <p:spPr>
          <a:xfrm>
            <a:off x="3063960" y="2349360"/>
            <a:ext cx="6055920" cy="3873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"/>
          <p:cNvSpPr/>
          <p:nvPr/>
        </p:nvSpPr>
        <p:spPr>
          <a:xfrm>
            <a:off x="1385280" y="6453360"/>
            <a:ext cx="53733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https://repositorio.unisc.br/jspui/bitstream/11624/2057/1/Brenda%20Rielli%20Spier%20Correa.pdf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Pré-dimensionamento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1004760" y="1814400"/>
            <a:ext cx="3146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400" spc="-1" strike="noStrike">
                <a:solidFill>
                  <a:srgbClr val="3a3a3a"/>
                </a:solidFill>
                <a:latin typeface="Roboto Condensed"/>
                <a:ea typeface="DejaVu Sans"/>
              </a:rPr>
              <a:t>Muros a flexão com contrafortes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6" name="" descr=""/>
          <p:cNvPicPr/>
          <p:nvPr/>
        </p:nvPicPr>
        <p:blipFill>
          <a:blip r:embed="rId1"/>
          <a:srcRect l="29328" t="30930" r="29328" b="25837"/>
          <a:stretch/>
        </p:blipFill>
        <p:spPr>
          <a:xfrm>
            <a:off x="2986200" y="2308320"/>
            <a:ext cx="5687640" cy="3344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" descr=""/>
          <p:cNvPicPr/>
          <p:nvPr/>
        </p:nvPicPr>
        <p:blipFill>
          <a:blip r:embed="rId1"/>
          <a:stretch/>
        </p:blipFill>
        <p:spPr>
          <a:xfrm>
            <a:off x="3165480" y="1636560"/>
            <a:ext cx="7345080" cy="5113080"/>
          </a:xfrm>
          <a:prstGeom prst="rect">
            <a:avLst/>
          </a:prstGeom>
          <a:ln w="0">
            <a:noFill/>
          </a:ln>
        </p:spPr>
      </p:pic>
      <p:sp>
        <p:nvSpPr>
          <p:cNvPr id="508" name=""/>
          <p:cNvSpPr/>
          <p:nvPr/>
        </p:nvSpPr>
        <p:spPr>
          <a:xfrm>
            <a:off x="1582920" y="6453360"/>
            <a:ext cx="259056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t">
            <a:sp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9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http://www.eng.uerj.br/~denise/pdf/muros.pdf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4.0. Pré-dimensionamento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"/>
          <p:cNvSpPr/>
          <p:nvPr/>
        </p:nvSpPr>
        <p:spPr>
          <a:xfrm>
            <a:off x="1847880" y="-792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1600" spc="-1" strike="noStrike">
                <a:solidFill>
                  <a:srgbClr val="ffffff"/>
                </a:solidFill>
                <a:latin typeface="Roboto Condensed"/>
                <a:ea typeface="Arial Unicode MS"/>
              </a:rPr>
              <a:t>4.0. Cálculo do volume de terra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922320" y="635040"/>
            <a:ext cx="1034712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1" lang="pt-BR" sz="3000" spc="-1" strike="noStrike">
                <a:solidFill>
                  <a:srgbClr val="454f5b"/>
                </a:solidFill>
                <a:latin typeface="Roboto Condensed"/>
                <a:ea typeface="Montserrat"/>
              </a:rPr>
              <a:t>6.0. Referências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925560" y="1778040"/>
            <a:ext cx="11088360" cy="52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 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BORGES, Alberto de Campos.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Topografia Aplicada a Engenharia Civil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</a:t>
            </a:r>
            <a:r>
              <a:rPr b="0" lang="pt-BR" sz="1600" spc="-1" strike="noStrike" u="sng">
                <a:solidFill>
                  <a:srgbClr val="000000"/>
                </a:solidFill>
                <a:uFillTx/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Paulo, Edgard Blucher, 1992. 2. v.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MASCARÓ, J. L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Loteamentos Urbanos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Porto Alegre: Editor L. Mascaró, 2005.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MASCARÓ, J. L.; YOSHINAGA, M.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Infraestrutura Urbana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Porto Alegre: +4 Editora :</a:t>
            </a:r>
            <a:r>
              <a:rPr b="0" lang="pt-BR" sz="1600" spc="-1" strike="noStrike" u="sng">
                <a:solidFill>
                  <a:srgbClr val="000000"/>
                </a:solidFill>
                <a:uFillTx/>
                <a:latin typeface="Roboto Condensed"/>
                <a:ea typeface="DejaVu Sans"/>
              </a:rPr>
              <a:t>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L.J. Mascaró, 2005.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DA COSTA, P. S.; FIGUEIREDO, W.C.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Estradas – Estudos e Projetos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Salvador: EDUFBA, 2007.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ROMERO, Adriana Bustos.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Princípios Bioclimáticos para o Desenho Urbano</a:t>
            </a:r>
            <a:r>
              <a:rPr b="0" i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Paulo: Projeto Editores Associados, 2001.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THUM, Adriane Brill; ERBA, Diego Alfonso (org.). 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Topografia para estudantes de Arquitetura, Engenharia e Geologia. 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São Leopoldo: Unisinos, 2003. 1. v.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ALVAREZ, Adriana; BRASILEIRO, Alice; MORGADO, Cláudio; TREVISAN, Rosina. </a:t>
            </a:r>
            <a:r>
              <a:rPr b="1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Topografia para Arquitetos</a:t>
            </a: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. Rio de Janeiro: Booklink, UFRJ, 2003.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 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9144000"/>
                <a:tab algn="l" pos="10058400"/>
                <a:tab algn="l" pos="10333080"/>
                <a:tab algn="l" pos="1078236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Roboto Condensed"/>
                <a:ea typeface="DejaVu Sans"/>
              </a:rPr>
              <a:t>Grohmann, C. H., 2008. Introdução ao geoprocessamento e à análise digital de terreno com software livre. Technical report, Instituto de Geociências, Universidade de São Paulo, São Paulo.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1417</TotalTime>
  <Application>LibreOffice/7.5.5.2$Windows_X86_64 LibreOffice_project/ca8fe7424262805f223b9a2334bc7181abbcbf5e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2011-01-28T10:17:42Z</dcterms:created>
  <dc:creator>Ridalva</dc:creator>
  <dc:description/>
  <dc:language>pt-BR</dc:language>
  <cp:lastModifiedBy/>
  <dcterms:modified xsi:type="dcterms:W3CDTF">2026-05-28T14:50:54Z</dcterms:modified>
  <cp:revision>146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