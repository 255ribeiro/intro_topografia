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_rels/slideLayout5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54.xml" ContentType="application/vnd.openxmlformats-officedocument.presentationml.slide+xml"/>
  <Override PartName="/ppt/slides/slide11.xml" ContentType="application/vnd.openxmlformats-officedocument.presentationml.slide+xml"/>
  <Override PartName="/ppt/slides/slide33.xml" ContentType="application/vnd.openxmlformats-officedocument.presentationml.slide+xml"/>
  <Override PartName="/ppt/slides/slide55.xml" ContentType="application/vnd.openxmlformats-officedocument.presentationml.slide+xml"/>
  <Override PartName="/ppt/slides/slide12.xml" ContentType="application/vnd.openxmlformats-officedocument.presentationml.slide+xml"/>
  <Override PartName="/ppt/slides/slide34.xml" ContentType="application/vnd.openxmlformats-officedocument.presentationml.slide+xml"/>
  <Override PartName="/ppt/slides/slide56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57.xml" ContentType="application/vnd.openxmlformats-officedocument.presentationml.slide+xml"/>
  <Override PartName="/ppt/slides/slide14.xml" ContentType="application/vnd.openxmlformats-officedocument.presentationml.slide+xml"/>
  <Override PartName="/ppt/slides/slide36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37.xml" ContentType="application/vnd.openxmlformats-officedocument.presentationml.slide+xml"/>
  <Override PartName="/ppt/slides/slide59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17.xml" ContentType="application/vnd.openxmlformats-officedocument.presentationml.slide+xml"/>
  <Override PartName="/ppt/slides/slide3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2.xml" ContentType="application/vnd.openxmlformats-officedocument.presentationml.slide+xml"/>
  <Override PartName="/ppt/slides/slide64.xml" ContentType="application/vnd.openxmlformats-officedocument.presentationml.slide+xml"/>
  <Override PartName="/ppt/slides/slide21.xml" ContentType="application/vnd.openxmlformats-officedocument.presentationml.slide+xml"/>
  <Override PartName="/ppt/slides/slide43.xml" ContentType="application/vnd.openxmlformats-officedocument.presentationml.slide+xml"/>
  <Override PartName="/ppt/slides/slide22.xml" ContentType="application/vnd.openxmlformats-officedocument.presentationml.slide+xml"/>
  <Override PartName="/ppt/slides/slide44.xml" ContentType="application/vnd.openxmlformats-officedocument.presentationml.slide+xml"/>
  <Override PartName="/ppt/slides/slide23.xml" ContentType="application/vnd.openxmlformats-officedocument.presentationml.slide+xml"/>
  <Override PartName="/ppt/slides/slide45.xml" ContentType="application/vnd.openxmlformats-officedocument.presentationml.slide+xml"/>
  <Override PartName="/ppt/slides/slide24.xml" ContentType="application/vnd.openxmlformats-officedocument.presentationml.slide+xml"/>
  <Override PartName="/ppt/slides/slide46.xml" ContentType="application/vnd.openxmlformats-officedocument.presentationml.slide+xml"/>
  <Override PartName="/ppt/slides/slide25.xml" ContentType="application/vnd.openxmlformats-officedocument.presentationml.slide+xml"/>
  <Override PartName="/ppt/slides/slide47.xml" ContentType="application/vnd.openxmlformats-officedocument.presentationml.slide+xml"/>
  <Override PartName="/ppt/slides/slide26.xml" ContentType="application/vnd.openxmlformats-officedocument.presentationml.slide+xml"/>
  <Override PartName="/ppt/slides/slide48.xml" ContentType="application/vnd.openxmlformats-officedocument.presentationml.slide+xml"/>
  <Override PartName="/ppt/slides/slide27.xml" ContentType="application/vnd.openxmlformats-officedocument.presentationml.slide+xml"/>
  <Override PartName="/ppt/slides/slide49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52.xml" ContentType="application/vnd.openxmlformats-officedocument.presentationml.slide+xml"/>
  <Override PartName="/ppt/slides/slide31.xml" ContentType="application/vnd.openxmlformats-officedocument.presentationml.slide+xml"/>
  <Override PartName="/ppt/slides/slide53.xml" ContentType="application/vnd.openxmlformats-officedocument.presentationml.slide+xml"/>
  <Override PartName="/ppt/slides/slide40.xml" ContentType="application/vnd.openxmlformats-officedocument.presentationml.slide+xml"/>
  <Override PartName="/ppt/slides/slide62.xml" ContentType="application/vnd.openxmlformats-officedocument.presentationml.slide+xml"/>
  <Override PartName="/ppt/slides/slide41.xml" ContentType="application/vnd.openxmlformats-officedocument.presentationml.slide+xml"/>
  <Override PartName="/ppt/slides/slide63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54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55.xml.rels" ContentType="application/vnd.openxmlformats-package.relationships+xml"/>
  <Override PartName="/ppt/slides/_rels/slide33.xml.rels" ContentType="application/vnd.openxmlformats-package.relationships+xml"/>
  <Override PartName="/ppt/slides/_rels/slide11.xml.rels" ContentType="application/vnd.openxmlformats-package.relationships+xml"/>
  <Override PartName="/ppt/slides/_rels/slide56.xml.rels" ContentType="application/vnd.openxmlformats-package.relationships+xml"/>
  <Override PartName="/ppt/slides/_rels/slide34.xml.rels" ContentType="application/vnd.openxmlformats-package.relationships+xml"/>
  <Override PartName="/ppt/slides/_rels/slide12.xml.rels" ContentType="application/vnd.openxmlformats-package.relationships+xml"/>
  <Override PartName="/ppt/slides/_rels/slide57.xml.rels" ContentType="application/vnd.openxmlformats-package.relationships+xml"/>
  <Override PartName="/ppt/slides/_rels/slide35.xml.rels" ContentType="application/vnd.openxmlformats-package.relationships+xml"/>
  <Override PartName="/ppt/slides/_rels/slide13.xml.rels" ContentType="application/vnd.openxmlformats-package.relationships+xml"/>
  <Override PartName="/ppt/slides/_rels/slide58.xml.rels" ContentType="application/vnd.openxmlformats-package.relationships+xml"/>
  <Override PartName="/ppt/slides/_rels/slide36.xml.rels" ContentType="application/vnd.openxmlformats-package.relationships+xml"/>
  <Override PartName="/ppt/slides/_rels/slide14.xml.rels" ContentType="application/vnd.openxmlformats-package.relationships+xml"/>
  <Override PartName="/ppt/slides/_rels/slide59.xml.rels" ContentType="application/vnd.openxmlformats-package.relationships+xml"/>
  <Override PartName="/ppt/slides/_rels/slide37.xml.rels" ContentType="application/vnd.openxmlformats-package.relationships+xml"/>
  <Override PartName="/ppt/slides/_rels/slide15.xml.rels" ContentType="application/vnd.openxmlformats-package.relationships+xml"/>
  <Override PartName="/ppt/slides/_rels/slide38.xml.rels" ContentType="application/vnd.openxmlformats-package.relationships+xml"/>
  <Override PartName="/ppt/slides/_rels/slide16.xml.rels" ContentType="application/vnd.openxmlformats-package.relationships+xml"/>
  <Override PartName="/ppt/slides/_rels/slide39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64.xml.rels" ContentType="application/vnd.openxmlformats-package.relationships+xml"/>
  <Override PartName="/ppt/slides/_rels/slide42.xml.rels" ContentType="application/vnd.openxmlformats-package.relationships+xml"/>
  <Override PartName="/ppt/slides/_rels/slide20.xml.rels" ContentType="application/vnd.openxmlformats-package.relationships+xml"/>
  <Override PartName="/ppt/slides/_rels/slide43.xml.rels" ContentType="application/vnd.openxmlformats-package.relationships+xml"/>
  <Override PartName="/ppt/slides/_rels/slide21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45.xml.rels" ContentType="application/vnd.openxmlformats-package.relationships+xml"/>
  <Override PartName="/ppt/slides/_rels/slide23.xml.rels" ContentType="application/vnd.openxmlformats-package.relationships+xml"/>
  <Override PartName="/ppt/slides/_rels/slide46.xml.rels" ContentType="application/vnd.openxmlformats-package.relationships+xml"/>
  <Override PartName="/ppt/slides/_rels/slide24.xml.rels" ContentType="application/vnd.openxmlformats-package.relationships+xml"/>
  <Override PartName="/ppt/slides/_rels/slide47.xml.rels" ContentType="application/vnd.openxmlformats-package.relationships+xml"/>
  <Override PartName="/ppt/slides/_rels/slide25.xml.rels" ContentType="application/vnd.openxmlformats-package.relationships+xml"/>
  <Override PartName="/ppt/slides/_rels/slide48.xml.rels" ContentType="application/vnd.openxmlformats-package.relationships+xml"/>
  <Override PartName="/ppt/slides/_rels/slide26.xml.rels" ContentType="application/vnd.openxmlformats-package.relationships+xml"/>
  <Override PartName="/ppt/slides/_rels/slide4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52.xml.rels" ContentType="application/vnd.openxmlformats-package.relationships+xml"/>
  <Override PartName="/ppt/slides/_rels/slide30.xml.rels" ContentType="application/vnd.openxmlformats-package.relationships+xml"/>
  <Override PartName="/ppt/slides/_rels/slide53.xml.rels" ContentType="application/vnd.openxmlformats-package.relationships+xml"/>
  <Override PartName="/ppt/slides/_rels/slide31.xml.rels" ContentType="application/vnd.openxmlformats-package.relationships+xml"/>
  <Override PartName="/ppt/slides/_rels/slide62.xml.rels" ContentType="application/vnd.openxmlformats-package.relationships+xml"/>
  <Override PartName="/ppt/slides/_rels/slide40.xml.rels" ContentType="application/vnd.openxmlformats-package.relationships+xml"/>
  <Override PartName="/ppt/slides/_rels/slide63.xml.rels" ContentType="application/vnd.openxmlformats-package.relationships+xml"/>
  <Override PartName="/ppt/slides/_rels/slide41.xml.rels" ContentType="application/vnd.openxmlformats-package.relationships+xml"/>
  <Override PartName="/ppt/slides/_rels/slide50.xml.rels" ContentType="application/vnd.openxmlformats-package.relationships+xml"/>
  <Override PartName="/ppt/slides/_rels/slide51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77.xml.rels" ContentType="application/vnd.openxmlformats-package.relationships+xml"/>
  <Override PartName="/ppt/slides/_rels/slide78.xml.rels" ContentType="application/vnd.openxmlformats-package.relationships+xml"/>
  <Override PartName="/ppt/slides/_rels/slide79.xml.rels" ContentType="application/vnd.openxmlformats-package.relationships+xml"/>
  <Override PartName="/ppt/slides/_rels/slide80.xml.rels" ContentType="application/vnd.openxmlformats-package.relationships+xml"/>
  <Override PartName="/ppt/slides/_rels/slide81.xml.rels" ContentType="application/vnd.openxmlformats-package.relationships+xml"/>
  <Override PartName="/ppt/slides/_rels/slide82.xml.rels" ContentType="application/vnd.openxmlformats-package.relationships+xml"/>
  <Override PartName="/ppt/slides/_rels/slide83.xml.rels" ContentType="application/vnd.openxmlformats-package.relationships+xml"/>
  <Override PartName="/ppt/slides/_rels/slide84.xml.rels" ContentType="application/vnd.openxmlformats-package.relationships+xml"/>
  <Override PartName="/ppt/slides/_rels/slide85.xml.rels" ContentType="application/vnd.openxmlformats-package.relationships+xml"/>
  <Override PartName="/ppt/slides/_rels/slide86.xml.rels" ContentType="application/vnd.openxmlformats-package.relationships+xml"/>
  <Override PartName="/ppt/slides/_rels/slide87.xml.rels" ContentType="application/vnd.openxmlformats-package.relationships+xml"/>
  <Override PartName="/ppt/media/image1.jpeg" ContentType="image/jpeg"/>
  <Override PartName="/ppt/media/image2.jpeg" ContentType="image/jpeg"/>
  <Override PartName="/ppt/media/image59.jpeg" ContentType="image/jpeg"/>
  <Override PartName="/ppt/media/image15.jpeg" ContentType="image/jpeg"/>
  <Override PartName="/ppt/media/image7.png" ContentType="image/png"/>
  <Override PartName="/ppt/media/image30.jpeg" ContentType="image/jpeg"/>
  <Override PartName="/ppt/media/image3.jpeg" ContentType="image/jpeg"/>
  <Override PartName="/ppt/media/image5.jpeg" ContentType="image/jpeg"/>
  <Override PartName="/ppt/media/image10.jpeg" ContentType="image/jpeg"/>
  <Override PartName="/ppt/media/image54.jpeg" ContentType="image/jpeg"/>
  <Override PartName="/ppt/media/image4.png" ContentType="image/png"/>
  <Override PartName="/ppt/media/image31.png" ContentType="image/png"/>
  <Override PartName="/ppt/media/image29.jpeg" ContentType="image/jpeg"/>
  <Override PartName="/ppt/media/image53.png" ContentType="image/png"/>
  <Override PartName="/ppt/media/image33.jpeg" ContentType="image/jpeg"/>
  <Override PartName="/ppt/media/image6.jpeg" ContentType="image/jpeg"/>
  <Override PartName="/ppt/media/image38.png" ContentType="image/png"/>
  <Override PartName="/ppt/media/image55.jpeg" ContentType="image/jpeg"/>
  <Override PartName="/ppt/media/image8.jpeg" ContentType="image/jpeg"/>
  <Override PartName="/ppt/media/image35.jpeg" ContentType="image/jpeg"/>
  <Override PartName="/ppt/media/image36.png" ContentType="image/png"/>
  <Override PartName="/ppt/media/image9.png" ContentType="image/png"/>
  <Override PartName="/ppt/media/image57.jpeg" ContentType="image/jpeg"/>
  <Override PartName="/ppt/media/image27.jpeg" ContentType="image/jpeg"/>
  <Override PartName="/ppt/media/image11.png" ContentType="image/png"/>
  <Override PartName="/ppt/media/image49.jpeg" ContentType="image/jpeg"/>
  <Override PartName="/ppt/media/image12.jpeg" ContentType="image/jpeg"/>
  <Override PartName="/ppt/media/image34.jpeg" ContentType="image/jpeg"/>
  <Override PartName="/ppt/media/image56.jpeg" ContentType="image/jpeg"/>
  <Override PartName="/ppt/media/image13.png" ContentType="image/png"/>
  <Override PartName="/ppt/media/image47.jpeg" ContentType="image/jpeg"/>
  <Override PartName="/ppt/media/image14.jpeg" ContentType="image/jpeg"/>
  <Override PartName="/ppt/media/image24.png" ContentType="image/png"/>
  <Override PartName="/ppt/media/image46.png" ContentType="image/png"/>
  <Override PartName="/ppt/media/image58.jpeg" ContentType="image/jpeg"/>
  <Override PartName="/ppt/media/image22.png" ContentType="image/png"/>
  <Override PartName="/ppt/media/image16.jpeg" ContentType="image/jpeg"/>
  <Override PartName="/ppt/media/image44.png" ContentType="image/png"/>
  <Override PartName="/ppt/media/image17.jpeg" ContentType="image/jpeg"/>
  <Override PartName="/ppt/media/image32.png" ContentType="image/png"/>
  <Override PartName="/ppt/media/image18.jpeg" ContentType="image/jpeg"/>
  <Override PartName="/ppt/media/image20.png" ContentType="image/png"/>
  <Override PartName="/ppt/media/image19.jpeg" ContentType="image/jpeg"/>
  <Override PartName="/ppt/media/image52.png" ContentType="image/png"/>
  <Override PartName="/ppt/media/image21.png" ContentType="image/png"/>
  <Override PartName="/ppt/media/image28.jpeg" ContentType="image/jpeg"/>
  <Override PartName="/ppt/media/image23.png" ContentType="image/png"/>
  <Override PartName="/ppt/media/image26.jpeg" ContentType="image/jpeg"/>
  <Override PartName="/ppt/media/image45.png" ContentType="image/png"/>
  <Override PartName="/ppt/media/image48.jpeg" ContentType="image/jpeg"/>
  <Override PartName="/ppt/media/image25.png" ContentType="image/png"/>
  <Override PartName="/ppt/media/image37.png" ContentType="image/png"/>
  <Override PartName="/ppt/media/image39.png" ContentType="image/png"/>
  <Override PartName="/ppt/media/image43.jpeg" ContentType="image/jpeg"/>
  <Override PartName="/ppt/media/image40.png" ContentType="image/png"/>
  <Override PartName="/ppt/media/image41.jpeg" ContentType="image/jpeg"/>
  <Override PartName="/ppt/media/image63.jpeg" ContentType="image/jpeg"/>
  <Override PartName="/ppt/media/image42.jpeg" ContentType="image/jpeg"/>
  <Override PartName="/ppt/media/image64.jpeg" ContentType="image/jpeg"/>
  <Override PartName="/ppt/media/image50.png" ContentType="image/png"/>
  <Override PartName="/ppt/media/image51.png" ContentType="image/png"/>
  <Override PartName="/ppt/media/image60.png" ContentType="image/png"/>
  <Override PartName="/ppt/media/image61.png" ContentType="image/png"/>
  <Override PartName="/ppt/media/image62.jpeg" ContentType="image/jpeg"/>
  <Override PartName="/ppt/media/image65.jpeg" ContentType="image/jpe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  <p:sldId id="339" r:id="rId93"/>
    <p:sldId id="340" r:id="rId94"/>
    <p:sldId id="341" r:id="rId95"/>
    <p:sldId id="342" r:id="rId96"/>
  </p:sldIdLst>
  <p:sldSz cx="12193588" cy="6858000"/>
  <p:notesSz cx="7099300" cy="1022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Relationship Id="rId93" Type="http://schemas.openxmlformats.org/officeDocument/2006/relationships/slide" Target="slides/slide84.xml"/><Relationship Id="rId94" Type="http://schemas.openxmlformats.org/officeDocument/2006/relationships/slide" Target="slides/slide85.xml"/><Relationship Id="rId95" Type="http://schemas.openxmlformats.org/officeDocument/2006/relationships/slide" Target="slides/slide86.xml"/><Relationship Id="rId96" Type="http://schemas.openxmlformats.org/officeDocument/2006/relationships/slide" Target="slides/slide87.xml"/><Relationship Id="rId9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435641-94EB-4D8C-929E-78EC8221103D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ubTitle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05CE93-E32C-4F37-96D2-4FE48443FC6E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7229AB9-A98E-4DE7-A60B-96F4B66A0A0B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6206F3E-C5FE-4066-940A-3DA04A6AFF28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72DA035-FB3F-40B4-9F6B-F3F5A3B0A2E1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ubTitle"/>
          </p:nvPr>
        </p:nvSpPr>
        <p:spPr>
          <a:xfrm>
            <a:off x="922320" y="634680"/>
            <a:ext cx="10345680" cy="30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8411716-9478-47B1-9439-590C35C22559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692A989-0B76-44C4-AEB1-5B7983131CDF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F6BA34D-7145-490A-BF09-C6BDCA37043F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82E8B8B-E5B1-4E25-AF47-5A5B860BDBC2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922320" y="4114440"/>
            <a:ext cx="103456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19EC48B-C57C-4EAB-9C5B-FF27A71D26A1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6223680" y="181080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92232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/>
          </p:nvPr>
        </p:nvSpPr>
        <p:spPr>
          <a:xfrm>
            <a:off x="6223680" y="4114440"/>
            <a:ext cx="504864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FBB8D3-9593-41C8-B0BD-8243254B9182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92232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442044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/>
          </p:nvPr>
        </p:nvSpPr>
        <p:spPr>
          <a:xfrm>
            <a:off x="7918200" y="181080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/>
          </p:nvPr>
        </p:nvSpPr>
        <p:spPr>
          <a:xfrm>
            <a:off x="92232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11" name="PlaceHolder 6"/>
          <p:cNvSpPr>
            <a:spLocks noGrp="1"/>
          </p:cNvSpPr>
          <p:nvPr>
            <p:ph/>
          </p:nvPr>
        </p:nvSpPr>
        <p:spPr>
          <a:xfrm>
            <a:off x="442044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312" name="PlaceHolder 7"/>
          <p:cNvSpPr>
            <a:spLocks noGrp="1"/>
          </p:cNvSpPr>
          <p:nvPr>
            <p:ph/>
          </p:nvPr>
        </p:nvSpPr>
        <p:spPr>
          <a:xfrm>
            <a:off x="7918200" y="4114440"/>
            <a:ext cx="3331080" cy="2103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417DD96-5C6D-4709-9630-7D082A42C7A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5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8277120" y="5619600"/>
            <a:ext cx="3000600" cy="138240"/>
          </a:xfrm>
          <a:prstGeom prst="rect">
            <a:avLst/>
          </a:prstGeom>
          <a:solidFill>
            <a:srgbClr val="4ecd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b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7574040" y="0"/>
            <a:ext cx="461808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084320" y="1506600"/>
            <a:ext cx="2044800" cy="137880"/>
          </a:xfrm>
          <a:prstGeom prst="rect">
            <a:avLst/>
          </a:prstGeom>
          <a:solidFill>
            <a:srgbClr val="4ecd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84320" cy="6858000"/>
          </a:xfrm>
          <a:prstGeom prst="rect">
            <a:avLst/>
          </a:prstGeom>
          <a:solidFill>
            <a:srgbClr val="f670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0" y="0"/>
            <a:ext cx="184320" cy="6858000"/>
          </a:xfrm>
          <a:prstGeom prst="rect">
            <a:avLst/>
          </a:prstGeom>
          <a:solidFill>
            <a:srgbClr val="f670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084320" y="1506600"/>
            <a:ext cx="2044800" cy="137880"/>
          </a:xfrm>
          <a:prstGeom prst="rect">
            <a:avLst/>
          </a:prstGeom>
          <a:solidFill>
            <a:srgbClr val="4ecd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b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6719760"/>
            <a:ext cx="12192120" cy="138240"/>
          </a:xfrm>
          <a:prstGeom prst="rect">
            <a:avLst/>
          </a:prstGeom>
          <a:solidFill>
            <a:srgbClr val="f670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d9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922320" y="634680"/>
            <a:ext cx="10345680" cy="6555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do texto do título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922320" y="1810800"/>
            <a:ext cx="10345680" cy="4410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343080" indent="0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Clique para editar o formato de texto dos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1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2.º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2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3.º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3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4.º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4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5.º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5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6.º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  <a:p>
            <a:pPr lvl="6" marL="343080" indent="-343080"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7.º nível de tópicos</a:t>
            </a:r>
            <a:endParaRPr b="0" lang="pt-BR" sz="1000" spc="-1" strike="noStrike">
              <a:solidFill>
                <a:srgbClr val="000000"/>
              </a:solidFill>
              <a:latin typeface="Roboto Condensed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0"/>
            <a:ext cx="144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"/>
          </p:nvPr>
        </p:nvSpPr>
        <p:spPr>
          <a:xfrm>
            <a:off x="-360" y="-36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6440" bIns="-46440" anchor="t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2400" spc="-1" strike="noStrike">
                <a:solidFill>
                  <a:srgbClr val="000000"/>
                </a:solidFill>
                <a:latin typeface="Roboto Condensed"/>
                <a:ea typeface="Segoe UI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40572AB8-6BAC-4678-A843-208C48FFBCF6}" type="slidenum">
              <a:rPr b="0" lang="pt-BR" sz="2400" spc="-1" strike="noStrike">
                <a:solidFill>
                  <a:srgbClr val="000000"/>
                </a:solidFill>
                <a:latin typeface="Roboto Condensed"/>
                <a:ea typeface="Segoe UI"/>
              </a:rPr>
              <a:t>&lt;número&gt;</a:t>
            </a:fld>
            <a:endParaRPr b="0" lang="pt-B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8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4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hyperlink" Target="http://www.youtube.com/watch?v=Ny94aGWOXPw" TargetMode="External"/><Relationship Id="rId3" Type="http://schemas.openxmlformats.org/officeDocument/2006/relationships/slideLayout" Target="../slideLayouts/slideLayout4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8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4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4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4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4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4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4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4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hyperlink" Target="http://www.engenhariacivil.com/reforco-solos-geossinteticos" TargetMode="External"/><Relationship Id="rId3" Type="http://schemas.openxmlformats.org/officeDocument/2006/relationships/slideLayout" Target="../slideLayouts/slideLayout4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4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4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jpeg"/><Relationship Id="rId3" Type="http://schemas.openxmlformats.org/officeDocument/2006/relationships/slideLayout" Target="../slideLayouts/slideLayout4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4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4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4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4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4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hyperlink" Target="http://estiradorsemrima.blogspot.com/2007/05/o-umbigo-do-mundo-trs.html" TargetMode="External"/><Relationship Id="rId2" Type="http://schemas.openxmlformats.org/officeDocument/2006/relationships/image" Target="../media/image41.jpeg"/><Relationship Id="rId3" Type="http://schemas.openxmlformats.org/officeDocument/2006/relationships/slideLayout" Target="../slideLayouts/slideLayout4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4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hyperlink" Target="http://engbolzan.blogspot.com/2010/06/muro-de-arrimo-de-peso.html" TargetMode="External"/><Relationship Id="rId3" Type="http://schemas.openxmlformats.org/officeDocument/2006/relationships/slideLayout" Target="../slideLayouts/slideLayout4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4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4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4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4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49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49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49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49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49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hyperlink" Target="http://www.ofitexto.com.br/conteudo/deg_230686.htm" TargetMode="External"/><Relationship Id="rId3" Type="http://schemas.openxmlformats.org/officeDocument/2006/relationships/slideLayout" Target="../slideLayouts/slideLayout4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49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49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49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hyperlink" Target="http://www.geofund.com.br/?p=210" TargetMode="External"/><Relationship Id="rId2" Type="http://schemas.openxmlformats.org/officeDocument/2006/relationships/image" Target="../media/image58.jpeg"/><Relationship Id="rId3" Type="http://schemas.openxmlformats.org/officeDocument/2006/relationships/slideLayout" Target="../slideLayouts/slideLayout49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49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49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49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62.jpeg"/><Relationship Id="rId2" Type="http://schemas.openxmlformats.org/officeDocument/2006/relationships/slideLayout" Target="../slideLayouts/slideLayout49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63.jpeg"/><Relationship Id="rId2" Type="http://schemas.openxmlformats.org/officeDocument/2006/relationships/image" Target="../media/image64.jpeg"/><Relationship Id="rId3" Type="http://schemas.openxmlformats.org/officeDocument/2006/relationships/slideLayout" Target="../slideLayouts/slideLayout49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65.jpeg"/><Relationship Id="rId2" Type="http://schemas.openxmlformats.org/officeDocument/2006/relationships/slideLayout" Target="../slideLayouts/slideLayout49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49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49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49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5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>
            <a:off x="5664240" y="3016080"/>
            <a:ext cx="5611680" cy="24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40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Estabilidade de Taludes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8832960" y="5805360"/>
            <a:ext cx="32464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Roboto Condensed"/>
              </a:rPr>
              <a:t>Fernando  Ferraz Ribeiro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8077320" y="6353280"/>
            <a:ext cx="21096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fld id="{8B2B04DF-E022-4294-ADA8-AF6B1212691A}" type="slidenum">
              <a:rPr b="1" lang="pt-BR" sz="1400" spc="-1" strike="noStrike">
                <a:solidFill>
                  <a:srgbClr val="000000"/>
                </a:solidFill>
                <a:latin typeface="Roboto Condensed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Estrutura da Aula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1055520" y="1609560"/>
            <a:ext cx="10873080" cy="47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1.0. Conceitos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2.0. Métodos de Estabilização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3.0. Drenagem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4.0. Pré-dimensionamento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>
            <a:off x="8077320" y="6353280"/>
            <a:ext cx="21096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fld id="{5BF29F32-7DC4-4C03-9E33-79DCFF624AAA}" type="slidenum"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922320" y="2133720"/>
            <a:ext cx="10693440" cy="30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457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800" spc="-1" strike="noStrike">
                <a:solidFill>
                  <a:srgbClr val="000000"/>
                </a:solidFill>
                <a:latin typeface="Roboto Condensed"/>
                <a:ea typeface="Arial Unicode MS"/>
              </a:rPr>
              <a:t>Entender os fundamentos da estabilização de taludes e pré-dimensionar as soluções mais comuns.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Objetivo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b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2209680" y="3863880"/>
            <a:ext cx="4505400" cy="19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6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1.</a:t>
            </a:r>
            <a:br>
              <a:rPr sz="9600"/>
            </a:br>
            <a:r>
              <a:rPr b="1" lang="pt-BR" sz="54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Conceitos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" descr=""/>
          <p:cNvPicPr/>
          <p:nvPr/>
        </p:nvPicPr>
        <p:blipFill>
          <a:blip r:embed="rId1"/>
          <a:srcRect l="0" t="5161" r="0" b="16651"/>
          <a:stretch/>
        </p:blipFill>
        <p:spPr>
          <a:xfrm>
            <a:off x="-7920" y="0"/>
            <a:ext cx="12192120" cy="6958080"/>
          </a:xfrm>
          <a:prstGeom prst="rect">
            <a:avLst/>
          </a:prstGeom>
          <a:ln w="0">
            <a:noFill/>
          </a:ln>
        </p:spPr>
      </p:pic>
      <p:sp>
        <p:nvSpPr>
          <p:cNvPr id="323" name=""/>
          <p:cNvSpPr/>
          <p:nvPr/>
        </p:nvSpPr>
        <p:spPr>
          <a:xfrm>
            <a:off x="1774800" y="6535800"/>
            <a:ext cx="7561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Condensed"/>
              </a:rPr>
              <a:t>g1.globo.com  - Deslizamento de terra em Whidbey Island, em Washington.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" descr=""/>
          <p:cNvPicPr/>
          <p:nvPr/>
        </p:nvPicPr>
        <p:blipFill>
          <a:blip r:embed="rId1"/>
          <a:srcRect l="0" t="21325" r="0" b="0"/>
          <a:stretch/>
        </p:blipFill>
        <p:spPr>
          <a:xfrm>
            <a:off x="-168120" y="-243000"/>
            <a:ext cx="12360240" cy="7101000"/>
          </a:xfrm>
          <a:prstGeom prst="rect">
            <a:avLst/>
          </a:prstGeom>
          <a:ln w="0">
            <a:noFill/>
          </a:ln>
        </p:spPr>
      </p:pic>
      <p:sp>
        <p:nvSpPr>
          <p:cNvPr id="325" name=""/>
          <p:cNvSpPr/>
          <p:nvPr/>
        </p:nvSpPr>
        <p:spPr>
          <a:xfrm>
            <a:off x="249120" y="6599160"/>
            <a:ext cx="46674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brejinhos.blogspot.com .Deslizamento de terra em Nova Friburgo, no Rio de Janeiro.  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>
            <a:off x="969840" y="1844640"/>
            <a:ext cx="10512720" cy="52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Roboto Condensed"/>
              </a:rPr>
              <a:t>- Os elementos de estabilização de taludes estão ligados à prevenção de escorregamentos;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Roboto Condensed"/>
              </a:rPr>
              <a:t>  </a:t>
            </a:r>
            <a:r>
              <a:rPr b="0" lang="pt-BR" sz="2400" spc="-1" strike="noStrike">
                <a:solidFill>
                  <a:srgbClr val="000000"/>
                </a:solidFill>
                <a:latin typeface="Roboto Condensed"/>
              </a:rPr>
              <a:t>No cenário atual, considera-se o aumento da urbanização e consequentemente das áreas sujeitas a escorregamentos, assim como desflorestamento contínuo e as mudanças na velocidade de escoamento da água relacionadas às alterações do ciclo hidrológico urbano.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Roboto Condensed"/>
              </a:rPr>
              <a:t>- As tecnologias mais modernas propiciam maior produtividade, melhor aproveitamento do terreno e escavações mais profundas e seguras.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1622520" y="1905120"/>
            <a:ext cx="8947080" cy="4392360"/>
          </a:xfrm>
          <a:prstGeom prst="rect">
            <a:avLst/>
          </a:prstGeom>
          <a:ln w="0">
            <a:noFill/>
          </a:ln>
        </p:spPr>
      </p:pic>
      <p:sp>
        <p:nvSpPr>
          <p:cNvPr id="329" name=""/>
          <p:cNvSpPr/>
          <p:nvPr/>
        </p:nvSpPr>
        <p:spPr>
          <a:xfrm>
            <a:off x="1212840" y="6453360"/>
            <a:ext cx="20872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www.engineeringnaturesway.co.uk -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>
            <a:off x="1239840" y="6453360"/>
            <a:ext cx="10861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http://www.rc.unesp.br/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1"/>
          <a:stretch/>
        </p:blipFill>
        <p:spPr>
          <a:xfrm>
            <a:off x="4583160" y="1528920"/>
            <a:ext cx="7176960" cy="4746600"/>
          </a:xfrm>
          <a:prstGeom prst="rect">
            <a:avLst/>
          </a:prstGeom>
          <a:ln w="0">
            <a:noFill/>
          </a:ln>
        </p:spPr>
      </p:pic>
      <p:sp>
        <p:nvSpPr>
          <p:cNvPr id="333" name=""/>
          <p:cNvSpPr/>
          <p:nvPr/>
        </p:nvSpPr>
        <p:spPr>
          <a:xfrm>
            <a:off x="1127160" y="2049480"/>
            <a:ext cx="3456000" cy="253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RASTEJOS (Creep):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Movimento </a:t>
            </a: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descendente, lento e contínuo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da massa de solo de um talude, caracterizando uma deformação plástica, sem geometria e superfície de ruptura definidas.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1371600" y="5761080"/>
            <a:ext cx="32637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000" spc="-1" strike="noStrike">
                <a:solidFill>
                  <a:srgbClr val="000000"/>
                </a:solidFill>
                <a:latin typeface="Roboto Condensed"/>
              </a:rPr>
              <a:t>https://www.guiadaengenharia.com/estabilidade-taludes-deslizamentos/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rcRect l="3440" t="5003" r="4073" b="2981"/>
          <a:stretch/>
        </p:blipFill>
        <p:spPr>
          <a:xfrm>
            <a:off x="960480" y="2503440"/>
            <a:ext cx="4535280" cy="3278160"/>
          </a:xfrm>
          <a:prstGeom prst="rect">
            <a:avLst/>
          </a:prstGeom>
          <a:ln w="0">
            <a:noFill/>
          </a:ln>
        </p:spPr>
      </p:pic>
      <p:pic>
        <p:nvPicPr>
          <p:cNvPr id="338" name="" descr=""/>
          <p:cNvPicPr/>
          <p:nvPr/>
        </p:nvPicPr>
        <p:blipFill>
          <a:blip r:embed="rId2"/>
          <a:stretch/>
        </p:blipFill>
        <p:spPr>
          <a:xfrm>
            <a:off x="6527880" y="2503440"/>
            <a:ext cx="4703760" cy="3257640"/>
          </a:xfrm>
          <a:prstGeom prst="rect">
            <a:avLst/>
          </a:prstGeom>
          <a:ln w="0">
            <a:noFill/>
          </a:ln>
        </p:spPr>
      </p:pic>
      <p:sp>
        <p:nvSpPr>
          <p:cNvPr id="339" name=""/>
          <p:cNvSpPr/>
          <p:nvPr/>
        </p:nvSpPr>
        <p:spPr>
          <a:xfrm>
            <a:off x="6518160" y="5761080"/>
            <a:ext cx="38163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https://www.rc.unesp.br/igce/aplicada/ead/interacao/inter09a.html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>
            <a:off x="10496520" y="6537240"/>
            <a:ext cx="10861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http://www.rc.unesp.br/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/>
          <a:stretch/>
        </p:blipFill>
        <p:spPr>
          <a:xfrm>
            <a:off x="5232240" y="1155600"/>
            <a:ext cx="6459840" cy="5067360"/>
          </a:xfrm>
          <a:prstGeom prst="rect">
            <a:avLst/>
          </a:prstGeom>
          <a:ln w="0">
            <a:noFill/>
          </a:ln>
        </p:spPr>
      </p:pic>
      <p:sp>
        <p:nvSpPr>
          <p:cNvPr id="342" name=""/>
          <p:cNvSpPr/>
          <p:nvPr/>
        </p:nvSpPr>
        <p:spPr>
          <a:xfrm>
            <a:off x="955800" y="2038320"/>
            <a:ext cx="398772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ESCORREGAMENTOS (Slides).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movimento rápido de massas do solo e/ou rocha, com volume bem definido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>
            <a:off x="8415360" y="6222960"/>
            <a:ext cx="29667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https://www.guiadaengenharia.com/estabilidade-taludes-deslizamentos/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955800" y="2038320"/>
            <a:ext cx="398772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ESCORREGAMENTOS (Slides).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movimento rápido de massas do solo e/ou rocha, com volume bem definido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5735520" y="2060640"/>
            <a:ext cx="5819760" cy="4162320"/>
          </a:xfrm>
          <a:prstGeom prst="rect">
            <a:avLst/>
          </a:prstGeom>
          <a:ln w="0">
            <a:noFill/>
          </a:ln>
        </p:spPr>
      </p:pic>
      <p:sp>
        <p:nvSpPr>
          <p:cNvPr id="348" name=""/>
          <p:cNvSpPr/>
          <p:nvPr/>
        </p:nvSpPr>
        <p:spPr>
          <a:xfrm>
            <a:off x="5764320" y="1574640"/>
            <a:ext cx="60991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Roboto Condensed"/>
              </a:rPr>
              <a:t>ESCORREGAMENTOS ROTACIONAIS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1811160" y="6165720"/>
            <a:ext cx="10861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http://www.rc.unesp.br/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0" name="" descr=""/>
          <p:cNvPicPr/>
          <p:nvPr/>
        </p:nvPicPr>
        <p:blipFill>
          <a:blip r:embed="rId1"/>
          <a:stretch/>
        </p:blipFill>
        <p:spPr>
          <a:xfrm>
            <a:off x="5448240" y="1317600"/>
            <a:ext cx="6126120" cy="4857840"/>
          </a:xfrm>
          <a:prstGeom prst="rect">
            <a:avLst/>
          </a:prstGeom>
          <a:ln w="0">
            <a:noFill/>
          </a:ln>
        </p:spPr>
      </p:pic>
      <p:sp>
        <p:nvSpPr>
          <p:cNvPr id="351" name=""/>
          <p:cNvSpPr/>
          <p:nvPr/>
        </p:nvSpPr>
        <p:spPr>
          <a:xfrm>
            <a:off x="955800" y="2038320"/>
            <a:ext cx="398772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ESCORREGAMENTOS (Slides).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movimento rápido de massas do solo e/ou rocha, com volume bem definido.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>
            <a:off x="1811160" y="6165720"/>
            <a:ext cx="10861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http://www.rc.unesp.br/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955800" y="2038320"/>
            <a:ext cx="398772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ESCORREGAMENTOS (Slides).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movimento rápido de massas do solo e/ou rocha, com volume bem definido.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" descr=""/>
          <p:cNvPicPr/>
          <p:nvPr/>
        </p:nvPicPr>
        <p:blipFill>
          <a:blip r:embed="rId1"/>
          <a:stretch/>
        </p:blipFill>
        <p:spPr>
          <a:xfrm>
            <a:off x="5764320" y="2208240"/>
            <a:ext cx="5371920" cy="4084560"/>
          </a:xfrm>
          <a:prstGeom prst="rect">
            <a:avLst/>
          </a:prstGeom>
          <a:ln w="0">
            <a:noFill/>
          </a:ln>
        </p:spPr>
      </p:pic>
      <p:sp>
        <p:nvSpPr>
          <p:cNvPr id="357" name=""/>
          <p:cNvSpPr/>
          <p:nvPr/>
        </p:nvSpPr>
        <p:spPr>
          <a:xfrm>
            <a:off x="5764320" y="1574640"/>
            <a:ext cx="60991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Roboto Condensed"/>
              </a:rPr>
              <a:t>ESCORREGAMENTOS PLANARES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8317080" y="6348240"/>
            <a:ext cx="29667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https://www.guiadaengenharia.com/estabilidade-taludes-deslizamentos/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5764320" y="1882800"/>
            <a:ext cx="60991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pc="-1" strike="noStrike">
                <a:solidFill>
                  <a:srgbClr val="3a3a3a"/>
                </a:solidFill>
                <a:latin typeface="-apple-system"/>
              </a:rPr>
              <a:t>Associados a heterogeneidade dos materiais que formam o talude.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>
            <a:off x="1754280" y="6222960"/>
            <a:ext cx="10861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http://www.rc.unesp.br/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1"/>
          <a:stretch/>
        </p:blipFill>
        <p:spPr>
          <a:xfrm>
            <a:off x="5468760" y="1292400"/>
            <a:ext cx="5499360" cy="4873320"/>
          </a:xfrm>
          <a:prstGeom prst="rect">
            <a:avLst/>
          </a:prstGeom>
          <a:ln w="0">
            <a:noFill/>
          </a:ln>
        </p:spPr>
      </p:pic>
      <p:sp>
        <p:nvSpPr>
          <p:cNvPr id="362" name=""/>
          <p:cNvSpPr/>
          <p:nvPr/>
        </p:nvSpPr>
        <p:spPr>
          <a:xfrm>
            <a:off x="955800" y="2038320"/>
            <a:ext cx="398772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ESCORREGAMENTOS (Slides).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movimento rápido de massas do solo e/ou rocha, com volume bem definido.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>
            <a:off x="1754280" y="6222960"/>
            <a:ext cx="10861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http://www.rc.unesp.br/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955800" y="2038320"/>
            <a:ext cx="398772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ESCORREGAMENTOS (Slides).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movimento rápido de massas do solo e/ou rocha, com volume bem definido.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" descr=""/>
          <p:cNvPicPr/>
          <p:nvPr/>
        </p:nvPicPr>
        <p:blipFill>
          <a:blip r:embed="rId1"/>
          <a:stretch/>
        </p:blipFill>
        <p:spPr>
          <a:xfrm>
            <a:off x="5880240" y="2309760"/>
            <a:ext cx="5591160" cy="4038480"/>
          </a:xfrm>
          <a:prstGeom prst="rect">
            <a:avLst/>
          </a:prstGeom>
          <a:ln w="0">
            <a:noFill/>
          </a:ln>
        </p:spPr>
      </p:pic>
      <p:sp>
        <p:nvSpPr>
          <p:cNvPr id="368" name=""/>
          <p:cNvSpPr/>
          <p:nvPr/>
        </p:nvSpPr>
        <p:spPr>
          <a:xfrm>
            <a:off x="8317080" y="6348240"/>
            <a:ext cx="29667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00" spc="-1" strike="noStrike">
                <a:solidFill>
                  <a:srgbClr val="000000"/>
                </a:solidFill>
                <a:latin typeface="Roboto Condensed"/>
              </a:rPr>
              <a:t>https://www.guiadaengenharia.com/estabilidade-taludes-deslizamentos/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5764320" y="1574640"/>
            <a:ext cx="60991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Roboto Condensed"/>
              </a:rPr>
              <a:t>ESCORREGAMENTOS EM CUNHA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5764320" y="1882800"/>
            <a:ext cx="60991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pc="-1" strike="noStrike">
                <a:solidFill>
                  <a:srgbClr val="3a3a3a"/>
                </a:solidFill>
                <a:latin typeface="-apple-system"/>
              </a:rPr>
              <a:t>Associados às ações antrópicas.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9226440" y="5925960"/>
            <a:ext cx="23324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watchoutnaturaldisasters</a:t>
            </a: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.weebly.com 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" descr=""/>
          <p:cNvPicPr/>
          <p:nvPr/>
        </p:nvPicPr>
        <p:blipFill>
          <a:blip r:embed="rId1"/>
          <a:stretch/>
        </p:blipFill>
        <p:spPr>
          <a:xfrm>
            <a:off x="4511520" y="1628640"/>
            <a:ext cx="7464600" cy="4197600"/>
          </a:xfrm>
          <a:prstGeom prst="rect">
            <a:avLst/>
          </a:prstGeom>
          <a:ln w="0">
            <a:noFill/>
          </a:ln>
        </p:spPr>
      </p:pic>
      <p:sp>
        <p:nvSpPr>
          <p:cNvPr id="373" name=""/>
          <p:cNvSpPr/>
          <p:nvPr/>
        </p:nvSpPr>
        <p:spPr>
          <a:xfrm>
            <a:off x="938160" y="2144880"/>
            <a:ext cx="3573360" cy="22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CORRIDAS (FLOW)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movimentos gravitacionais na forma de escoamento rápido, envolvendo grandes volumes de materiais.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055520" y="5611680"/>
            <a:ext cx="3745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pc="-1" strike="noStrike" u="sng">
                <a:solidFill>
                  <a:srgbClr val="ccccff"/>
                </a:solidFill>
                <a:uFillTx/>
                <a:latin typeface="Roboto Condensed"/>
                <a:hlinkClick r:id="rId2"/>
              </a:rPr>
              <a:t>http://www.youtube.com/watch?v=Ny94aGWOXPw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" descr=""/>
          <p:cNvPicPr/>
          <p:nvPr/>
        </p:nvPicPr>
        <p:blipFill>
          <a:blip r:embed="rId1"/>
          <a:srcRect l="0" t="12411" r="0" b="1241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  <p:sp>
        <p:nvSpPr>
          <p:cNvPr id="377" name=""/>
          <p:cNvSpPr/>
          <p:nvPr/>
        </p:nvSpPr>
        <p:spPr>
          <a:xfrm>
            <a:off x="1449360" y="6627960"/>
            <a:ext cx="14364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 u="sng">
                <a:solidFill>
                  <a:srgbClr val="000000"/>
                </a:solidFill>
                <a:uFillTx/>
                <a:latin typeface="Roboto Condensed"/>
              </a:rPr>
              <a:t>www.ukgeohazards.info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/>
          <p:nvPr/>
        </p:nvSpPr>
        <p:spPr>
          <a:xfrm>
            <a:off x="7337520" y="6229440"/>
            <a:ext cx="43322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https://www.guiadaengenharia.com/estabilidade-taludes-deslizamentos/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1055520" y="1916280"/>
            <a:ext cx="4327560" cy="20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QUEDAS EM BLOCOS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3a3a3a"/>
                </a:solidFill>
                <a:latin typeface="Roboto Condensed"/>
              </a:rPr>
              <a:t>A queda de blocos nada mais é do que a queda livre de blocos ao longo do talude, sem uma superfície de movimentação. Ocorre em inclinações acentuadas.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" descr=""/>
          <p:cNvPicPr/>
          <p:nvPr/>
        </p:nvPicPr>
        <p:blipFill>
          <a:blip r:embed="rId1"/>
          <a:stretch/>
        </p:blipFill>
        <p:spPr>
          <a:xfrm>
            <a:off x="5880240" y="2492280"/>
            <a:ext cx="5514840" cy="3514680"/>
          </a:xfrm>
          <a:prstGeom prst="rect">
            <a:avLst/>
          </a:prstGeom>
          <a:ln w="0">
            <a:noFill/>
          </a:ln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"/>
          <p:cNvSpPr/>
          <p:nvPr/>
        </p:nvSpPr>
        <p:spPr>
          <a:xfrm>
            <a:off x="3535560" y="6472080"/>
            <a:ext cx="89085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https://g1.globo.com/rn/rio-grande-do-norte/noticia/2020/11/18/se-amavam-muito-diz-mae-de-vitima-sobre-casal-morto-em-desabamento-em-pipa.ghtml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1049400" y="1754280"/>
            <a:ext cx="382248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QUEDAS EM BLOCOS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" descr=""/>
          <p:cNvPicPr/>
          <p:nvPr/>
        </p:nvPicPr>
        <p:blipFill>
          <a:blip r:embed="rId1"/>
          <a:srcRect l="52254" t="0" r="0" b="7032"/>
          <a:stretch/>
        </p:blipFill>
        <p:spPr>
          <a:xfrm>
            <a:off x="6959520" y="1219320"/>
            <a:ext cx="4584960" cy="4984560"/>
          </a:xfrm>
          <a:prstGeom prst="rect">
            <a:avLst/>
          </a:prstGeom>
          <a:ln w="0">
            <a:noFill/>
          </a:ln>
        </p:spPr>
      </p:pic>
      <p:pic>
        <p:nvPicPr>
          <p:cNvPr id="386" name="" descr=""/>
          <p:cNvPicPr/>
          <p:nvPr/>
        </p:nvPicPr>
        <p:blipFill>
          <a:blip r:embed="rId2"/>
          <a:stretch/>
        </p:blipFill>
        <p:spPr>
          <a:xfrm>
            <a:off x="1062000" y="2565360"/>
            <a:ext cx="5130720" cy="2887560"/>
          </a:xfrm>
          <a:prstGeom prst="rect">
            <a:avLst/>
          </a:prstGeom>
          <a:ln w="0">
            <a:noFill/>
          </a:ln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>
            <a:off x="949320" y="1292400"/>
            <a:ext cx="10345680" cy="52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No contexto da edificações, a intensificação do uso do automóvel representou importante fator para a maior utilização de soluções de contenções.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As tecnologias mais modernas propiciam maior produtividade, melhor aproveitamento do terreno e escavações mais profundas e seguras.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É preciso considerar: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Custo;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Prazo;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Esbeltez.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>
            <a:off x="922320" y="1628640"/>
            <a:ext cx="10790280" cy="48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Normas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NBR-11682 Estabilidade de Encostas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NBR-6122 Projeto e Execução de Fundações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NBR-6497 Levantamento Geotécnico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NBR-8044 Projeto Geotécnico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NBR-9288 Emprego de terrenos reforçados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NBR-9286 Terra Armada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NBR-9285 Microancoragem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NBR-6501 Rochas e Solos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NBR-9604 Abertura de poço e trincheira de Inspeção em solo, com retirada de amostras deformadas e indeformadas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NBR-9820 Coleta de armostras indeformadas em solo em furos de sondagem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NBR-6484 Execução de sondagens de simples reconhecimento dos solos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NBR-9061 Segurança de escavações a céu aberto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NBR-12589 Proteção de taludes e fixação de margens em obras portuárias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NBR-5629 Execução de tirantes ancorados no terreno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NBR-13896 Aterros de resíduos não perigosos - critérios para projeto, implantação e operação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NBR-5681 Controle tecnológico da execução de aterrros em obras de edificações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NBR-13602 Avaliação de dispersibilidade de solos argilosos pelo ensaio sedimentométrico comparativo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1.0. Conceitos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b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2209680" y="3863880"/>
            <a:ext cx="4505400" cy="19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6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2.</a:t>
            </a:r>
            <a:br>
              <a:rPr sz="9600"/>
            </a:br>
            <a:r>
              <a:rPr b="1" lang="pt-BR" sz="54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Métodos de Estabilização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Exemplos de implantações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1"/>
          <a:stretch/>
        </p:blipFill>
        <p:spPr>
          <a:xfrm>
            <a:off x="4140360" y="1393920"/>
            <a:ext cx="7019640" cy="5267160"/>
          </a:xfrm>
          <a:prstGeom prst="rect">
            <a:avLst/>
          </a:prstGeom>
          <a:ln w="0">
            <a:noFill/>
          </a:ln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>
            <a:off x="1055520" y="1844640"/>
            <a:ext cx="453708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2.1. Modificação de geometria.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703440" y="6194520"/>
            <a:ext cx="72367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https://www.aecweb.com.br/revista/materias/projeto-de-talude-pode-dispensar-contencoes-complexas-em-escavacoes-profundas/16110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1"/>
          <a:stretch/>
        </p:blipFill>
        <p:spPr>
          <a:xfrm>
            <a:off x="1085760" y="2637000"/>
            <a:ext cx="7985160" cy="3297240"/>
          </a:xfrm>
          <a:prstGeom prst="rect">
            <a:avLst/>
          </a:prstGeom>
          <a:ln w="0">
            <a:noFill/>
          </a:ln>
        </p:spPr>
      </p:pic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Tipos de Plataformas e Taludes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9" name="" descr=""/>
          <p:cNvPicPr/>
          <p:nvPr/>
        </p:nvPicPr>
        <p:blipFill>
          <a:blip r:embed="rId1"/>
          <a:stretch/>
        </p:blipFill>
        <p:spPr>
          <a:xfrm>
            <a:off x="3060720" y="1757520"/>
            <a:ext cx="8481960" cy="4722480"/>
          </a:xfrm>
          <a:prstGeom prst="rect">
            <a:avLst/>
          </a:prstGeom>
          <a:ln w="0">
            <a:noFill/>
          </a:ln>
        </p:spPr>
      </p:pic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Determinação de linhas de offset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1" name="" descr=""/>
          <p:cNvPicPr/>
          <p:nvPr/>
        </p:nvPicPr>
        <p:blipFill>
          <a:blip r:embed="rId1"/>
          <a:stretch/>
        </p:blipFill>
        <p:spPr>
          <a:xfrm>
            <a:off x="595440" y="2317680"/>
            <a:ext cx="5884560" cy="3443400"/>
          </a:xfrm>
          <a:prstGeom prst="rect">
            <a:avLst/>
          </a:prstGeom>
          <a:ln w="0">
            <a:noFill/>
          </a:ln>
        </p:spPr>
      </p:pic>
      <p:pic>
        <p:nvPicPr>
          <p:cNvPr id="402" name="" descr=""/>
          <p:cNvPicPr/>
          <p:nvPr/>
        </p:nvPicPr>
        <p:blipFill>
          <a:blip r:embed="rId2"/>
          <a:stretch/>
        </p:blipFill>
        <p:spPr>
          <a:xfrm>
            <a:off x="6119640" y="2333520"/>
            <a:ext cx="5759640" cy="3427560"/>
          </a:xfrm>
          <a:prstGeom prst="rect">
            <a:avLst/>
          </a:prstGeom>
          <a:ln w="0">
            <a:noFill/>
          </a:ln>
        </p:spPr>
      </p:pic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Determinação de linhas de offset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4" name="" descr=""/>
          <p:cNvPicPr/>
          <p:nvPr/>
        </p:nvPicPr>
        <p:blipFill>
          <a:blip r:embed="rId1"/>
          <a:stretch/>
        </p:blipFill>
        <p:spPr>
          <a:xfrm>
            <a:off x="5313240" y="2717640"/>
            <a:ext cx="5211720" cy="3630600"/>
          </a:xfrm>
          <a:prstGeom prst="rect">
            <a:avLst/>
          </a:prstGeom>
          <a:ln w="0">
            <a:noFill/>
          </a:ln>
        </p:spPr>
      </p:pic>
      <p:pic>
        <p:nvPicPr>
          <p:cNvPr id="405" name="" descr=""/>
          <p:cNvPicPr/>
          <p:nvPr/>
        </p:nvPicPr>
        <p:blipFill>
          <a:blip r:embed="rId2"/>
          <a:stretch/>
        </p:blipFill>
        <p:spPr>
          <a:xfrm>
            <a:off x="1631880" y="2460600"/>
            <a:ext cx="4019760" cy="905040"/>
          </a:xfrm>
          <a:prstGeom prst="rect">
            <a:avLst/>
          </a:prstGeom>
          <a:ln w="0">
            <a:noFill/>
          </a:ln>
        </p:spPr>
      </p:pic>
      <p:sp>
        <p:nvSpPr>
          <p:cNvPr id="406" name=""/>
          <p:cNvSpPr/>
          <p:nvPr/>
        </p:nvSpPr>
        <p:spPr>
          <a:xfrm>
            <a:off x="922320" y="1874880"/>
            <a:ext cx="32400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Roboto Condensed"/>
                <a:ea typeface="Arial Unicode MS"/>
              </a:rPr>
              <a:t>Representação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>
            <a:off x="938160" y="1989000"/>
            <a:ext cx="84250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2.2. Tratamento superficial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Tem a finalidade de evitar que material do maciço seja perdido, através da erosão da face e/ou que a água infiltre no terreno de forma exagerada.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a) Vegetação rasteira;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b) Telas (geossintéticos);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c) Argamassa ou concreto jateado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955800" y="1916280"/>
            <a:ext cx="9936000" cy="34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2.3. Solo Reforçado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“</a:t>
            </a: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Consiste na introdução de elementos resistentes na massa de solo, com a finalidade de  aumentar a resistência do maciço como um todo. O método de execução é o chamado “Down-Top” (de baixo para cima). Durante a execução do aterro a ser reforçado, a cada camada de solo compactado executada, faz-se o intercalamento com uma camada de elementos resistentes. À medida que o aterro vai sendo alteado, o talude reforçado vai tomando forma. Geralmente, a face do talude reforçado recebe um revestimento, para que problemas, como erosão, possam ser evitados”. (Dyminski, A.)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>
            <a:off x="1055520" y="1933560"/>
            <a:ext cx="84250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2.3. Solo Reforçado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2.3.1. Terra armada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Os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elementos de reforço são tiras metálicas revestidas.  A disposição das fitas entre as camadas de solo compactadas </a:t>
            </a:r>
            <a:r>
              <a:rPr b="0" lang="pt-BR" sz="2000" spc="-1" strike="noStrike">
                <a:solidFill>
                  <a:srgbClr val="ffffff"/>
                </a:solidFill>
                <a:latin typeface="Roboto Condensed"/>
              </a:rPr>
              <a:t>aumenta a resistência do solo ao cisalhamento, formando uma massa de solo estável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Os blocos de concreto protegem a face, evitando deslocamento excessivo, no entanto não tem função estrutural;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988920" y="645336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3790800" y="1989000"/>
            <a:ext cx="7274160" cy="4334040"/>
          </a:xfrm>
          <a:prstGeom prst="rect">
            <a:avLst/>
          </a:prstGeom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1127160" y="1844640"/>
            <a:ext cx="842472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3.3. Solo Reforçado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3.3.1. Terra armada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400" spc="-1" strike="noStrike">
                <a:solidFill>
                  <a:srgbClr val="ffffff"/>
                </a:solidFill>
                <a:latin typeface="Roboto Condensed"/>
              </a:rPr>
              <a:t>Já corrigi o e-mail. Sua a turma apresenta em 16/04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1459080" y="609300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62720" cy="6858000"/>
          </a:xfrm>
          <a:prstGeom prst="rect">
            <a:avLst/>
          </a:prstGeom>
          <a:ln w="0">
            <a:noFill/>
          </a:ln>
        </p:spPr>
      </p:pic>
      <p:sp>
        <p:nvSpPr>
          <p:cNvPr id="419" name=""/>
          <p:cNvSpPr/>
          <p:nvPr/>
        </p:nvSpPr>
        <p:spPr>
          <a:xfrm>
            <a:off x="309600" y="6622920"/>
            <a:ext cx="18831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http://www.terraarmada.com.br/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" descr=""/>
          <p:cNvPicPr/>
          <p:nvPr/>
        </p:nvPicPr>
        <p:blipFill>
          <a:blip r:embed="rId1"/>
          <a:stretch/>
        </p:blipFill>
        <p:spPr>
          <a:xfrm>
            <a:off x="192240" y="-34920"/>
            <a:ext cx="9188280" cy="6892920"/>
          </a:xfrm>
          <a:prstGeom prst="rect">
            <a:avLst/>
          </a:prstGeom>
          <a:ln w="0">
            <a:noFill/>
          </a:ln>
        </p:spPr>
      </p:pic>
      <p:sp>
        <p:nvSpPr>
          <p:cNvPr id="421" name=""/>
          <p:cNvSpPr/>
          <p:nvPr/>
        </p:nvSpPr>
        <p:spPr>
          <a:xfrm>
            <a:off x="1434960" y="6438960"/>
            <a:ext cx="14839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www.tierra-armada.com 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" descr=""/>
          <p:cNvPicPr/>
          <p:nvPr/>
        </p:nvPicPr>
        <p:blipFill>
          <a:blip r:embed="rId1"/>
          <a:stretch/>
        </p:blipFill>
        <p:spPr>
          <a:xfrm>
            <a:off x="192240" y="-31680"/>
            <a:ext cx="9186840" cy="6889680"/>
          </a:xfrm>
          <a:prstGeom prst="rect">
            <a:avLst/>
          </a:prstGeom>
          <a:ln w="0">
            <a:noFill/>
          </a:ln>
        </p:spPr>
      </p:pic>
      <p:sp>
        <p:nvSpPr>
          <p:cNvPr id="423" name=""/>
          <p:cNvSpPr/>
          <p:nvPr/>
        </p:nvSpPr>
        <p:spPr>
          <a:xfrm>
            <a:off x="1425600" y="6438960"/>
            <a:ext cx="20066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http://www.cimentoitambe.com.br/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>
            <a:off x="1055520" y="1989000"/>
            <a:ext cx="8425080" cy="45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3.3. Solo Reforçado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3.3.1. Terra Armada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-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Resistência interna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: Que, aliada à estabilidade externa do volume armado, confere ao conjunto significativa capacidade de resistir às cargas estáticas e dinâmicas.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-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Confiabilidade: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A durabilidade dos materiais está bem documentada e é monitorável, permitindo alto grau de confiabilidade.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-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Adaptabilidade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: A tecnologia provê soluções para casos complexos e, muitas vezes, demonstra ser a melhor solução para problemas como: uma faixa de domínio estreita; taludes naturais instáveis; condições limite de fundação com  expectativa de  recalques significativos.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-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Aspecto estético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: A variedade de possibilidades de paramentos externos pode atender a diversas exigências arquitetônicas, Dashofer (2006).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ffffff"/>
                </a:solidFill>
                <a:latin typeface="Roboto Condensed"/>
              </a:rPr>
              <a:t>Já corrigi o e-mail. Sua a turma apresenta em 16/04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976320" y="640872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>
            <a:off x="1055520" y="1876320"/>
            <a:ext cx="8425080" cy="49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Roboto Condensed"/>
              </a:rPr>
              <a:t>2.3. Solo Reforçado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Roboto Condensed"/>
              </a:rPr>
              <a:t>2.3.2. Geossintéticos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Os geossintéticos são inertes à umidade e às características químicas ou biológicas do solo. Podem ser utilizados </a:t>
            </a: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com diferentes finalidades: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separação de materiais;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reforço de aterros;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filtração;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drenagem;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Roboto Condensed"/>
              </a:rPr>
              <a:t>barreiras impermeáveis.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800" spc="-1" strike="noStrike">
                <a:solidFill>
                  <a:srgbClr val="ffffff"/>
                </a:solidFill>
                <a:latin typeface="Roboto Condensed"/>
              </a:rPr>
              <a:t>Já corrigi o e-mail. Sua a turma apresenta em 16/04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1349280" y="661500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431" name=""/>
          <p:cNvSpPr/>
          <p:nvPr/>
        </p:nvSpPr>
        <p:spPr>
          <a:xfrm>
            <a:off x="1433880" y="6438960"/>
            <a:ext cx="15645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 u="sng">
                <a:solidFill>
                  <a:srgbClr val="ccccff"/>
                </a:solidFill>
                <a:uFillTx/>
                <a:latin typeface="Roboto Condensed"/>
                <a:hlinkClick r:id="rId2"/>
              </a:rPr>
              <a:t>www.engenhariacivil.com</a:t>
            </a: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 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>
            <a:off x="949320" y="1916280"/>
            <a:ext cx="8424720" cy="33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2.3. Solo Reforçado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2.3.3. Alternativos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Roboto Condensed"/>
              </a:rPr>
              <a:t>- Pneus;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400" spc="-1" strike="noStrike">
                <a:solidFill>
                  <a:srgbClr val="000000"/>
                </a:solidFill>
                <a:latin typeface="Roboto Condensed"/>
              </a:rPr>
              <a:t>- Bambu etc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1459080" y="609300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>
            <a:off x="1425600" y="6438960"/>
            <a:ext cx="20066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http://www.cimentoitambe.com.br/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6" name="" descr=""/>
          <p:cNvPicPr/>
          <p:nvPr/>
        </p:nvPicPr>
        <p:blipFill>
          <a:blip r:embed="rId1"/>
          <a:stretch/>
        </p:blipFill>
        <p:spPr>
          <a:xfrm>
            <a:off x="192240" y="-14400"/>
            <a:ext cx="9144000" cy="6886800"/>
          </a:xfrm>
          <a:prstGeom prst="rect">
            <a:avLst/>
          </a:prstGeom>
          <a:ln w="0">
            <a:noFill/>
          </a:ln>
        </p:spPr>
      </p:pic>
      <p:sp>
        <p:nvSpPr>
          <p:cNvPr id="437" name=""/>
          <p:cNvSpPr/>
          <p:nvPr/>
        </p:nvSpPr>
        <p:spPr>
          <a:xfrm>
            <a:off x="1463760" y="6550200"/>
            <a:ext cx="1098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www.arq.ufmg.br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>
            <a:off x="922320" y="1989000"/>
            <a:ext cx="10861560" cy="40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2.4. Solo Grampeado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Consiste na introdução de barras metálicas, revestidas ou não, em maciços naturais ou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em aterros.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Sua execução consiste em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perfuração do maciço,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introdução da barra metálica no furo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preenchimento do mesmo com nata de cimento.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A cabeça do prego pode ser protegida, bem como a face do talude, com argamassa de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cimento ou com concreto jateado.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Os grampos não são protendidos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, sendo solicitados somente quando o maciço sofre pequenos deslocamentos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857160" y="619596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>
            <a:off x="922320" y="1749600"/>
            <a:ext cx="8424720" cy="20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2.4. Solo Grampeado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1422720" y="6381720"/>
            <a:ext cx="17200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www.laresengenharia.com.br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3" name="" descr=""/>
          <p:cNvPicPr/>
          <p:nvPr/>
        </p:nvPicPr>
        <p:blipFill>
          <a:blip r:embed="rId1"/>
          <a:stretch/>
        </p:blipFill>
        <p:spPr>
          <a:xfrm>
            <a:off x="3043080" y="2230560"/>
            <a:ext cx="7785360" cy="4395600"/>
          </a:xfrm>
          <a:prstGeom prst="rect">
            <a:avLst/>
          </a:prstGeom>
          <a:ln w="0">
            <a:noFill/>
          </a:ln>
        </p:spPr>
      </p:pic>
      <p:sp>
        <p:nvSpPr>
          <p:cNvPr id="444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" descr=""/>
          <p:cNvPicPr/>
          <p:nvPr/>
        </p:nvPicPr>
        <p:blipFill>
          <a:blip r:embed="rId1"/>
          <a:stretch/>
        </p:blipFill>
        <p:spPr>
          <a:xfrm>
            <a:off x="1200240" y="2598840"/>
            <a:ext cx="5976720" cy="4012920"/>
          </a:xfrm>
          <a:prstGeom prst="rect">
            <a:avLst/>
          </a:prstGeom>
          <a:ln w="0">
            <a:noFill/>
          </a:ln>
        </p:spPr>
      </p:pic>
      <p:sp>
        <p:nvSpPr>
          <p:cNvPr id="446" name=""/>
          <p:cNvSpPr/>
          <p:nvPr/>
        </p:nvSpPr>
        <p:spPr>
          <a:xfrm>
            <a:off x="1055520" y="1967040"/>
            <a:ext cx="8425080" cy="20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2.4. Solo Grampeado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1446480" y="6381720"/>
            <a:ext cx="16743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http://www.metalica.com.br/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8" name="" descr=""/>
          <p:cNvPicPr/>
          <p:nvPr/>
        </p:nvPicPr>
        <p:blipFill>
          <a:blip r:embed="rId2"/>
          <a:stretch/>
        </p:blipFill>
        <p:spPr>
          <a:xfrm>
            <a:off x="7196040" y="1460520"/>
            <a:ext cx="4105440" cy="2155680"/>
          </a:xfrm>
          <a:prstGeom prst="rect">
            <a:avLst/>
          </a:prstGeom>
          <a:ln w="0">
            <a:noFill/>
          </a:ln>
        </p:spPr>
      </p:pic>
      <p:sp>
        <p:nvSpPr>
          <p:cNvPr id="449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>
            <a:off x="1587600" y="-1364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1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8920080" cy="6858000"/>
          </a:xfrm>
          <a:prstGeom prst="rect">
            <a:avLst/>
          </a:prstGeom>
          <a:ln w="0">
            <a:noFill/>
          </a:ln>
        </p:spPr>
      </p:pic>
      <p:sp>
        <p:nvSpPr>
          <p:cNvPr id="452" name=""/>
          <p:cNvSpPr/>
          <p:nvPr/>
        </p:nvSpPr>
        <p:spPr>
          <a:xfrm>
            <a:off x="2138400" y="6611760"/>
            <a:ext cx="1593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http://ancorbras.com.br/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454" name=""/>
          <p:cNvSpPr/>
          <p:nvPr/>
        </p:nvSpPr>
        <p:spPr>
          <a:xfrm>
            <a:off x="2138400" y="6611760"/>
            <a:ext cx="1593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http://ancorbras.com.br/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>
            <a:off x="922320" y="1916280"/>
            <a:ext cx="10142640" cy="40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2.5. Muro de Arrimo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paredes que servem para conter massas de terra. Podem ser de diversos tipos e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funcionar de diferentes maneiras.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A estabilidade deve-se ao peso próprio. Utilizados para conter desníveis inferiores a  5m.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Em geral são executados em alvenaria ou em concreto. Nos muros de concreto devem ser previstas juntas estruturais com espaçamento máximo de 20m e vedação em Neoprene ou material similar.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988920" y="645804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" descr=""/>
          <p:cNvPicPr/>
          <p:nvPr/>
        </p:nvPicPr>
        <p:blipFill>
          <a:blip r:embed="rId1"/>
          <a:stretch/>
        </p:blipFill>
        <p:spPr>
          <a:xfrm>
            <a:off x="2038320" y="1844640"/>
            <a:ext cx="8115480" cy="4505400"/>
          </a:xfrm>
          <a:prstGeom prst="rect">
            <a:avLst/>
          </a:prstGeom>
          <a:ln w="0">
            <a:noFill/>
          </a:ln>
        </p:spPr>
      </p:pic>
      <p:sp>
        <p:nvSpPr>
          <p:cNvPr id="459" name=""/>
          <p:cNvSpPr/>
          <p:nvPr/>
        </p:nvSpPr>
        <p:spPr>
          <a:xfrm>
            <a:off x="1200240" y="661680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" descr=""/>
          <p:cNvPicPr/>
          <p:nvPr/>
        </p:nvPicPr>
        <p:blipFill>
          <a:blip r:embed="rId1"/>
          <a:stretch/>
        </p:blipFill>
        <p:spPr>
          <a:xfrm>
            <a:off x="2062080" y="1752480"/>
            <a:ext cx="8067600" cy="4600800"/>
          </a:xfrm>
          <a:prstGeom prst="rect">
            <a:avLst/>
          </a:prstGeom>
          <a:ln w="0">
            <a:noFill/>
          </a:ln>
        </p:spPr>
      </p:pic>
      <p:sp>
        <p:nvSpPr>
          <p:cNvPr id="462" name=""/>
          <p:cNvSpPr/>
          <p:nvPr/>
        </p:nvSpPr>
        <p:spPr>
          <a:xfrm>
            <a:off x="1774800" y="623736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" descr=""/>
          <p:cNvPicPr/>
          <p:nvPr/>
        </p:nvPicPr>
        <p:blipFill>
          <a:blip r:embed="rId1"/>
          <a:stretch/>
        </p:blipFill>
        <p:spPr>
          <a:xfrm>
            <a:off x="2235240" y="1893960"/>
            <a:ext cx="8182080" cy="4448160"/>
          </a:xfrm>
          <a:prstGeom prst="rect">
            <a:avLst/>
          </a:prstGeom>
          <a:ln w="0">
            <a:noFill/>
          </a:ln>
        </p:spPr>
      </p:pic>
      <p:sp>
        <p:nvSpPr>
          <p:cNvPr id="465" name=""/>
          <p:cNvSpPr/>
          <p:nvPr/>
        </p:nvSpPr>
        <p:spPr>
          <a:xfrm>
            <a:off x="1523880" y="652464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>
            <a:off x="1343160" y="652788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8" name="" descr=""/>
          <p:cNvPicPr/>
          <p:nvPr/>
        </p:nvPicPr>
        <p:blipFill>
          <a:blip r:embed="rId1"/>
          <a:stretch/>
        </p:blipFill>
        <p:spPr>
          <a:xfrm>
            <a:off x="2135160" y="1898640"/>
            <a:ext cx="8429760" cy="4629240"/>
          </a:xfrm>
          <a:prstGeom prst="rect">
            <a:avLst/>
          </a:prstGeom>
          <a:ln w="0">
            <a:noFill/>
          </a:ln>
        </p:spPr>
      </p:pic>
      <p:sp>
        <p:nvSpPr>
          <p:cNvPr id="469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/>
          <p:nvPr/>
        </p:nvSpPr>
        <p:spPr>
          <a:xfrm>
            <a:off x="922320" y="2100240"/>
            <a:ext cx="842472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1638360" y="645336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" name="" descr=""/>
          <p:cNvPicPr/>
          <p:nvPr/>
        </p:nvPicPr>
        <p:blipFill>
          <a:blip r:embed="rId1"/>
          <a:stretch/>
        </p:blipFill>
        <p:spPr>
          <a:xfrm>
            <a:off x="2397240" y="3429000"/>
            <a:ext cx="7870680" cy="2690640"/>
          </a:xfrm>
          <a:prstGeom prst="rect">
            <a:avLst/>
          </a:prstGeom>
          <a:ln w="0">
            <a:noFill/>
          </a:ln>
        </p:spPr>
      </p:pic>
      <p:sp>
        <p:nvSpPr>
          <p:cNvPr id="47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>
            <a:off x="1055520" y="1917720"/>
            <a:ext cx="5256360" cy="38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a) Pedra sem argamassa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8807400" y="6222960"/>
            <a:ext cx="184032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 u="sng">
                <a:solidFill>
                  <a:srgbClr val="ccccff"/>
                </a:solidFill>
                <a:uFillTx/>
                <a:latin typeface="Roboto Condensed"/>
                <a:hlinkClick r:id="rId1"/>
              </a:rPr>
              <a:t>estiradorsemrima.blogspot.com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6" name="" descr=""/>
          <p:cNvPicPr/>
          <p:nvPr/>
        </p:nvPicPr>
        <p:blipFill>
          <a:blip r:embed="rId2"/>
          <a:stretch/>
        </p:blipFill>
        <p:spPr>
          <a:xfrm>
            <a:off x="7319880" y="1560600"/>
            <a:ext cx="3780000" cy="4244760"/>
          </a:xfrm>
          <a:prstGeom prst="rect">
            <a:avLst/>
          </a:prstGeom>
          <a:ln w="0">
            <a:noFill/>
          </a:ln>
        </p:spPr>
      </p:pic>
      <p:sp>
        <p:nvSpPr>
          <p:cNvPr id="477" name=""/>
          <p:cNvSpPr/>
          <p:nvPr/>
        </p:nvSpPr>
        <p:spPr>
          <a:xfrm>
            <a:off x="1092240" y="3070080"/>
            <a:ext cx="5530680" cy="28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Contenção de taludes com alturas de até 2m;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A base do muro deve ter largura de 0,5 a 1,0m e deve assentar-se sobre cota inferior à da superfície do terreno;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Não necessita de drenos.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"/>
          <p:cNvSpPr/>
          <p:nvPr/>
        </p:nvSpPr>
        <p:spPr>
          <a:xfrm>
            <a:off x="907920" y="1832040"/>
            <a:ext cx="10361880" cy="43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b) Pedra argamassada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Aplica-se a taludes de maior altura (cerca de uns 3m);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A argamassa provoca uma maior rigidez no muro, porém elimina a sua capacidade drenante.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É necessário então implementar os dispositivos usuais de drenagem de muros impermeáveis, tais como dreno de areia ou tubos barbacãs.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482" name=""/>
          <p:cNvSpPr/>
          <p:nvPr/>
        </p:nvSpPr>
        <p:spPr>
          <a:xfrm>
            <a:off x="1523880" y="6308640"/>
            <a:ext cx="4572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http://www.flickr.com/photos/projetomacicodomorrodacruz/3471859424/sizes/z/in/set-72157617175495872/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>
            <a:off x="1127160" y="2060640"/>
            <a:ext cx="4968720" cy="43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c) Muro de Concreto Ciclópico ou Concreto Gravidade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O muro de concreto ciclópico é construído mediante o preenchimento de uma fôrma com concreto e pedra de dimensões variadas;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Secção é usualmente trapezoidal. Caso se deseje executar a face frontal plano recomenda-se inclinação de pelo menos dois graus em direção à área aterrada.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4" name="" descr=""/>
          <p:cNvPicPr/>
          <p:nvPr/>
        </p:nvPicPr>
        <p:blipFill>
          <a:blip r:embed="rId1"/>
          <a:stretch/>
        </p:blipFill>
        <p:spPr>
          <a:xfrm>
            <a:off x="6315120" y="2779560"/>
            <a:ext cx="4481640" cy="2953080"/>
          </a:xfrm>
          <a:prstGeom prst="rect">
            <a:avLst/>
          </a:prstGeom>
          <a:ln w="0">
            <a:noFill/>
          </a:ln>
        </p:spPr>
      </p:pic>
      <p:sp>
        <p:nvSpPr>
          <p:cNvPr id="485" name=""/>
          <p:cNvSpPr/>
          <p:nvPr/>
        </p:nvSpPr>
        <p:spPr>
          <a:xfrm>
            <a:off x="10139400" y="6451560"/>
            <a:ext cx="13129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800" spc="-1" strike="noStrike" u="sng">
                <a:solidFill>
                  <a:srgbClr val="ccccff"/>
                </a:solidFill>
                <a:uFillTx/>
                <a:latin typeface="Roboto Condensed"/>
                <a:hlinkClick r:id="rId2"/>
              </a:rPr>
              <a:t>engbolzan.blogspot.com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" descr=""/>
          <p:cNvPicPr/>
          <p:nvPr/>
        </p:nvPicPr>
        <p:blipFill>
          <a:blip r:embed="rId1"/>
          <a:srcRect l="0" t="0" r="0" b="12324"/>
          <a:stretch/>
        </p:blipFill>
        <p:spPr>
          <a:xfrm>
            <a:off x="1263600" y="2154240"/>
            <a:ext cx="9144000" cy="4334040"/>
          </a:xfrm>
          <a:prstGeom prst="rect">
            <a:avLst/>
          </a:prstGeom>
          <a:ln w="0">
            <a:noFill/>
          </a:ln>
        </p:spPr>
      </p:pic>
      <p:sp>
        <p:nvSpPr>
          <p:cNvPr id="488" name=""/>
          <p:cNvSpPr/>
          <p:nvPr/>
        </p:nvSpPr>
        <p:spPr>
          <a:xfrm>
            <a:off x="933480" y="1846440"/>
            <a:ext cx="828180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1273320" y="648828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" descr=""/>
          <p:cNvPicPr/>
          <p:nvPr/>
        </p:nvPicPr>
        <p:blipFill>
          <a:blip r:embed="rId1"/>
          <a:stretch/>
        </p:blipFill>
        <p:spPr>
          <a:xfrm>
            <a:off x="1847880" y="1433520"/>
            <a:ext cx="9144000" cy="5135400"/>
          </a:xfrm>
          <a:prstGeom prst="rect">
            <a:avLst/>
          </a:prstGeom>
          <a:ln w="0">
            <a:noFill/>
          </a:ln>
        </p:spPr>
      </p:pic>
      <p:sp>
        <p:nvSpPr>
          <p:cNvPr id="492" name=""/>
          <p:cNvSpPr/>
          <p:nvPr/>
        </p:nvSpPr>
        <p:spPr>
          <a:xfrm>
            <a:off x="1055520" y="1844640"/>
            <a:ext cx="82821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1523880" y="645336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>
            <a:off x="1055520" y="1706400"/>
            <a:ext cx="82821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1523880" y="638172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7" name="" descr=""/>
          <p:cNvPicPr/>
          <p:nvPr/>
        </p:nvPicPr>
        <p:blipFill>
          <a:blip r:embed="rId1"/>
          <a:stretch/>
        </p:blipFill>
        <p:spPr>
          <a:xfrm>
            <a:off x="1200240" y="2698920"/>
            <a:ext cx="8281800" cy="3579480"/>
          </a:xfrm>
          <a:prstGeom prst="rect">
            <a:avLst/>
          </a:prstGeom>
          <a:ln w="0">
            <a:noFill/>
          </a:ln>
        </p:spPr>
      </p:pic>
      <p:sp>
        <p:nvSpPr>
          <p:cNvPr id="498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>
            <a:off x="928800" y="1924200"/>
            <a:ext cx="9217080" cy="40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d) Gabião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São constituídos por gaiolas metálicas preenchidas com pedras arrumadas manualmente e construídas com fios de aço galvanizado em malha hexagonal com dupla torção.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Grande fexibilidade;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Permeabilidade;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Tem princípio similar ao Crib Wall, que são estruturas formadas por elementos pré-moldados de concreto armado, madeira ou aço, montados no local, em forma de “fogueiras”, preenchidos com material granular graúdo.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1271520" y="658800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503" name=""/>
          <p:cNvSpPr/>
          <p:nvPr/>
        </p:nvSpPr>
        <p:spPr>
          <a:xfrm>
            <a:off x="1616400" y="6381720"/>
            <a:ext cx="15645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www.fabriciano.mg.gov.br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" descr=""/>
          <p:cNvPicPr/>
          <p:nvPr/>
        </p:nvPicPr>
        <p:blipFill>
          <a:blip r:embed="rId1"/>
          <a:stretch/>
        </p:blipFill>
        <p:spPr>
          <a:xfrm>
            <a:off x="192240" y="-2232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505" name=""/>
          <p:cNvSpPr/>
          <p:nvPr/>
        </p:nvSpPr>
        <p:spPr>
          <a:xfrm>
            <a:off x="1808280" y="6308640"/>
            <a:ext cx="9777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www.cob.org</a:t>
            </a:r>
            <a:r>
              <a:rPr b="0" lang="pt-BR" sz="1400" spc="-1" strike="noStrike">
                <a:solidFill>
                  <a:srgbClr val="000000"/>
                </a:solidFill>
                <a:latin typeface="Roboto Condensed"/>
              </a:rPr>
              <a:t> -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>
            <a:off x="1127160" y="2070000"/>
            <a:ext cx="9432720" cy="30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d) Muro de Solo-cimento Ensacado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São constituídos por camadas formadas por sacos de poliéster ou similares, preenchidos por uma mistura cimento-solo da ordem de 1:10 a 1:15 (em volume);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-  Solução econômica que não requer mão de obra especializada.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>
            <a:off x="1774800" y="623736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www.umarizal.com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9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44000" cy="6858000"/>
          </a:xfrm>
          <a:prstGeom prst="rect">
            <a:avLst/>
          </a:prstGeom>
          <a:ln w="0">
            <a:noFill/>
          </a:ln>
        </p:spPr>
      </p:pic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/>
          <p:nvPr/>
        </p:nvSpPr>
        <p:spPr>
          <a:xfrm>
            <a:off x="954000" y="1892160"/>
            <a:ext cx="10827000" cy="38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2.5.1. Muros a Gravidade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e) Muros de Flexão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estruturas mais esbeltas com seção transversal em “L” que resistem aos empuxos por flexão, utilizando parte do peso próprio do maciço, que se apoia sobre a base do “L”;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São construídos em concreto armado, tornando-se antieconômicos para alturas acima de 5 a 7m. A laje de base em geral apresenta largura entre 50 e 70% da altura do muro.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A face trabalha à flexão e se necessário pode empregar vigas de enrijecimento, no caso alturas maiores, os contrafortes, que são em geral espaçados de cerca de 70% da altura do muro.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523880" y="630864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http://www.eng.uerj.br/~denise/pdf/muros.pdf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" descr=""/>
          <p:cNvPicPr/>
          <p:nvPr/>
        </p:nvPicPr>
        <p:blipFill>
          <a:blip r:embed="rId1"/>
          <a:stretch/>
        </p:blipFill>
        <p:spPr>
          <a:xfrm>
            <a:off x="3567240" y="1700280"/>
            <a:ext cx="7538760" cy="4962600"/>
          </a:xfrm>
          <a:prstGeom prst="rect">
            <a:avLst/>
          </a:prstGeom>
          <a:ln w="0">
            <a:noFill/>
          </a:ln>
        </p:spPr>
      </p:pic>
      <p:sp>
        <p:nvSpPr>
          <p:cNvPr id="514" name=""/>
          <p:cNvSpPr/>
          <p:nvPr/>
        </p:nvSpPr>
        <p:spPr>
          <a:xfrm>
            <a:off x="1055520" y="1911240"/>
            <a:ext cx="828216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Muros de Flexão sem Contrafortes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1774800" y="623736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3.0. Métodos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1847880" y="1125360"/>
            <a:ext cx="828180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Muros de Flexão com Contrafortes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1774800" y="623736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0" name="" descr=""/>
          <p:cNvPicPr/>
          <p:nvPr/>
        </p:nvPicPr>
        <p:blipFill>
          <a:blip r:embed="rId1"/>
          <a:stretch/>
        </p:blipFill>
        <p:spPr>
          <a:xfrm>
            <a:off x="1774800" y="1773360"/>
            <a:ext cx="8601120" cy="3876480"/>
          </a:xfrm>
          <a:prstGeom prst="rect">
            <a:avLst/>
          </a:prstGeom>
          <a:ln w="0">
            <a:noFill/>
          </a:ln>
        </p:spPr>
      </p:pic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>
            <a:off x="1127160" y="1871640"/>
            <a:ext cx="828180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Muros de Flexão com Contrafortes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1774800" y="6237360"/>
            <a:ext cx="4572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231f20"/>
                </a:solidFill>
                <a:latin typeface="Roboto Condensed"/>
              </a:rPr>
              <a:t>http://www.dcc.ufpr.br/mediawiki/index.php/Disciplinas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3" name="" descr=""/>
          <p:cNvPicPr/>
          <p:nvPr/>
        </p:nvPicPr>
        <p:blipFill>
          <a:blip r:embed="rId1"/>
          <a:stretch/>
        </p:blipFill>
        <p:spPr>
          <a:xfrm>
            <a:off x="3071880" y="2446200"/>
            <a:ext cx="7734240" cy="3791160"/>
          </a:xfrm>
          <a:prstGeom prst="rect">
            <a:avLst/>
          </a:prstGeom>
          <a:ln w="0">
            <a:noFill/>
          </a:ln>
        </p:spPr>
      </p:pic>
      <p:sp>
        <p:nvSpPr>
          <p:cNvPr id="524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>
            <a:off x="1200240" y="2022480"/>
            <a:ext cx="10512360" cy="36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Roboto Condensed"/>
              </a:rPr>
              <a:t>3.6. Cortina atirantada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“</a:t>
            </a: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Parede de concreto armado, através da qual o maciço é perfurado, sendo introduzidas nos furos tirantes metálicos;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Após o posicionamento destas barras, é introduzida nas perfurações nata de cimento a alta pressão, que penetra nos vazios do solo, formando um bulbo, e ancorando as barras metálicas.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Roboto Condensed"/>
              </a:rPr>
              <a:t>Passado o tempo de cura da nata de cimento, os tirantes são protendidos e presos na parede de concreto, o que faz com que esta estrutura seja “empurrada” contra o maciço”.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1638360" y="645336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" descr=""/>
          <p:cNvPicPr/>
          <p:nvPr/>
        </p:nvPicPr>
        <p:blipFill>
          <a:blip r:embed="rId1"/>
          <a:stretch/>
        </p:blipFill>
        <p:spPr>
          <a:xfrm>
            <a:off x="2846520" y="2852640"/>
            <a:ext cx="7557840" cy="3087720"/>
          </a:xfrm>
          <a:prstGeom prst="rect">
            <a:avLst/>
          </a:prstGeom>
          <a:ln w="0">
            <a:noFill/>
          </a:ln>
        </p:spPr>
      </p:pic>
      <p:sp>
        <p:nvSpPr>
          <p:cNvPr id="529" name=""/>
          <p:cNvSpPr/>
          <p:nvPr/>
        </p:nvSpPr>
        <p:spPr>
          <a:xfrm>
            <a:off x="1179360" y="1908000"/>
            <a:ext cx="8425080" cy="7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2.6. Cortina atirantada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1639800" y="6453360"/>
            <a:ext cx="1269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 u="sng">
                <a:solidFill>
                  <a:srgbClr val="ccccff"/>
                </a:solidFill>
                <a:uFillTx/>
                <a:latin typeface="Roboto Condensed"/>
                <a:hlinkClick r:id="rId2"/>
              </a:rPr>
              <a:t>www.ofitexto.com.br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533" name=""/>
          <p:cNvSpPr/>
          <p:nvPr/>
        </p:nvSpPr>
        <p:spPr>
          <a:xfrm>
            <a:off x="1415880" y="6611760"/>
            <a:ext cx="22032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</a:rPr>
              <a:t>http://www.cimentoitambe.com.br/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"/>
          <p:cNvSpPr/>
          <p:nvPr/>
        </p:nvSpPr>
        <p:spPr>
          <a:xfrm>
            <a:off x="982800" y="2060640"/>
            <a:ext cx="8424720" cy="40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3.7. Muros fincados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3.7.1. Estacas Pranchas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Rápida execução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Não se aplica a solos duros;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Clr>
                <a:srgbClr val="000000"/>
              </a:buClr>
              <a:buFont typeface="Roboto Condensed"/>
              <a:buChar char="-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Dificuldade de transporte de perfis e mobilidade do equipamento.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3.7.2. Outras Estacas Metálicas Justapostas.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3.7.3. Soluções Mistas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1638360" y="6453360"/>
            <a:ext cx="1518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http://www.cesec.ufpr.br/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>
            <a:off x="1055520" y="1987560"/>
            <a:ext cx="8425080" cy="20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2.7.1. Estacas Pranchas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1374480" y="6308640"/>
            <a:ext cx="2751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http://www.naresi.com/naresi/24-muro-de-arrimo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9" name="" descr=""/>
          <p:cNvPicPr/>
          <p:nvPr/>
        </p:nvPicPr>
        <p:blipFill>
          <a:blip r:embed="rId1"/>
          <a:stretch/>
        </p:blipFill>
        <p:spPr>
          <a:xfrm>
            <a:off x="6311880" y="692280"/>
            <a:ext cx="4356000" cy="6165720"/>
          </a:xfrm>
          <a:prstGeom prst="rect">
            <a:avLst/>
          </a:prstGeom>
          <a:ln w="0">
            <a:noFill/>
          </a:ln>
        </p:spPr>
      </p:pic>
      <p:sp>
        <p:nvSpPr>
          <p:cNvPr id="540" name=""/>
          <p:cNvSpPr/>
          <p:nvPr/>
        </p:nvSpPr>
        <p:spPr>
          <a:xfrm>
            <a:off x="1523880" y="6597720"/>
            <a:ext cx="4788000" cy="26028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1" name="" descr=""/>
          <p:cNvPicPr/>
          <p:nvPr/>
        </p:nvPicPr>
        <p:blipFill>
          <a:blip r:embed="rId2"/>
          <a:stretch/>
        </p:blipFill>
        <p:spPr>
          <a:xfrm>
            <a:off x="922320" y="2516040"/>
            <a:ext cx="4856040" cy="3311640"/>
          </a:xfrm>
          <a:prstGeom prst="rect">
            <a:avLst/>
          </a:prstGeom>
          <a:ln w="0">
            <a:noFill/>
          </a:ln>
        </p:spPr>
      </p:pic>
      <p:sp>
        <p:nvSpPr>
          <p:cNvPr id="542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" descr=""/>
          <p:cNvPicPr/>
          <p:nvPr/>
        </p:nvPicPr>
        <p:blipFill>
          <a:blip r:embed="rId1"/>
          <a:stretch/>
        </p:blipFill>
        <p:spPr>
          <a:xfrm>
            <a:off x="19224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544" name=""/>
          <p:cNvSpPr/>
          <p:nvPr/>
        </p:nvSpPr>
        <p:spPr>
          <a:xfrm>
            <a:off x="1442880" y="6581880"/>
            <a:ext cx="17686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http://www.geodactha.com.br/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1587600" y="-1364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"/>
          <p:cNvSpPr/>
          <p:nvPr/>
        </p:nvSpPr>
        <p:spPr>
          <a:xfrm>
            <a:off x="922320" y="2052720"/>
            <a:ext cx="8424720" cy="20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2.8. Muros escavados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2.8.1. Paredes Diafragma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638360" y="6453360"/>
            <a:ext cx="132984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 u="sng">
                <a:solidFill>
                  <a:srgbClr val="ccccff"/>
                </a:solidFill>
                <a:uFillTx/>
                <a:latin typeface="Roboto Condensed"/>
                <a:hlinkClick r:id="rId1"/>
              </a:rPr>
              <a:t>www.geofund.com.br</a:t>
            </a: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 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8" name="" descr=""/>
          <p:cNvPicPr/>
          <p:nvPr/>
        </p:nvPicPr>
        <p:blipFill>
          <a:blip r:embed="rId2"/>
          <a:stretch/>
        </p:blipFill>
        <p:spPr>
          <a:xfrm>
            <a:off x="5076720" y="2052720"/>
            <a:ext cx="6193080" cy="4290840"/>
          </a:xfrm>
          <a:prstGeom prst="rect">
            <a:avLst/>
          </a:prstGeom>
          <a:ln w="0">
            <a:noFill/>
          </a:ln>
        </p:spPr>
      </p:pic>
      <p:sp>
        <p:nvSpPr>
          <p:cNvPr id="549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" descr=""/>
          <p:cNvPicPr/>
          <p:nvPr/>
        </p:nvPicPr>
        <p:blipFill>
          <a:blip r:embed="rId1"/>
          <a:stretch/>
        </p:blipFill>
        <p:spPr>
          <a:xfrm>
            <a:off x="4656240" y="1512720"/>
            <a:ext cx="6875280" cy="5158080"/>
          </a:xfrm>
          <a:prstGeom prst="rect">
            <a:avLst/>
          </a:prstGeom>
          <a:ln w="0">
            <a:noFill/>
          </a:ln>
        </p:spPr>
      </p:pic>
      <p:sp>
        <p:nvSpPr>
          <p:cNvPr id="551" name=""/>
          <p:cNvSpPr/>
          <p:nvPr/>
        </p:nvSpPr>
        <p:spPr>
          <a:xfrm>
            <a:off x="1576440" y="6453360"/>
            <a:ext cx="23781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http://kaliengenharia.com.br/villa-mateus/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1263600" y="1916280"/>
            <a:ext cx="26085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2.8.2. Estacas Moldadas Justapostas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"/>
          <p:cNvSpPr/>
          <p:nvPr/>
        </p:nvSpPr>
        <p:spPr>
          <a:xfrm>
            <a:off x="7761240" y="6635880"/>
            <a:ext cx="38764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https://ri.ufs.br/bitstream/riufs/10130/2/Mariana_Oliveira_Andrade.pdf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1227240" y="1697040"/>
            <a:ext cx="163296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Comparativo de custo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2.0. Métodos de Estabilização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7" name="" descr=""/>
          <p:cNvPicPr/>
          <p:nvPr/>
        </p:nvPicPr>
        <p:blipFill>
          <a:blip r:embed="rId1"/>
          <a:srcRect l="25787" t="27934" r="26375" b="14284"/>
          <a:stretch/>
        </p:blipFill>
        <p:spPr>
          <a:xfrm>
            <a:off x="2855880" y="1697040"/>
            <a:ext cx="7194600" cy="4884840"/>
          </a:xfrm>
          <a:prstGeom prst="rect">
            <a:avLst/>
          </a:prstGeom>
          <a:ln w="0">
            <a:noFill/>
          </a:ln>
        </p:spPr>
      </p:pic>
      <p:sp>
        <p:nvSpPr>
          <p:cNvPr id="558" name=""/>
          <p:cNvSpPr/>
          <p:nvPr/>
        </p:nvSpPr>
        <p:spPr>
          <a:xfrm>
            <a:off x="3201840" y="6583320"/>
            <a:ext cx="4428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2018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b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>
            <a:off x="2209680" y="3863880"/>
            <a:ext cx="4505400" cy="19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6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3.</a:t>
            </a:r>
            <a:br>
              <a:rPr sz="9600"/>
            </a:br>
            <a:r>
              <a:rPr b="1" lang="pt-BR" sz="54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Drenagem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>
            <a:off x="1576440" y="6453360"/>
            <a:ext cx="26038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http://www.eng.uerj.br/~denise/pdf/muros.pdf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1" name="" descr=""/>
          <p:cNvPicPr/>
          <p:nvPr/>
        </p:nvPicPr>
        <p:blipFill>
          <a:blip r:embed="rId1"/>
          <a:stretch/>
        </p:blipFill>
        <p:spPr>
          <a:xfrm>
            <a:off x="4513320" y="1292400"/>
            <a:ext cx="7224480" cy="5391000"/>
          </a:xfrm>
          <a:prstGeom prst="rect">
            <a:avLst/>
          </a:prstGeom>
          <a:ln w="0">
            <a:noFill/>
          </a:ln>
        </p:spPr>
      </p:pic>
      <p:sp>
        <p:nvSpPr>
          <p:cNvPr id="562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3.0. Drenagem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b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>
            <a:off x="-168120" y="3863880"/>
            <a:ext cx="6883200" cy="19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96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4.</a:t>
            </a:r>
            <a:br>
              <a:rPr sz="9600"/>
            </a:br>
            <a:r>
              <a:rPr b="1" lang="pt-BR" sz="5400" spc="-1" strike="noStrike">
                <a:solidFill>
                  <a:srgbClr val="ffffff"/>
                </a:solidFill>
                <a:latin typeface="Roboto Condensed"/>
                <a:ea typeface="Montserrat"/>
              </a:rPr>
              <a:t>Pré-dimensionamento</a:t>
            </a:r>
            <a:endParaRPr b="0" lang="pt-BR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4.0. Pré-dimensionamento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5" name="" descr=""/>
          <p:cNvPicPr/>
          <p:nvPr/>
        </p:nvPicPr>
        <p:blipFill>
          <a:blip r:embed="rId1"/>
          <a:stretch/>
        </p:blipFill>
        <p:spPr>
          <a:xfrm>
            <a:off x="3863880" y="2276640"/>
            <a:ext cx="3819600" cy="3809880"/>
          </a:xfrm>
          <a:prstGeom prst="rect">
            <a:avLst/>
          </a:prstGeom>
          <a:ln w="0">
            <a:noFill/>
          </a:ln>
        </p:spPr>
      </p:pic>
      <p:sp>
        <p:nvSpPr>
          <p:cNvPr id="566" name=""/>
          <p:cNvSpPr/>
          <p:nvPr/>
        </p:nvSpPr>
        <p:spPr>
          <a:xfrm>
            <a:off x="1004760" y="1814400"/>
            <a:ext cx="31464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3a3a3a"/>
                </a:solidFill>
                <a:latin typeface="Roboto Condensed"/>
              </a:rPr>
              <a:t>Muros a gravidade de seção retangular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7391520" y="6421320"/>
            <a:ext cx="60991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https://www.guiadaengenharia.com/etapas-dimensionamento-muro-gravidade/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4.0. Pré-dimensionamento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1004760" y="1814400"/>
            <a:ext cx="31464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3a3a3a"/>
                </a:solidFill>
                <a:latin typeface="Roboto Condensed"/>
              </a:rPr>
              <a:t>Muros a gravidade de seção trapezoidal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0" name="" descr=""/>
          <p:cNvPicPr/>
          <p:nvPr/>
        </p:nvPicPr>
        <p:blipFill>
          <a:blip r:embed="rId1"/>
          <a:stretch/>
        </p:blipFill>
        <p:spPr>
          <a:xfrm>
            <a:off x="1558800" y="2365200"/>
            <a:ext cx="3905280" cy="3905280"/>
          </a:xfrm>
          <a:prstGeom prst="rect">
            <a:avLst/>
          </a:prstGeom>
          <a:ln w="0">
            <a:noFill/>
          </a:ln>
        </p:spPr>
      </p:pic>
      <p:pic>
        <p:nvPicPr>
          <p:cNvPr id="571" name="" descr=""/>
          <p:cNvPicPr/>
          <p:nvPr/>
        </p:nvPicPr>
        <p:blipFill>
          <a:blip r:embed="rId2"/>
          <a:stretch/>
        </p:blipFill>
        <p:spPr>
          <a:xfrm>
            <a:off x="5664240" y="2413080"/>
            <a:ext cx="4295880" cy="3809880"/>
          </a:xfrm>
          <a:prstGeom prst="rect">
            <a:avLst/>
          </a:prstGeom>
          <a:ln w="0">
            <a:noFill/>
          </a:ln>
        </p:spPr>
      </p:pic>
      <p:sp>
        <p:nvSpPr>
          <p:cNvPr id="572" name=""/>
          <p:cNvSpPr/>
          <p:nvPr/>
        </p:nvSpPr>
        <p:spPr>
          <a:xfrm>
            <a:off x="7391520" y="6421320"/>
            <a:ext cx="60991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https://www.guiadaengenharia.com/etapas-dimensionamento-muro-gravidade/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4.0. Pré-dimensionamento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1004760" y="1814400"/>
            <a:ext cx="31464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3a3a3a"/>
                </a:solidFill>
                <a:latin typeface="Roboto Condensed"/>
              </a:rPr>
              <a:t>Muros a gravidade com perfil escalonado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5" name="" descr=""/>
          <p:cNvPicPr/>
          <p:nvPr/>
        </p:nvPicPr>
        <p:blipFill>
          <a:blip r:embed="rId1"/>
          <a:stretch/>
        </p:blipFill>
        <p:spPr>
          <a:xfrm>
            <a:off x="4186080" y="2413080"/>
            <a:ext cx="3819600" cy="3809880"/>
          </a:xfrm>
          <a:prstGeom prst="rect">
            <a:avLst/>
          </a:prstGeom>
          <a:ln w="0">
            <a:noFill/>
          </a:ln>
        </p:spPr>
      </p:pic>
      <p:sp>
        <p:nvSpPr>
          <p:cNvPr id="576" name=""/>
          <p:cNvSpPr/>
          <p:nvPr/>
        </p:nvSpPr>
        <p:spPr>
          <a:xfrm>
            <a:off x="7391520" y="6421320"/>
            <a:ext cx="60991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Roboto Condensed"/>
                <a:ea typeface="Roboto Condensed"/>
              </a:rPr>
              <a:t>https://www.guiadaengenharia.com/etapas-dimensionamento-muro-gravidade/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"/>
          <p:cNvSpPr/>
          <p:nvPr/>
        </p:nvSpPr>
        <p:spPr>
          <a:xfrm>
            <a:off x="1384200" y="6453360"/>
            <a:ext cx="53758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https://repositorio.unisc.br/jspui/bitstream/11624/2057/1/Brenda%20Rielli%20Spier%20Correa.pdf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4.0. Pré-dimensionamento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1004760" y="1814400"/>
            <a:ext cx="31464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3a3a3a"/>
                </a:solidFill>
                <a:latin typeface="Roboto Condensed"/>
              </a:rPr>
              <a:t>Muros a flexão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0" name="" descr=""/>
          <p:cNvPicPr/>
          <p:nvPr/>
        </p:nvPicPr>
        <p:blipFill>
          <a:blip r:embed="rId1"/>
          <a:srcRect l="31103" t="32142" r="26427" b="19537"/>
          <a:stretch/>
        </p:blipFill>
        <p:spPr>
          <a:xfrm>
            <a:off x="3063960" y="2349360"/>
            <a:ext cx="6056280" cy="3873600"/>
          </a:xfrm>
          <a:prstGeom prst="rect">
            <a:avLst/>
          </a:prstGeom>
          <a:ln w="0">
            <a:noFill/>
          </a:ln>
        </p:spPr>
      </p:pic>
    </p:spTree>
  </p:cSld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"/>
          <p:cNvSpPr/>
          <p:nvPr/>
        </p:nvSpPr>
        <p:spPr>
          <a:xfrm>
            <a:off x="1384200" y="6453360"/>
            <a:ext cx="53758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https://repositorio.unisc.br/jspui/bitstream/11624/2057/1/Brenda%20Rielli%20Spier%20Correa.pdf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4.0. Pré-dimensionamento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1004760" y="1814400"/>
            <a:ext cx="31464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400" spc="-1" strike="noStrike">
                <a:solidFill>
                  <a:srgbClr val="3a3a3a"/>
                </a:solidFill>
                <a:latin typeface="Roboto Condensed"/>
              </a:rPr>
              <a:t>Muros a flexão com contrafortes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4" name="" descr=""/>
          <p:cNvPicPr/>
          <p:nvPr/>
        </p:nvPicPr>
        <p:blipFill>
          <a:blip r:embed="rId1"/>
          <a:srcRect l="29328" t="30930" r="29328" b="25837"/>
          <a:stretch/>
        </p:blipFill>
        <p:spPr>
          <a:xfrm>
            <a:off x="2986200" y="2308320"/>
            <a:ext cx="5688000" cy="3344760"/>
          </a:xfrm>
          <a:prstGeom prst="rect">
            <a:avLst/>
          </a:prstGeom>
          <a:ln w="0">
            <a:noFill/>
          </a:ln>
        </p:spPr>
      </p:pic>
    </p:spTree>
  </p:cSld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" descr=""/>
          <p:cNvPicPr/>
          <p:nvPr/>
        </p:nvPicPr>
        <p:blipFill>
          <a:blip r:embed="rId1"/>
          <a:stretch/>
        </p:blipFill>
        <p:spPr>
          <a:xfrm>
            <a:off x="3165480" y="1636560"/>
            <a:ext cx="7345440" cy="5113440"/>
          </a:xfrm>
          <a:prstGeom prst="rect">
            <a:avLst/>
          </a:prstGeom>
          <a:ln w="0">
            <a:noFill/>
          </a:ln>
        </p:spPr>
      </p:pic>
      <p:sp>
        <p:nvSpPr>
          <p:cNvPr id="586" name=""/>
          <p:cNvSpPr/>
          <p:nvPr/>
        </p:nvSpPr>
        <p:spPr>
          <a:xfrm>
            <a:off x="1576440" y="6453360"/>
            <a:ext cx="26038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900" spc="-1" strike="noStrike">
                <a:solidFill>
                  <a:srgbClr val="000000"/>
                </a:solidFill>
                <a:latin typeface="Roboto Condensed"/>
              </a:rPr>
              <a:t>http://www.eng.uerj.br/~denise/pdf/muros.pdf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4.0. Pré-dimensionamento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>
            <a:off x="1847880" y="-792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Roboto Condensed"/>
                <a:ea typeface="Arial Unicode MS"/>
              </a:rPr>
              <a:t>4.0. Cálculo do volume de terra 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922320" y="635040"/>
            <a:ext cx="103474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3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6.0. Referências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925560" y="1778040"/>
            <a:ext cx="11088720" cy="52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Roboto Condensed"/>
              </a:rPr>
              <a:t> 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BORGES, Alberto de Campos.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Topografia Aplicada a Engenharia Civil</a:t>
            </a:r>
            <a:r>
              <a:rPr b="0" i="1" lang="pt-BR" sz="1600" spc="-1" strike="noStrike">
                <a:solidFill>
                  <a:srgbClr val="000000"/>
                </a:solidFill>
                <a:latin typeface="Roboto Condensed"/>
              </a:rPr>
              <a:t>.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São</a:t>
            </a:r>
            <a:r>
              <a:rPr b="0" lang="pt-BR" sz="1600" spc="-1" strike="noStrike" u="sng">
                <a:solidFill>
                  <a:srgbClr val="000000"/>
                </a:solidFill>
                <a:uFillTx/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Paulo, Edgard Blucher, 1992. 2. v.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MASCARÓ, J. L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. Loteamentos Urbanos</a:t>
            </a:r>
            <a:r>
              <a:rPr b="0" i="1" lang="pt-BR" sz="1600" spc="-1" strike="noStrike">
                <a:solidFill>
                  <a:srgbClr val="000000"/>
                </a:solidFill>
                <a:latin typeface="Roboto Condensed"/>
              </a:rPr>
              <a:t>.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Porto Alegre: Editor L. Mascaró, 2005.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MASCARÓ, J. L.; YOSHINAGA, M.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Infraestrutura Urbana</a:t>
            </a:r>
            <a:r>
              <a:rPr b="0" i="1" lang="pt-BR" sz="1600" spc="-1" strike="noStrike">
                <a:solidFill>
                  <a:srgbClr val="000000"/>
                </a:solidFill>
                <a:latin typeface="Roboto Condensed"/>
              </a:rPr>
              <a:t>.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Porto Alegre: +4 Editora :</a:t>
            </a:r>
            <a:r>
              <a:rPr b="0" lang="pt-BR" sz="1600" spc="-1" strike="noStrike" u="sng">
                <a:solidFill>
                  <a:srgbClr val="000000"/>
                </a:solidFill>
                <a:uFillTx/>
                <a:latin typeface="Roboto Condensed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L.J. Mascaró, 2005.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DA COSTA, P. S.; FIGUEIREDO, W.C.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Estradas – Estudos e Projetos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. Salvador: EDUFBA, 2007.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ROMERO, Adriana Bustos.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Princípios Bioclimáticos para o Desenho Urbano</a:t>
            </a:r>
            <a:r>
              <a:rPr b="0" i="1" lang="pt-BR" sz="1600" spc="-1" strike="noStrike">
                <a:solidFill>
                  <a:srgbClr val="000000"/>
                </a:solidFill>
                <a:latin typeface="Roboto Condensed"/>
              </a:rPr>
              <a:t>.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São Paulo: Projeto Editores Associados, 2001.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THUM, Adriane Brill; ERBA, Diego Alfonso (org.). 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Topografia para estudantes de Arquitetura, Engenharia e Geologia. 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São Leopoldo: Unisinos, 2003. 1. v.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ALVAREZ, Adriana; BRASILEIRO, Alice; MORGADO, Cláudio; TREVISAN, Rosina. </a:t>
            </a:r>
            <a:r>
              <a:rPr b="1" lang="pt-BR" sz="1600" spc="-1" strike="noStrike">
                <a:solidFill>
                  <a:srgbClr val="000000"/>
                </a:solidFill>
                <a:latin typeface="Roboto Condensed"/>
              </a:rPr>
              <a:t>Topografia para Arquitetos</a:t>
            </a: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. Rio de Janeiro: Booklink, UFRJ, 2003.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 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Roboto Condensed"/>
              </a:rPr>
              <a:t>Grohmann, C. H., 2008. Introdução ao geoprocessamento e à análise digital de terreno com software livre. Technical report, Instituto de Geociências, Universidade de São Paulo, São Paulo.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2b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>
            <a:off x="1523880" y="0"/>
            <a:ext cx="9144000" cy="2619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2146320" y="536400"/>
            <a:ext cx="7899480" cy="15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7200" spc="-1" strike="noStrike">
                <a:solidFill>
                  <a:srgbClr val="4ecdc4"/>
                </a:solidFill>
                <a:latin typeface="Roboto Condensed"/>
                <a:ea typeface="Montserrat"/>
              </a:rPr>
              <a:t>Obrigado</a:t>
            </a:r>
            <a:endParaRPr b="0" lang="pt-B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2225520" y="2917800"/>
            <a:ext cx="844236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4000" spc="-1" strike="noStrike">
                <a:solidFill>
                  <a:srgbClr val="454f5b"/>
                </a:solidFill>
                <a:latin typeface="Roboto Condensed"/>
                <a:ea typeface="Montserrat"/>
              </a:rPr>
              <a:t>Dúvidas? 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2225520" y="4583160"/>
            <a:ext cx="3407040" cy="11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172b4d"/>
                </a:solidFill>
                <a:latin typeface="Roboto Condensed"/>
                <a:ea typeface="Montserrat"/>
              </a:rPr>
              <a:t>mauricio.felzemburgh@ufba.br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172b4d"/>
                </a:solidFill>
                <a:latin typeface="Roboto Condensed"/>
                <a:ea typeface="Montserrat"/>
              </a:rPr>
              <a:t>mauricio.vidal@fieb.org.br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2336760" y="4100400"/>
            <a:ext cx="1533600" cy="138240"/>
          </a:xfrm>
          <a:prstGeom prst="rect">
            <a:avLst/>
          </a:prstGeom>
          <a:solidFill>
            <a:srgbClr val="454f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1206360" y="5967360"/>
            <a:ext cx="447840" cy="446040"/>
          </a:xfrm>
          <a:custGeom>
            <a:avLst/>
            <a:gdLst/>
            <a:ahLst/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1222200" y="4664160"/>
            <a:ext cx="430560" cy="315720"/>
          </a:xfrm>
          <a:custGeom>
            <a:avLst/>
            <a:gdLst/>
            <a:ah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lnTo>
                  <a:pt x="1974640" y="137957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lnTo>
                  <a:pt x="3240001" y="126952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lnTo>
                  <a:pt x="0" y="11752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8" name="" descr=""/>
          <p:cNvPicPr/>
          <p:nvPr/>
        </p:nvPicPr>
        <p:blipFill>
          <a:blip r:embed="rId1"/>
          <a:stretch/>
        </p:blipFill>
        <p:spPr>
          <a:xfrm>
            <a:off x="1219320" y="5261040"/>
            <a:ext cx="444240" cy="390600"/>
          </a:xfrm>
          <a:prstGeom prst="rect">
            <a:avLst/>
          </a:prstGeom>
          <a:ln w="0">
            <a:noFill/>
          </a:ln>
        </p:spPr>
      </p:pic>
      <p:sp>
        <p:nvSpPr>
          <p:cNvPr id="599" name=""/>
          <p:cNvSpPr/>
          <p:nvPr/>
        </p:nvSpPr>
        <p:spPr>
          <a:xfrm>
            <a:off x="2225520" y="5308560"/>
            <a:ext cx="3407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172b4d"/>
                </a:solidFill>
                <a:latin typeface="Roboto Condensed"/>
                <a:ea typeface="Roboto Condensed"/>
              </a:rPr>
              <a:t>@felzemburgh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2168640" y="5967360"/>
            <a:ext cx="34052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1" lang="pt-BR" sz="2000" spc="-1" strike="noStrike">
                <a:solidFill>
                  <a:srgbClr val="172b4d"/>
                </a:solidFill>
                <a:latin typeface="Roboto Condensed"/>
                <a:ea typeface="Roboto Condensed"/>
              </a:rPr>
              <a:t>@felzemburgh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1417</TotalTime>
  <Application>LibreOffice/7.5.5.2$Windows_X86_64 LibreOffice_project/ca8fe7424262805f223b9a2334bc7181abbcbf5e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2011-01-28T10:17:42Z</dcterms:created>
  <dc:creator>Ridalva</dc:creator>
  <dc:description/>
  <dc:language>pt-BR</dc:language>
  <cp:lastModifiedBy/>
  <dcterms:modified xsi:type="dcterms:W3CDTF">2025-11-27T17:11:28Z</dcterms:modified>
  <cp:revision>145</cp:revision>
  <dc:subject/>
  <dc:title>Slide 1</dc:title>
</cp:coreProperties>
</file>