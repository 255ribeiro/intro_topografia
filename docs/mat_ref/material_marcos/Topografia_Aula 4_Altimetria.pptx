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99" r:id="rId3"/>
    <p:sldId id="405" r:id="rId4"/>
    <p:sldId id="415" r:id="rId5"/>
    <p:sldId id="422" r:id="rId6"/>
    <p:sldId id="423" r:id="rId7"/>
    <p:sldId id="424" r:id="rId8"/>
    <p:sldId id="428" r:id="rId9"/>
    <p:sldId id="425" r:id="rId10"/>
    <p:sldId id="430" r:id="rId11"/>
    <p:sldId id="431" r:id="rId12"/>
    <p:sldId id="429" r:id="rId13"/>
    <p:sldId id="426" r:id="rId14"/>
    <p:sldId id="427" r:id="rId15"/>
    <p:sldId id="417" r:id="rId16"/>
    <p:sldId id="433" r:id="rId17"/>
    <p:sldId id="413" r:id="rId18"/>
    <p:sldId id="412" r:id="rId19"/>
    <p:sldId id="434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662" autoAdjust="0"/>
  </p:normalViewPr>
  <p:slideViewPr>
    <p:cSldViewPr snapToGrid="0">
      <p:cViewPr varScale="1">
        <p:scale>
          <a:sx n="62" d="100"/>
          <a:sy n="62" d="100"/>
        </p:scale>
        <p:origin x="10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CF727-4844-4058-80B1-55D09D60E6DD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61AC1-0056-4F24-BE59-8956684AA8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30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48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Altimetria:</a:t>
            </a:r>
            <a:r>
              <a:rPr lang="pt-B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determinação do levantamento de dados referentes às alturas dos pontos do terreno e a sua representação. </a:t>
            </a:r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273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 altimetria é uma técnica fundamental para a topografia e para a cartografia, permitindo a representação precisa das variações de relevo do terreno. Na arquitetura e urbanismo, a altimetria é uma ferramenta indispensável para a elaboração de projetos, permitindo avaliar as condições do terreno e identificar as melhores soluções para a construção de edifícios e infraestruturas.</a:t>
            </a:r>
          </a:p>
          <a:p>
            <a:r>
              <a:rPr lang="pt-BR" dirty="0" smtClean="0"/>
              <a:t>Por isso, é fundamental que os estudantes de arquitetura e urbanismo tenham conhecimento sobre a altimetria e suas aplicações, a fim de desenvolver projetos mais eficientes e sustentáveis, considerando as características únicas de cada terreno.</a:t>
            </a:r>
          </a:p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415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8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0617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675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729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118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0737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859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5245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7222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705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0860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113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Altimetria:</a:t>
            </a:r>
            <a:r>
              <a:rPr lang="pt-B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determinação do levantamento de dados referentes às alturas dos pontos do terreno e a sua representação. </a:t>
            </a:r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3717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5037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5206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61AC1-0056-4F24-BE59-8956684AA83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748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01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263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75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876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508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161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495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370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2918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323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077B-BCF5-431F-BFAC-F06CB74BF117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261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8077B-BCF5-431F-BFAC-F06CB74BF117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3CA93-9557-4D74-AFB8-ED0C0B6E5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75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gif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30328" y="2274838"/>
            <a:ext cx="10324312" cy="126084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3200" b="1" dirty="0" smtClean="0">
                <a:latin typeface="Montserrat" pitchFamily="2" charset="0"/>
              </a:rPr>
              <a:t>TOPOGRAFIA E O PLANO TOPOGRÁFICO</a:t>
            </a:r>
          </a:p>
          <a:p>
            <a:pPr algn="l">
              <a:lnSpc>
                <a:spcPct val="100000"/>
              </a:lnSpc>
            </a:pPr>
            <a:r>
              <a:rPr lang="pt-BR" sz="3200" dirty="0" smtClean="0">
                <a:solidFill>
                  <a:srgbClr val="FF0000"/>
                </a:solidFill>
                <a:latin typeface="Montserrat" pitchFamily="2" charset="0"/>
              </a:rPr>
              <a:t>Altimetria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0" y="6339840"/>
            <a:ext cx="12192000" cy="5181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PROFESSOR MARCOS BRITTO</a:t>
            </a:r>
          </a:p>
        </p:txBody>
      </p:sp>
    </p:spTree>
    <p:extLst>
      <p:ext uri="{BB962C8B-B14F-4D97-AF65-F5344CB8AC3E}">
        <p14:creationId xmlns:p14="http://schemas.microsoft.com/office/powerpoint/2010/main" val="386772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94" cy="6857997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NA AULA PASSADA... (PLANIMETRIA)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rgbClr val="FF0000"/>
                </a:solidFill>
                <a:latin typeface="Montserrat" pitchFamily="2" charset="0"/>
              </a:rPr>
              <a:t>Levantamento topográfico.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56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1991" cy="6857994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INTRODUÇÃO À ALTIMETRIA</a:t>
            </a:r>
          </a:p>
        </p:txBody>
      </p:sp>
      <p:sp>
        <p:nvSpPr>
          <p:cNvPr id="2" name="Retângulo 1"/>
          <p:cNvSpPr/>
          <p:nvPr/>
        </p:nvSpPr>
        <p:spPr>
          <a:xfrm>
            <a:off x="364310" y="764666"/>
            <a:ext cx="6096000" cy="267765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pt-BR" sz="2400" dirty="0"/>
              <a:t>A </a:t>
            </a:r>
            <a:r>
              <a:rPr lang="pt-BR" sz="2400" b="1" dirty="0"/>
              <a:t>altimetria</a:t>
            </a:r>
            <a:r>
              <a:rPr lang="pt-BR" sz="2400" dirty="0"/>
              <a:t> é uma técnica de medição que </a:t>
            </a:r>
            <a:r>
              <a:rPr lang="pt-BR" sz="2400" b="1" dirty="0"/>
              <a:t>permite determinar a altitude ou elevação de um ponto em relação a um nível de referência</a:t>
            </a:r>
            <a:r>
              <a:rPr lang="pt-BR" sz="2400" dirty="0"/>
              <a:t>. Na topografia, a altimetria é fundamental para a elaboração de mapas e plantas topográficas, pois permite representar com precisão as variações de relevo do terreno</a:t>
            </a:r>
            <a:r>
              <a:rPr lang="pt-BR" sz="2400" dirty="0" smtClean="0"/>
              <a:t>.</a:t>
            </a:r>
          </a:p>
        </p:txBody>
      </p:sp>
      <p:pic>
        <p:nvPicPr>
          <p:cNvPr id="1034" name="Picture 10" descr="Nível Ótico XPEX AT-32 + Tripé + Mira 5m - LHGeo Equipamentos Topográfico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293" y="810385"/>
            <a:ext cx="5189693" cy="5656767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ONSTRUÇÃO CIVIL: NIVELAMENTO: Nível de mangueira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50557"/>
            <a:ext cx="5987870" cy="2816595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8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1991" cy="6857994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ALTITUDE</a:t>
            </a:r>
          </a:p>
        </p:txBody>
      </p:sp>
      <p:pic>
        <p:nvPicPr>
          <p:cNvPr id="1028" name="Picture 4" descr="File:IBGE Referência de Nível Salvador Bahia 2019-0609.jpg - Wikimedia  Common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3" t="13199" r="24560" b="18701"/>
          <a:stretch/>
        </p:blipFill>
        <p:spPr bwMode="auto">
          <a:xfrm>
            <a:off x="510542" y="1333497"/>
            <a:ext cx="4720167" cy="4191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DELO ATUAL DE REFERÊNCIA DE NÍVEL DO IBGE FONTE: IBGE (1988) NOTA: em...  | Download Scientific Diagra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247" y="1333497"/>
            <a:ext cx="5830284" cy="4191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27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89" cy="6857994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TIPOS DE ALTITUDE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54688" y="2132580"/>
            <a:ext cx="1650996" cy="523220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1400" b="1" dirty="0" smtClean="0">
                <a:latin typeface="Montserrat" pitchFamily="2" charset="0"/>
              </a:rPr>
              <a:t>ALTITUDE ORTOMÉTRICA</a:t>
            </a:r>
            <a:endParaRPr lang="pt-BR" sz="1400" b="1" dirty="0">
              <a:latin typeface="Montserrat" pitchFamily="2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8781143" y="2922659"/>
            <a:ext cx="1226455" cy="307777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1400" b="1" dirty="0" smtClean="0">
                <a:latin typeface="Montserrat" pitchFamily="2" charset="0"/>
              </a:rPr>
              <a:t>COTA</a:t>
            </a:r>
            <a:endParaRPr lang="pt-BR" sz="1400" b="1" dirty="0">
              <a:latin typeface="Montserrat" pitchFamily="2" charset="0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9583055" y="3575846"/>
            <a:ext cx="2144487" cy="523220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1400" b="1" dirty="0" smtClean="0">
                <a:latin typeface="Montserrat" pitchFamily="2" charset="0"/>
              </a:rPr>
              <a:t>ALTITUDE GEOMÉTRICA</a:t>
            </a:r>
            <a:endParaRPr lang="pt-BR" sz="1400" b="1" dirty="0">
              <a:latin typeface="Montserrat" pitchFamily="2" charset="0"/>
            </a:endParaRPr>
          </a:p>
        </p:txBody>
      </p:sp>
      <p:sp>
        <p:nvSpPr>
          <p:cNvPr id="22" name="Espaço Reservado para Conteúdo 2"/>
          <p:cNvSpPr txBox="1">
            <a:spLocks/>
          </p:cNvSpPr>
          <p:nvPr/>
        </p:nvSpPr>
        <p:spPr>
          <a:xfrm>
            <a:off x="264558" y="1247986"/>
            <a:ext cx="1283520" cy="40844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Altitude</a:t>
            </a:r>
          </a:p>
        </p:txBody>
      </p:sp>
      <p:sp>
        <p:nvSpPr>
          <p:cNvPr id="25" name="Espaço Reservado para Conteúdo 2"/>
          <p:cNvSpPr txBox="1">
            <a:spLocks/>
          </p:cNvSpPr>
          <p:nvPr/>
        </p:nvSpPr>
        <p:spPr>
          <a:xfrm>
            <a:off x="2278746" y="567522"/>
            <a:ext cx="7728851" cy="40844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err="1"/>
              <a:t>Ortométrica</a:t>
            </a:r>
            <a:r>
              <a:rPr lang="pt-BR" dirty="0" smtClean="0"/>
              <a:t>: Referência </a:t>
            </a:r>
            <a:r>
              <a:rPr lang="pt-BR" dirty="0"/>
              <a:t>no </a:t>
            </a:r>
            <a:r>
              <a:rPr lang="pt-BR" dirty="0" err="1"/>
              <a:t>Geóide</a:t>
            </a:r>
            <a:r>
              <a:rPr lang="pt-BR" dirty="0"/>
              <a:t> – Nível Médio dos Mares</a:t>
            </a:r>
          </a:p>
          <a:p>
            <a:pPr algn="l"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26" name="Espaço Reservado para Conteúdo 2"/>
          <p:cNvSpPr txBox="1">
            <a:spLocks/>
          </p:cNvSpPr>
          <p:nvPr/>
        </p:nvSpPr>
        <p:spPr>
          <a:xfrm>
            <a:off x="2278747" y="1612928"/>
            <a:ext cx="4673596" cy="40844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/>
              <a:t>Geométrica: Referência no Elipsoide</a:t>
            </a:r>
          </a:p>
          <a:p>
            <a:pPr algn="l">
              <a:lnSpc>
                <a:spcPct val="100000"/>
              </a:lnSpc>
            </a:pPr>
            <a:endParaRPr lang="pt-BR" dirty="0" smtClean="0"/>
          </a:p>
        </p:txBody>
      </p:sp>
      <p:cxnSp>
        <p:nvCxnSpPr>
          <p:cNvPr id="27" name="Conector reto 26"/>
          <p:cNvCxnSpPr/>
          <p:nvPr/>
        </p:nvCxnSpPr>
        <p:spPr>
          <a:xfrm>
            <a:off x="1808846" y="771746"/>
            <a:ext cx="0" cy="10521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/>
          <p:nvPr/>
        </p:nvCxnSpPr>
        <p:spPr>
          <a:xfrm flipH="1">
            <a:off x="1808846" y="771746"/>
            <a:ext cx="469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/>
          <p:cNvCxnSpPr/>
          <p:nvPr/>
        </p:nvCxnSpPr>
        <p:spPr>
          <a:xfrm flipH="1">
            <a:off x="1808846" y="1823869"/>
            <a:ext cx="469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/>
          <p:nvPr/>
        </p:nvCxnSpPr>
        <p:spPr>
          <a:xfrm flipH="1">
            <a:off x="1544277" y="1452210"/>
            <a:ext cx="2645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spaço Reservado para Conteúdo 2"/>
          <p:cNvSpPr txBox="1">
            <a:spLocks/>
          </p:cNvSpPr>
          <p:nvPr/>
        </p:nvSpPr>
        <p:spPr>
          <a:xfrm>
            <a:off x="264558" y="3106152"/>
            <a:ext cx="3465613" cy="40844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Cota: Referência </a:t>
            </a:r>
            <a:r>
              <a:rPr lang="pt-BR" dirty="0"/>
              <a:t>arbitrada</a:t>
            </a:r>
          </a:p>
          <a:p>
            <a:pPr algn="l"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37" name="Espaço Reservado para Conteúdo 2"/>
          <p:cNvSpPr txBox="1">
            <a:spLocks/>
          </p:cNvSpPr>
          <p:nvPr/>
        </p:nvSpPr>
        <p:spPr>
          <a:xfrm>
            <a:off x="162954" y="5744750"/>
            <a:ext cx="11840360" cy="91766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Diferença de nível: A diferença de nível entre dois pontos pode ser obtida pela diferença entre altitudes ou cotas, desde que os dois pontos possuam o mesmo sistema de referência</a:t>
            </a:r>
            <a:endParaRPr lang="pt-BR" dirty="0"/>
          </a:p>
          <a:p>
            <a:pPr algn="l">
              <a:lnSpc>
                <a:spcPct val="100000"/>
              </a:lnSpc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367767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89" cy="6857993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CURVAS DE NÍVEL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196670" y="495577"/>
            <a:ext cx="4634410" cy="6194783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400" dirty="0"/>
              <a:t>As curvas de nível são linhas imaginárias que unem </a:t>
            </a:r>
            <a:r>
              <a:rPr lang="pt-BR" sz="2400" b="1" dirty="0"/>
              <a:t>pontos de igual altitude</a:t>
            </a:r>
            <a:r>
              <a:rPr lang="pt-BR" sz="2400" dirty="0"/>
              <a:t> em um terreno. Elas são fundamentais para a representação gráfica do relevo em mapas topográficos e </a:t>
            </a:r>
            <a:r>
              <a:rPr lang="pt-BR" sz="2400" b="1" dirty="0"/>
              <a:t>permitem visualizar a inclinação e a forma do terreno</a:t>
            </a:r>
            <a:r>
              <a:rPr lang="pt-BR" sz="2400" dirty="0" smtClean="0"/>
              <a:t>.</a:t>
            </a:r>
          </a:p>
          <a:p>
            <a:endParaRPr lang="pt-BR" sz="2400" dirty="0"/>
          </a:p>
          <a:p>
            <a:r>
              <a:rPr lang="pt-BR" sz="2400" dirty="0"/>
              <a:t>As curvas de nível são obtidas a partir de medidas </a:t>
            </a:r>
            <a:r>
              <a:rPr lang="pt-BR" sz="2400" dirty="0" err="1"/>
              <a:t>altimétricas</a:t>
            </a:r>
            <a:r>
              <a:rPr lang="pt-BR" sz="2400" dirty="0"/>
              <a:t> realizadas em </a:t>
            </a:r>
            <a:r>
              <a:rPr lang="pt-BR" sz="2400" dirty="0" smtClean="0"/>
              <a:t>campo. A </a:t>
            </a:r>
            <a:r>
              <a:rPr lang="pt-BR" sz="2400" dirty="0"/>
              <a:t>partir dessas medidas, é possível traçar as curvas de nível em um mapa, indicando as áreas mais elevadas e mais baixas do terreno.</a:t>
            </a:r>
          </a:p>
        </p:txBody>
      </p:sp>
    </p:spTree>
    <p:extLst>
      <p:ext uri="{BB962C8B-B14F-4D97-AF65-F5344CB8AC3E}">
        <p14:creationId xmlns:p14="http://schemas.microsoft.com/office/powerpoint/2010/main" val="226240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89" cy="6857993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CURVAS DE NÍVEL</a:t>
            </a:r>
          </a:p>
        </p:txBody>
      </p:sp>
      <p:sp>
        <p:nvSpPr>
          <p:cNvPr id="37" name="Espaço Reservado para Conteúdo 2"/>
          <p:cNvSpPr txBox="1">
            <a:spLocks/>
          </p:cNvSpPr>
          <p:nvPr/>
        </p:nvSpPr>
        <p:spPr>
          <a:xfrm>
            <a:off x="2601354" y="5744750"/>
            <a:ext cx="1650606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ELEVAÇÕES</a:t>
            </a:r>
            <a:endParaRPr lang="pt-BR" dirty="0"/>
          </a:p>
          <a:p>
            <a:pPr algn="l"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16" name="Espaço Reservado para Conteúdo 2"/>
          <p:cNvSpPr txBox="1">
            <a:spLocks/>
          </p:cNvSpPr>
          <p:nvPr/>
        </p:nvSpPr>
        <p:spPr>
          <a:xfrm>
            <a:off x="7396672" y="5721521"/>
            <a:ext cx="1777808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DEPRESSÕES</a:t>
            </a:r>
            <a:endParaRPr lang="pt-BR" dirty="0"/>
          </a:p>
          <a:p>
            <a:pPr algn="l">
              <a:lnSpc>
                <a:spcPct val="100000"/>
              </a:lnSpc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5008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87" cy="6857993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ACIDENTES TOPOGRÁFICOS</a:t>
            </a:r>
          </a:p>
        </p:txBody>
      </p:sp>
      <p:sp>
        <p:nvSpPr>
          <p:cNvPr id="6" name="Retângulo 5"/>
          <p:cNvSpPr/>
          <p:nvPr/>
        </p:nvSpPr>
        <p:spPr>
          <a:xfrm>
            <a:off x="3526976" y="2056380"/>
            <a:ext cx="1955072" cy="584775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1600" b="1" dirty="0" smtClean="0">
                <a:latin typeface="Montserrat" pitchFamily="2" charset="0"/>
              </a:rPr>
              <a:t>SUPERFÍCIE TOPOGRÁFICA</a:t>
            </a:r>
            <a:endParaRPr lang="pt-BR" sz="1600" b="1" dirty="0">
              <a:latin typeface="Montserrat" pitchFamily="2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82092" y="632119"/>
            <a:ext cx="1513112" cy="338554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1600" b="1" dirty="0" smtClean="0">
                <a:latin typeface="Montserrat" pitchFamily="2" charset="0"/>
              </a:rPr>
              <a:t>MONTANHA</a:t>
            </a:r>
            <a:endParaRPr lang="pt-BR" sz="1600" b="1" dirty="0">
              <a:latin typeface="Montserrat" pitchFamily="2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7666812" y="606771"/>
            <a:ext cx="1513112" cy="338554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1600" b="1" dirty="0" smtClean="0">
                <a:latin typeface="Montserrat" pitchFamily="2" charset="0"/>
              </a:rPr>
              <a:t>VALE</a:t>
            </a:r>
            <a:endParaRPr lang="pt-BR" sz="1600" b="1" dirty="0">
              <a:latin typeface="Montserrat" pitchFamily="2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382092" y="4468425"/>
            <a:ext cx="4900744" cy="1938992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400" dirty="0" smtClean="0"/>
              <a:t>Para </a:t>
            </a:r>
            <a:r>
              <a:rPr lang="pt-BR" sz="2400" dirty="0"/>
              <a:t>interpretar um mapa topográfico, é necessário conhecer as principais convenções cartográficas, como as curvas de nível, os símbolos convencionais e as escalas</a:t>
            </a:r>
            <a:r>
              <a:rPr lang="pt-BR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118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87" cy="6857993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EXERCÍCIO COM CURVAS DE NÍVEL</a:t>
            </a:r>
          </a:p>
        </p:txBody>
      </p:sp>
      <p:sp>
        <p:nvSpPr>
          <p:cNvPr id="37" name="Espaço Reservado para Conteúdo 2"/>
          <p:cNvSpPr txBox="1">
            <a:spLocks/>
          </p:cNvSpPr>
          <p:nvPr/>
        </p:nvSpPr>
        <p:spPr>
          <a:xfrm>
            <a:off x="777837" y="6194691"/>
            <a:ext cx="3601326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Representação em planta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16" name="Espaço Reservado para Conteúdo 2"/>
          <p:cNvSpPr txBox="1">
            <a:spLocks/>
          </p:cNvSpPr>
          <p:nvPr/>
        </p:nvSpPr>
        <p:spPr>
          <a:xfrm>
            <a:off x="9286432" y="6194691"/>
            <a:ext cx="1777808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Perfis</a:t>
            </a:r>
            <a:endParaRPr lang="pt-BR" dirty="0"/>
          </a:p>
          <a:p>
            <a:pPr algn="l"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3330834" y="895525"/>
            <a:ext cx="471843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1.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u="sng" dirty="0" smtClean="0"/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3330834" y="2007680"/>
            <a:ext cx="471843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2.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9" name="Espaço Reservado para Conteúdo 2"/>
          <p:cNvSpPr txBox="1">
            <a:spLocks/>
          </p:cNvSpPr>
          <p:nvPr/>
        </p:nvSpPr>
        <p:spPr>
          <a:xfrm>
            <a:off x="3330834" y="2954191"/>
            <a:ext cx="471843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3.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10" name="Espaço Reservado para Conteúdo 2"/>
          <p:cNvSpPr txBox="1">
            <a:spLocks/>
          </p:cNvSpPr>
          <p:nvPr/>
        </p:nvSpPr>
        <p:spPr>
          <a:xfrm>
            <a:off x="3330834" y="3900702"/>
            <a:ext cx="471843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4.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3330834" y="4732179"/>
            <a:ext cx="471843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5.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12" name="Espaço Reservado para Conteúdo 2"/>
          <p:cNvSpPr txBox="1">
            <a:spLocks/>
          </p:cNvSpPr>
          <p:nvPr/>
        </p:nvSpPr>
        <p:spPr>
          <a:xfrm>
            <a:off x="3330834" y="5563656"/>
            <a:ext cx="471843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6.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13" name="Espaço Reservado para Conteúdo 2"/>
          <p:cNvSpPr txBox="1">
            <a:spLocks/>
          </p:cNvSpPr>
          <p:nvPr/>
        </p:nvSpPr>
        <p:spPr>
          <a:xfrm>
            <a:off x="8625840" y="895525"/>
            <a:ext cx="622789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(a)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u="sng" dirty="0" smtClean="0"/>
          </a:p>
        </p:txBody>
      </p:sp>
      <p:sp>
        <p:nvSpPr>
          <p:cNvPr id="14" name="Espaço Reservado para Conteúdo 2"/>
          <p:cNvSpPr txBox="1">
            <a:spLocks/>
          </p:cNvSpPr>
          <p:nvPr/>
        </p:nvSpPr>
        <p:spPr>
          <a:xfrm>
            <a:off x="8625839" y="2127869"/>
            <a:ext cx="622789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(b)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u="sng" dirty="0" smtClean="0"/>
          </a:p>
        </p:txBody>
      </p:sp>
      <p:sp>
        <p:nvSpPr>
          <p:cNvPr id="15" name="Espaço Reservado para Conteúdo 2"/>
          <p:cNvSpPr txBox="1">
            <a:spLocks/>
          </p:cNvSpPr>
          <p:nvPr/>
        </p:nvSpPr>
        <p:spPr>
          <a:xfrm>
            <a:off x="8625835" y="3123628"/>
            <a:ext cx="622789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(c)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u="sng" dirty="0" smtClean="0"/>
          </a:p>
        </p:txBody>
      </p:sp>
      <p:sp>
        <p:nvSpPr>
          <p:cNvPr id="17" name="Espaço Reservado para Conteúdo 2"/>
          <p:cNvSpPr txBox="1">
            <a:spLocks/>
          </p:cNvSpPr>
          <p:nvPr/>
        </p:nvSpPr>
        <p:spPr>
          <a:xfrm>
            <a:off x="8625837" y="4065757"/>
            <a:ext cx="622789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(d)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u="sng" dirty="0" smtClean="0"/>
          </a:p>
        </p:txBody>
      </p:sp>
      <p:sp>
        <p:nvSpPr>
          <p:cNvPr id="18" name="Espaço Reservado para Conteúdo 2"/>
          <p:cNvSpPr txBox="1">
            <a:spLocks/>
          </p:cNvSpPr>
          <p:nvPr/>
        </p:nvSpPr>
        <p:spPr>
          <a:xfrm>
            <a:off x="8625834" y="5677927"/>
            <a:ext cx="622789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(f)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u="sng" dirty="0" smtClean="0"/>
          </a:p>
        </p:txBody>
      </p: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8625834" y="4824931"/>
            <a:ext cx="622789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(e)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u="sng" dirty="0" smtClean="0"/>
          </a:p>
        </p:txBody>
      </p:sp>
    </p:spTree>
    <p:extLst>
      <p:ext uri="{BB962C8B-B14F-4D97-AF65-F5344CB8AC3E}">
        <p14:creationId xmlns:p14="http://schemas.microsoft.com/office/powerpoint/2010/main" val="427429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85" cy="6857992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TIPOS DE CURVAS </a:t>
            </a: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DE NÍVEL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8473440" y="1413059"/>
            <a:ext cx="3540360" cy="4031873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3200" b="1" dirty="0" smtClean="0"/>
              <a:t>Curva </a:t>
            </a:r>
            <a:r>
              <a:rPr lang="pt-BR" sz="3200" b="1" dirty="0"/>
              <a:t>Mestra: </a:t>
            </a:r>
            <a:r>
              <a:rPr lang="pt-BR" sz="3200" dirty="0"/>
              <a:t>curva de nível mais grossa e numerada que ocorre de 5 em 5 curvas. A quinta curva é sempre uma curva mestra nas cartas topográficas</a:t>
            </a:r>
            <a:endParaRPr lang="pt-BR" sz="3200" dirty="0" smtClean="0"/>
          </a:p>
        </p:txBody>
      </p:sp>
      <p:cxnSp>
        <p:nvCxnSpPr>
          <p:cNvPr id="6" name="Conector de seta reta 5"/>
          <p:cNvCxnSpPr/>
          <p:nvPr/>
        </p:nvCxnSpPr>
        <p:spPr>
          <a:xfrm flipH="1">
            <a:off x="7559040" y="1524000"/>
            <a:ext cx="670560" cy="3962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31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85" cy="6857992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TIPOS DE CURVAS </a:t>
            </a: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DE NÍVEL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8473440" y="1413059"/>
            <a:ext cx="3540360" cy="353943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3200" b="1" dirty="0" smtClean="0"/>
              <a:t>Curvas auxiliares </a:t>
            </a:r>
            <a:r>
              <a:rPr lang="pt-BR" sz="3200" dirty="0" smtClean="0"/>
              <a:t>ou </a:t>
            </a:r>
            <a:r>
              <a:rPr lang="pt-BR" sz="3200" b="1" dirty="0" err="1"/>
              <a:t>Isolinhas</a:t>
            </a:r>
            <a:r>
              <a:rPr lang="pt-BR" sz="3200" b="1" dirty="0"/>
              <a:t> de altitude: </a:t>
            </a:r>
            <a:r>
              <a:rPr lang="pt-BR" sz="3200" dirty="0"/>
              <a:t>linhas que representam todos os pontos do terreno de mesma altitude. </a:t>
            </a:r>
            <a:endParaRPr lang="pt-BR" sz="3200" dirty="0" smtClean="0"/>
          </a:p>
        </p:txBody>
      </p:sp>
      <p:cxnSp>
        <p:nvCxnSpPr>
          <p:cNvPr id="5" name="Conector de seta reta 4"/>
          <p:cNvCxnSpPr/>
          <p:nvPr/>
        </p:nvCxnSpPr>
        <p:spPr>
          <a:xfrm flipH="1">
            <a:off x="7620000" y="743359"/>
            <a:ext cx="670560" cy="3962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/>
          <p:nvPr/>
        </p:nvCxnSpPr>
        <p:spPr>
          <a:xfrm flipH="1">
            <a:off x="6949440" y="3465826"/>
            <a:ext cx="670560" cy="3962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flipH="1">
            <a:off x="7284720" y="3937405"/>
            <a:ext cx="670560" cy="3962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47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87" cy="6857992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CONSTRUÇÃO DE CURVAS </a:t>
            </a: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DE NÍVEL</a:t>
            </a:r>
          </a:p>
        </p:txBody>
      </p:sp>
      <p:sp>
        <p:nvSpPr>
          <p:cNvPr id="37" name="Espaço Reservado para Conteúdo 2"/>
          <p:cNvSpPr txBox="1">
            <a:spLocks/>
          </p:cNvSpPr>
          <p:nvPr/>
        </p:nvSpPr>
        <p:spPr>
          <a:xfrm>
            <a:off x="5520118" y="5362837"/>
            <a:ext cx="2346363" cy="946884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Representação em planta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16" name="Espaço Reservado para Conteúdo 2"/>
          <p:cNvSpPr txBox="1">
            <a:spLocks/>
          </p:cNvSpPr>
          <p:nvPr/>
        </p:nvSpPr>
        <p:spPr>
          <a:xfrm>
            <a:off x="5804396" y="1247676"/>
            <a:ext cx="1777808" cy="916404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Perfil do terreno</a:t>
            </a:r>
            <a:endParaRPr lang="pt-BR" dirty="0"/>
          </a:p>
          <a:p>
            <a:pPr algn="l"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20" name="Espaço Reservado para Conteúdo 2"/>
          <p:cNvSpPr txBox="1">
            <a:spLocks/>
          </p:cNvSpPr>
          <p:nvPr/>
        </p:nvSpPr>
        <p:spPr>
          <a:xfrm>
            <a:off x="5032438" y="4341396"/>
            <a:ext cx="2346363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smtClean="0"/>
              <a:t>Linha de corte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21" name="Retângulo 20"/>
          <p:cNvSpPr/>
          <p:nvPr/>
        </p:nvSpPr>
        <p:spPr>
          <a:xfrm>
            <a:off x="8351520" y="495577"/>
            <a:ext cx="3708000" cy="5016758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3200" dirty="0" smtClean="0"/>
              <a:t>A construção de um perfil de terreno segue as premissas da geometria descritiva. Os pontos encontrados para servirão para traçar uma linha que dará a forma atual do </a:t>
            </a:r>
            <a:r>
              <a:rPr lang="pt-BR" sz="3200" dirty="0" smtClean="0"/>
              <a:t>perfil do terreno.</a:t>
            </a:r>
          </a:p>
        </p:txBody>
      </p:sp>
    </p:spTree>
    <p:extLst>
      <p:ext uri="{BB962C8B-B14F-4D97-AF65-F5344CB8AC3E}">
        <p14:creationId xmlns:p14="http://schemas.microsoft.com/office/powerpoint/2010/main" val="4088649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87" cy="6857993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CURVAS DE NÍVEL</a:t>
            </a:r>
          </a:p>
        </p:txBody>
      </p:sp>
      <p:sp>
        <p:nvSpPr>
          <p:cNvPr id="6" name="Retângulo 5"/>
          <p:cNvSpPr/>
          <p:nvPr/>
        </p:nvSpPr>
        <p:spPr>
          <a:xfrm>
            <a:off x="196670" y="495577"/>
            <a:ext cx="11721010" cy="58477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3200" dirty="0" smtClean="0"/>
              <a:t>Método de interpolação e traçados de curvas de nível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53412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87" cy="6857992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CURVAS DE NÍVEL</a:t>
            </a:r>
          </a:p>
        </p:txBody>
      </p:sp>
      <p:sp>
        <p:nvSpPr>
          <p:cNvPr id="37" name="Espaço Reservado para Conteúdo 2"/>
          <p:cNvSpPr txBox="1">
            <a:spLocks/>
          </p:cNvSpPr>
          <p:nvPr/>
        </p:nvSpPr>
        <p:spPr>
          <a:xfrm>
            <a:off x="2601354" y="5744750"/>
            <a:ext cx="1650606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ELEVAÇÕES</a:t>
            </a:r>
            <a:endParaRPr lang="pt-BR" dirty="0"/>
          </a:p>
          <a:p>
            <a:pPr algn="l"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16" name="Espaço Reservado para Conteúdo 2"/>
          <p:cNvSpPr txBox="1">
            <a:spLocks/>
          </p:cNvSpPr>
          <p:nvPr/>
        </p:nvSpPr>
        <p:spPr>
          <a:xfrm>
            <a:off x="7396672" y="5721521"/>
            <a:ext cx="1777808" cy="473170"/>
          </a:xfrm>
          <a:prstGeom prst="rect">
            <a:avLst/>
          </a:prstGeom>
          <a:noFill/>
          <a:ln w="571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DEPRESSÕES</a:t>
            </a:r>
            <a:endParaRPr lang="pt-BR" dirty="0"/>
          </a:p>
          <a:p>
            <a:pPr algn="l">
              <a:lnSpc>
                <a:spcPct val="100000"/>
              </a:lnSpc>
            </a:pPr>
            <a:endParaRPr lang="pt-BR" dirty="0" smtClean="0"/>
          </a:p>
        </p:txBody>
      </p:sp>
      <p:sp>
        <p:nvSpPr>
          <p:cNvPr id="6" name="Retângulo 5"/>
          <p:cNvSpPr/>
          <p:nvPr/>
        </p:nvSpPr>
        <p:spPr>
          <a:xfrm>
            <a:off x="135710" y="480337"/>
            <a:ext cx="11873410" cy="156966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3200" dirty="0" smtClean="0"/>
              <a:t>O </a:t>
            </a:r>
            <a:r>
              <a:rPr lang="pt-BR" sz="3200" dirty="0"/>
              <a:t>que se faz na prática é, a partir de dois pontos com cotas conhecidas, interpolar a posição referente a um ponto com cota igual a cota da curva de nível que será representada, </a:t>
            </a:r>
          </a:p>
        </p:txBody>
      </p:sp>
    </p:spTree>
    <p:extLst>
      <p:ext uri="{BB962C8B-B14F-4D97-AF65-F5344CB8AC3E}">
        <p14:creationId xmlns:p14="http://schemas.microsoft.com/office/powerpoint/2010/main" val="291211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0"/>
            <a:ext cx="12191989" cy="6857994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EXERCÍCIO COM CURVAS DE NÍVEL</a:t>
            </a:r>
          </a:p>
        </p:txBody>
      </p:sp>
    </p:spTree>
    <p:extLst>
      <p:ext uri="{BB962C8B-B14F-4D97-AF65-F5344CB8AC3E}">
        <p14:creationId xmlns:p14="http://schemas.microsoft.com/office/powerpoint/2010/main" val="62012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0"/>
            <a:ext cx="12191989" cy="6857994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-3" y="13716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EXERCÍCIO</a:t>
            </a:r>
            <a:r>
              <a:rPr lang="pt-BR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COM CURVAS DE NÍVEL</a:t>
            </a:r>
            <a:endParaRPr lang="pt-BR" b="1" dirty="0" smtClean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8488" y="6364441"/>
            <a:ext cx="1208351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rgbClr val="FF0000"/>
                </a:solidFill>
                <a:latin typeface="Montserrat" pitchFamily="2" charset="0"/>
              </a:rPr>
              <a:t>Levantamento topográfico.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60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1991" cy="6857995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ÂNGULOS VERTICAIS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13179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Ângulos verticais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451300" y="1630073"/>
            <a:ext cx="2256503" cy="40844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Ângulos horizontais</a:t>
            </a:r>
          </a:p>
        </p:txBody>
      </p:sp>
      <p:cxnSp>
        <p:nvCxnSpPr>
          <p:cNvPr id="7" name="Conector reto 6"/>
          <p:cNvCxnSpPr>
            <a:stCxn id="6" idx="3"/>
          </p:cNvCxnSpPr>
          <p:nvPr/>
        </p:nvCxnSpPr>
        <p:spPr>
          <a:xfrm>
            <a:off x="2707803" y="1834297"/>
            <a:ext cx="9143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Conteúdo 2"/>
          <p:cNvSpPr txBox="1">
            <a:spLocks/>
          </p:cNvSpPr>
          <p:nvPr/>
        </p:nvSpPr>
        <p:spPr>
          <a:xfrm>
            <a:off x="3622203" y="1630073"/>
            <a:ext cx="1268362" cy="408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Deflexões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3337066" y="914688"/>
            <a:ext cx="0" cy="16303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3622200" y="728186"/>
            <a:ext cx="1818971" cy="408448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Ângulos diretos</a:t>
            </a:r>
          </a:p>
        </p:txBody>
      </p:sp>
      <p:cxnSp>
        <p:nvCxnSpPr>
          <p:cNvPr id="12" name="Conector reto 11"/>
          <p:cNvCxnSpPr/>
          <p:nvPr/>
        </p:nvCxnSpPr>
        <p:spPr>
          <a:xfrm>
            <a:off x="3327231" y="924520"/>
            <a:ext cx="2851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3327227" y="2545080"/>
            <a:ext cx="2851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ço Reservado para Conteúdo 2"/>
          <p:cNvSpPr txBox="1">
            <a:spLocks/>
          </p:cNvSpPr>
          <p:nvPr/>
        </p:nvSpPr>
        <p:spPr>
          <a:xfrm>
            <a:off x="3646948" y="2340856"/>
            <a:ext cx="1666404" cy="4084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De orientação</a:t>
            </a:r>
          </a:p>
        </p:txBody>
      </p:sp>
      <p:sp>
        <p:nvSpPr>
          <p:cNvPr id="15" name="Espaço Reservado para Conteúdo 2"/>
          <p:cNvSpPr txBox="1">
            <a:spLocks/>
          </p:cNvSpPr>
          <p:nvPr/>
        </p:nvSpPr>
        <p:spPr>
          <a:xfrm>
            <a:off x="451300" y="4387372"/>
            <a:ext cx="2256503" cy="40844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Ângulos verticais</a:t>
            </a:r>
          </a:p>
        </p:txBody>
      </p:sp>
      <p:cxnSp>
        <p:nvCxnSpPr>
          <p:cNvPr id="16" name="Conector reto 15"/>
          <p:cNvCxnSpPr>
            <a:stCxn id="15" idx="3"/>
          </p:cNvCxnSpPr>
          <p:nvPr/>
        </p:nvCxnSpPr>
        <p:spPr>
          <a:xfrm>
            <a:off x="2707803" y="4591596"/>
            <a:ext cx="9143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Conteúdo 2"/>
          <p:cNvSpPr txBox="1">
            <a:spLocks/>
          </p:cNvSpPr>
          <p:nvPr/>
        </p:nvSpPr>
        <p:spPr>
          <a:xfrm>
            <a:off x="3622202" y="4387372"/>
            <a:ext cx="1691149" cy="408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De inclinação</a:t>
            </a:r>
          </a:p>
        </p:txBody>
      </p:sp>
      <p:cxnSp>
        <p:nvCxnSpPr>
          <p:cNvPr id="18" name="Conector reto 17"/>
          <p:cNvCxnSpPr/>
          <p:nvPr/>
        </p:nvCxnSpPr>
        <p:spPr>
          <a:xfrm>
            <a:off x="3337066" y="3671987"/>
            <a:ext cx="0" cy="16303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3622201" y="5122871"/>
            <a:ext cx="995520" cy="408448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err="1" smtClean="0"/>
              <a:t>Nadiral</a:t>
            </a:r>
            <a:endParaRPr lang="pt-BR" sz="2000" dirty="0" smtClean="0"/>
          </a:p>
        </p:txBody>
      </p:sp>
      <p:cxnSp>
        <p:nvCxnSpPr>
          <p:cNvPr id="20" name="Conector reto 19"/>
          <p:cNvCxnSpPr/>
          <p:nvPr/>
        </p:nvCxnSpPr>
        <p:spPr>
          <a:xfrm>
            <a:off x="3327231" y="3681819"/>
            <a:ext cx="2851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3327227" y="5302379"/>
            <a:ext cx="2851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ço Reservado para Conteúdo 2"/>
          <p:cNvSpPr txBox="1">
            <a:spLocks/>
          </p:cNvSpPr>
          <p:nvPr/>
        </p:nvSpPr>
        <p:spPr>
          <a:xfrm>
            <a:off x="3646948" y="3485485"/>
            <a:ext cx="970772" cy="4084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2000" dirty="0" smtClean="0"/>
              <a:t>Zenital</a:t>
            </a:r>
          </a:p>
        </p:txBody>
      </p:sp>
    </p:spTree>
    <p:extLst>
      <p:ext uri="{BB962C8B-B14F-4D97-AF65-F5344CB8AC3E}">
        <p14:creationId xmlns:p14="http://schemas.microsoft.com/office/powerpoint/2010/main" val="32039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1991" cy="6857994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CONVERSÃO DE ÂNGULOS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13179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Ângulos verticais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365759" y="601015"/>
            <a:ext cx="11460480" cy="563231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400" b="1" dirty="0" smtClean="0">
                <a:latin typeface="Montserrat" pitchFamily="2" charset="0"/>
              </a:rPr>
              <a:t>Exercício</a:t>
            </a:r>
            <a:endParaRPr lang="pt-BR" sz="2400" dirty="0" smtClean="0"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2800" dirty="0" smtClean="0"/>
              <a:t>Converta os </a:t>
            </a:r>
            <a:r>
              <a:rPr lang="pt-BR" sz="2800" b="1" dirty="0" smtClean="0"/>
              <a:t>Ângulos Verticais </a:t>
            </a:r>
            <a:r>
              <a:rPr lang="pt-BR" sz="2800" dirty="0" smtClean="0"/>
              <a:t>a seguir em </a:t>
            </a:r>
            <a:r>
              <a:rPr lang="pt-BR" sz="2800" b="1" dirty="0" smtClean="0"/>
              <a:t>Ângulos Zenitais</a:t>
            </a:r>
            <a:r>
              <a:rPr lang="pt-BR" sz="2800" dirty="0" smtClean="0"/>
              <a:t>. Observe que existem ângulos com sinal negativo indicando que o ponto visado está abaixo da linha do horizonte.</a:t>
            </a:r>
          </a:p>
          <a:p>
            <a:pPr algn="just">
              <a:lnSpc>
                <a:spcPct val="150000"/>
              </a:lnSpc>
            </a:pPr>
            <a:endParaRPr lang="pt-BR" sz="2800" dirty="0"/>
          </a:p>
          <a:p>
            <a:pPr marL="457200" indent="-457200" algn="just">
              <a:lnSpc>
                <a:spcPct val="150000"/>
              </a:lnSpc>
              <a:buAutoNum type="alphaLcParenR"/>
            </a:pPr>
            <a:r>
              <a:rPr lang="pt-BR" sz="2800" dirty="0">
                <a:latin typeface="Montserrat" pitchFamily="2" charset="0"/>
              </a:rPr>
              <a:t>59º 09</a:t>
            </a:r>
            <a:r>
              <a:rPr lang="pt-BR" sz="2800" dirty="0" smtClean="0">
                <a:latin typeface="Montserrat" pitchFamily="2" charset="0"/>
              </a:rPr>
              <a:t>’ 45”</a:t>
            </a:r>
          </a:p>
          <a:p>
            <a:pPr marL="457200" indent="-457200" algn="just">
              <a:lnSpc>
                <a:spcPct val="150000"/>
              </a:lnSpc>
              <a:buAutoNum type="alphaLcParenR"/>
            </a:pPr>
            <a:r>
              <a:rPr lang="pt-BR" sz="2800" dirty="0" smtClean="0">
                <a:latin typeface="Montserrat" pitchFamily="2" charset="0"/>
              </a:rPr>
              <a:t>-39º 35’ 26”</a:t>
            </a:r>
          </a:p>
          <a:p>
            <a:pPr marL="457200" indent="-457200" algn="just">
              <a:lnSpc>
                <a:spcPct val="150000"/>
              </a:lnSpc>
              <a:buAutoNum type="alphaLcParenR"/>
            </a:pPr>
            <a:r>
              <a:rPr lang="pt-BR" sz="2800" dirty="0" smtClean="0">
                <a:latin typeface="Montserrat" pitchFamily="2" charset="0"/>
              </a:rPr>
              <a:t>46º 48’ 33”</a:t>
            </a:r>
          </a:p>
          <a:p>
            <a:pPr marL="457200" indent="-457200" algn="just">
              <a:lnSpc>
                <a:spcPct val="150000"/>
              </a:lnSpc>
              <a:buAutoNum type="alphaLcParenR"/>
            </a:pPr>
            <a:r>
              <a:rPr lang="pt-BR" sz="2800" dirty="0" smtClean="0">
                <a:latin typeface="Montserrat" pitchFamily="2" charset="0"/>
              </a:rPr>
              <a:t>-62º 50’ 15</a:t>
            </a:r>
            <a:r>
              <a:rPr lang="pt-BR" sz="2800" dirty="0" smtClean="0">
                <a:latin typeface="Montserrat" pitchFamily="2" charset="0"/>
              </a:rPr>
              <a:t>”</a:t>
            </a:r>
            <a:endParaRPr lang="pt-BR" sz="2800" dirty="0" smtClean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08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1991" cy="6857994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3" y="0"/>
            <a:ext cx="12191997" cy="4699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 smtClean="0">
                <a:solidFill>
                  <a:schemeClr val="bg1"/>
                </a:solidFill>
                <a:latin typeface="Montserrat" pitchFamily="2" charset="0"/>
              </a:rPr>
              <a:t>CONVERSÃO DE ÂNGULOS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8488" y="6364441"/>
            <a:ext cx="2131792" cy="4935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1600" b="1" dirty="0" smtClean="0">
                <a:solidFill>
                  <a:schemeClr val="bg1"/>
                </a:solidFill>
                <a:latin typeface="Montserrat" pitchFamily="2" charset="0"/>
              </a:rPr>
              <a:t>Ângulos verticais</a:t>
            </a:r>
            <a:endParaRPr lang="pt-BR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496203" y="607060"/>
            <a:ext cx="11199592" cy="5262979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800" b="1" dirty="0" smtClean="0">
                <a:latin typeface="Montserrat" pitchFamily="2" charset="0"/>
              </a:rPr>
              <a:t>Para próxima aula:</a:t>
            </a:r>
          </a:p>
          <a:p>
            <a:endParaRPr lang="pt-BR" sz="2800" b="1" dirty="0">
              <a:latin typeface="Montserrat" pitchFamily="2" charset="0"/>
            </a:endParaRPr>
          </a:p>
          <a:p>
            <a:endParaRPr lang="pt-BR" sz="2800" b="1" dirty="0" smtClean="0">
              <a:latin typeface="Montserrat" pitchFamily="2" charset="0"/>
            </a:endParaRPr>
          </a:p>
          <a:p>
            <a:r>
              <a:rPr lang="pt-BR" sz="2800" dirty="0" smtClean="0">
                <a:latin typeface="Montserrat" pitchFamily="2" charset="0"/>
              </a:rPr>
              <a:t>Trazer papelão onda E (4mm) ou outro material de mesma espessura;</a:t>
            </a:r>
          </a:p>
          <a:p>
            <a:r>
              <a:rPr lang="pt-BR" sz="2800" dirty="0" smtClean="0">
                <a:latin typeface="Montserrat" pitchFamily="2" charset="0"/>
              </a:rPr>
              <a:t>cola para papel (branca ou de isopor);</a:t>
            </a:r>
          </a:p>
          <a:p>
            <a:r>
              <a:rPr lang="pt-BR" sz="2800" dirty="0" smtClean="0">
                <a:latin typeface="Montserrat" pitchFamily="2" charset="0"/>
              </a:rPr>
              <a:t>Estilete;</a:t>
            </a:r>
          </a:p>
          <a:p>
            <a:r>
              <a:rPr lang="pt-BR" sz="2800" dirty="0" smtClean="0">
                <a:latin typeface="Montserrat" pitchFamily="2" charset="0"/>
              </a:rPr>
              <a:t>Régua para corte;</a:t>
            </a:r>
          </a:p>
          <a:p>
            <a:r>
              <a:rPr lang="pt-BR" sz="3200" dirty="0" smtClean="0">
                <a:latin typeface="Montserrat" pitchFamily="2" charset="0"/>
              </a:rPr>
              <a:t>Lapiseira;</a:t>
            </a:r>
            <a:endParaRPr lang="pt-BR" sz="3200" dirty="0">
              <a:latin typeface="Montserrat" pitchFamily="2" charset="0"/>
            </a:endParaRPr>
          </a:p>
          <a:p>
            <a:r>
              <a:rPr lang="pt-BR" sz="3200" dirty="0" err="1" smtClean="0">
                <a:latin typeface="Montserrat" pitchFamily="2" charset="0"/>
              </a:rPr>
              <a:t>Escalímetro</a:t>
            </a:r>
            <a:r>
              <a:rPr lang="pt-BR" sz="3200" dirty="0" smtClean="0">
                <a:latin typeface="Montserrat" pitchFamily="2" charset="0"/>
              </a:rPr>
              <a:t>;</a:t>
            </a:r>
            <a:endParaRPr lang="pt-BR" sz="3200" dirty="0" smtClean="0"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88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17739</TotalTime>
  <Words>743</Words>
  <Application>Microsoft Office PowerPoint</Application>
  <PresentationFormat>Widescreen</PresentationFormat>
  <Paragraphs>115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Montserrat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Britto</dc:creator>
  <cp:lastModifiedBy>Marcos Britto</cp:lastModifiedBy>
  <cp:revision>313</cp:revision>
  <cp:lastPrinted>2023-03-07T20:52:12Z</cp:lastPrinted>
  <dcterms:created xsi:type="dcterms:W3CDTF">2022-12-27T23:36:38Z</dcterms:created>
  <dcterms:modified xsi:type="dcterms:W3CDTF">2024-03-25T16:29:36Z</dcterms:modified>
</cp:coreProperties>
</file>