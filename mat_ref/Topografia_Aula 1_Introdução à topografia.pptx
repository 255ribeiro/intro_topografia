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427" r:id="rId3"/>
    <p:sldId id="433" r:id="rId4"/>
    <p:sldId id="428" r:id="rId5"/>
    <p:sldId id="429" r:id="rId6"/>
    <p:sldId id="430" r:id="rId7"/>
    <p:sldId id="431" r:id="rId8"/>
    <p:sldId id="432" r:id="rId9"/>
    <p:sldId id="399" r:id="rId10"/>
    <p:sldId id="413" r:id="rId11"/>
    <p:sldId id="424" r:id="rId12"/>
    <p:sldId id="425" r:id="rId13"/>
    <p:sldId id="426" r:id="rId14"/>
    <p:sldId id="415" r:id="rId15"/>
    <p:sldId id="414" r:id="rId16"/>
    <p:sldId id="416" r:id="rId17"/>
    <p:sldId id="417" r:id="rId18"/>
    <p:sldId id="418" r:id="rId19"/>
    <p:sldId id="419" r:id="rId20"/>
    <p:sldId id="420" r:id="rId21"/>
    <p:sldId id="421" r:id="rId22"/>
    <p:sldId id="422" r:id="rId23"/>
    <p:sldId id="423" r:id="rId24"/>
    <p:sldId id="434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3662" autoAdjust="0"/>
  </p:normalViewPr>
  <p:slideViewPr>
    <p:cSldViewPr snapToGrid="0">
      <p:cViewPr varScale="1">
        <p:scale>
          <a:sx n="62" d="100"/>
          <a:sy n="62" d="100"/>
        </p:scale>
        <p:origin x="10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CF727-4844-4058-80B1-55D09D60E6DD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61AC1-0056-4F24-BE59-8956684AA8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30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48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750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850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1708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046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832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739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857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273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439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333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892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363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8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589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435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616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207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8475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7604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740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6665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4997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5975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0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63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75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76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50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161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49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37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91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323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26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8077B-BCF5-431F-BFAC-F06CB74BF117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75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30328" y="2274838"/>
            <a:ext cx="8967952" cy="126084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3200" b="1" dirty="0" smtClean="0">
                <a:latin typeface="Montserrat" pitchFamily="2" charset="0"/>
              </a:rPr>
              <a:t>TOPOGRAFIA E O PLANO TOPOGRÁFICO</a:t>
            </a:r>
          </a:p>
          <a:p>
            <a:pPr algn="l">
              <a:lnSpc>
                <a:spcPct val="100000"/>
              </a:lnSpc>
            </a:pPr>
            <a:r>
              <a:rPr lang="pt-BR" sz="3200" dirty="0" smtClean="0">
                <a:solidFill>
                  <a:srgbClr val="FF0000"/>
                </a:solidFill>
                <a:latin typeface="Montserrat" pitchFamily="2" charset="0"/>
              </a:rPr>
              <a:t>Introdução à topografia em Arquitetura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0" y="6339840"/>
            <a:ext cx="12192000" cy="5181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PROFESSOR MARCOS BRITTO</a:t>
            </a:r>
          </a:p>
        </p:txBody>
      </p:sp>
    </p:spTree>
    <p:extLst>
      <p:ext uri="{BB962C8B-B14F-4D97-AF65-F5344CB8AC3E}">
        <p14:creationId xmlns:p14="http://schemas.microsoft.com/office/powerpoint/2010/main" val="386772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SOBRE A DISCIPLINA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ESTRUTURA DA DISCIPLINA.</a:t>
            </a: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 Professor Marcos </a:t>
            </a:r>
            <a:r>
              <a:rPr lang="pt-BR" sz="1600" b="1" dirty="0">
                <a:solidFill>
                  <a:schemeClr val="bg1"/>
                </a:solidFill>
                <a:latin typeface="Montserrat" pitchFamily="2" charset="0"/>
              </a:rPr>
              <a:t>Britto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925201" y="612843"/>
            <a:ext cx="10341597" cy="563231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EMENTUÁRIO</a:t>
            </a:r>
            <a:endParaRPr lang="pt-BR" dirty="0">
              <a:latin typeface="Montserrat" pitchFamily="2" charset="0"/>
            </a:endParaRPr>
          </a:p>
          <a:p>
            <a:pPr marL="0" lvl="1" algn="ctr"/>
            <a:r>
              <a:rPr lang="pt-BR" b="1" dirty="0" smtClean="0">
                <a:latin typeface="Montserrat" pitchFamily="2" charset="0"/>
              </a:rPr>
              <a:t>Introdução</a:t>
            </a:r>
            <a:r>
              <a:rPr lang="pt-BR" b="1" dirty="0">
                <a:latin typeface="Montserrat" pitchFamily="2" charset="0"/>
              </a:rPr>
              <a:t>, conceito e </a:t>
            </a:r>
            <a:r>
              <a:rPr lang="pt-BR" b="1" dirty="0" smtClean="0">
                <a:latin typeface="Montserrat" pitchFamily="2" charset="0"/>
              </a:rPr>
              <a:t>objetivos</a:t>
            </a:r>
          </a:p>
          <a:p>
            <a:pPr marL="0" lvl="1" algn="ctr"/>
            <a:endParaRPr lang="pt-BR" dirty="0" smtClean="0">
              <a:latin typeface="Montserra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Geodésia </a:t>
            </a:r>
            <a:r>
              <a:rPr lang="pt-BR" dirty="0"/>
              <a:t>x Topografia; </a:t>
            </a:r>
            <a:endParaRPr lang="pt-B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Conceitos</a:t>
            </a:r>
            <a:r>
              <a:rPr lang="pt-BR" dirty="0"/>
              <a:t>; </a:t>
            </a:r>
            <a:endParaRPr lang="pt-B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Importância</a:t>
            </a:r>
            <a:r>
              <a:rPr lang="pt-BR" dirty="0"/>
              <a:t>; </a:t>
            </a:r>
            <a:endParaRPr lang="pt-B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Divisão</a:t>
            </a:r>
            <a:r>
              <a:rPr lang="pt-BR" dirty="0"/>
              <a:t>: Planimétrica x </a:t>
            </a:r>
            <a:r>
              <a:rPr lang="pt-BR" dirty="0" err="1"/>
              <a:t>Altimétrica</a:t>
            </a:r>
            <a:r>
              <a:rPr lang="pt-BR" dirty="0"/>
              <a:t>; </a:t>
            </a:r>
            <a:endParaRPr lang="pt-B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Noções </a:t>
            </a:r>
            <a:r>
              <a:rPr lang="pt-BR" dirty="0"/>
              <a:t>fundamentais; </a:t>
            </a:r>
            <a:endParaRPr lang="pt-B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Instrumentos </a:t>
            </a:r>
            <a:r>
              <a:rPr lang="pt-BR" dirty="0"/>
              <a:t>de medição. </a:t>
            </a:r>
            <a:endParaRPr lang="pt-BR" dirty="0" smtClean="0">
              <a:latin typeface="Montserrat" pitchFamily="2" charset="0"/>
            </a:endParaRPr>
          </a:p>
          <a:p>
            <a:pPr algn="ctr"/>
            <a:r>
              <a:rPr lang="pt-BR" b="1" dirty="0" smtClean="0">
                <a:latin typeface="Montserrat" pitchFamily="2" charset="0"/>
              </a:rPr>
              <a:t>Medição de ângulos</a:t>
            </a:r>
          </a:p>
          <a:p>
            <a:pPr algn="ctr"/>
            <a:endParaRPr lang="pt-BR" b="1" dirty="0" smtClean="0">
              <a:latin typeface="Montserra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Medição de ângulos com trenas e balizas; </a:t>
            </a:r>
            <a:endParaRPr lang="pt-B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Ângulos </a:t>
            </a:r>
            <a:r>
              <a:rPr lang="pt-BR" dirty="0"/>
              <a:t>horizontais geométricos;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Ângulos </a:t>
            </a:r>
            <a:r>
              <a:rPr lang="pt-BR" dirty="0"/>
              <a:t>horizontais geográficos;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Instrumentos </a:t>
            </a:r>
            <a:r>
              <a:rPr lang="pt-BR" dirty="0"/>
              <a:t>de medir ângulos;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Ângulos </a:t>
            </a:r>
            <a:r>
              <a:rPr lang="pt-BR" dirty="0"/>
              <a:t>verticais.</a:t>
            </a:r>
            <a:endParaRPr lang="pt-BR" dirty="0" smtClean="0">
              <a:latin typeface="Montserrat" pitchFamily="2" charset="0"/>
            </a:endParaRPr>
          </a:p>
          <a:p>
            <a:pPr marL="0" lvl="1" algn="ctr"/>
            <a:r>
              <a:rPr lang="pt-BR" b="1" dirty="0" smtClean="0">
                <a:latin typeface="Montserrat" pitchFamily="2" charset="0"/>
              </a:rPr>
              <a:t>Medição </a:t>
            </a:r>
            <a:r>
              <a:rPr lang="pt-BR" b="1" dirty="0">
                <a:latin typeface="Montserrat" pitchFamily="2" charset="0"/>
              </a:rPr>
              <a:t>de </a:t>
            </a:r>
            <a:r>
              <a:rPr lang="pt-BR" b="1" dirty="0" smtClean="0">
                <a:latin typeface="Montserrat" pitchFamily="2" charset="0"/>
              </a:rPr>
              <a:t>distâncias</a:t>
            </a:r>
          </a:p>
          <a:p>
            <a:pPr marL="0" lvl="1" algn="ctr"/>
            <a:endParaRPr lang="pt-BR" b="1" dirty="0">
              <a:latin typeface="Montserra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Métodos </a:t>
            </a:r>
            <a:r>
              <a:rPr lang="pt-BR" dirty="0"/>
              <a:t>diretos; </a:t>
            </a:r>
            <a:endParaRPr lang="pt-B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Métodos </a:t>
            </a:r>
            <a:r>
              <a:rPr lang="pt-BR" dirty="0"/>
              <a:t>indiretos.</a:t>
            </a:r>
            <a:endParaRPr lang="pt-BR" dirty="0" smtClean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66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SOBRE A DISCIPLINA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ESTRUTURA DA DISCIPLINA.</a:t>
            </a: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 Professor Marcos </a:t>
            </a:r>
            <a:r>
              <a:rPr lang="pt-BR" sz="1600" b="1" dirty="0">
                <a:solidFill>
                  <a:schemeClr val="bg1"/>
                </a:solidFill>
                <a:latin typeface="Montserrat" pitchFamily="2" charset="0"/>
              </a:rPr>
              <a:t>Britto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676923" y="739514"/>
            <a:ext cx="10838153" cy="535531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EMENTUÁRIO</a:t>
            </a:r>
          </a:p>
          <a:p>
            <a:endParaRPr lang="pt-BR" dirty="0">
              <a:latin typeface="Montserrat" pitchFamily="2" charset="0"/>
            </a:endParaRPr>
          </a:p>
          <a:p>
            <a:pPr marL="0" lvl="1" algn="ctr"/>
            <a:r>
              <a:rPr lang="pt-BR" b="1" dirty="0" smtClean="0">
                <a:latin typeface="Montserrat" pitchFamily="2" charset="0"/>
              </a:rPr>
              <a:t>Norte </a:t>
            </a:r>
            <a:r>
              <a:rPr lang="pt-BR" b="1" dirty="0">
                <a:latin typeface="Montserrat" pitchFamily="2" charset="0"/>
              </a:rPr>
              <a:t>magnético x Norte verdadeiro </a:t>
            </a:r>
          </a:p>
          <a:p>
            <a:pPr marL="0" lvl="1" algn="ctr"/>
            <a:endParaRPr lang="pt-BR" dirty="0" smtClean="0">
              <a:latin typeface="Montserra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Declinação magnética;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Variação </a:t>
            </a:r>
            <a:r>
              <a:rPr lang="pt-BR" dirty="0"/>
              <a:t>da declinação magnética</a:t>
            </a:r>
            <a:r>
              <a:rPr lang="pt-BR" dirty="0" smtClean="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Correções</a:t>
            </a:r>
            <a:r>
              <a:rPr lang="pt-BR" dirty="0"/>
              <a:t>; </a:t>
            </a:r>
            <a:endParaRPr lang="pt-BR" b="1" dirty="0">
              <a:latin typeface="Montserrat" pitchFamily="2" charset="0"/>
            </a:endParaRPr>
          </a:p>
          <a:p>
            <a:pPr lvl="1" algn="ctr"/>
            <a:r>
              <a:rPr lang="pt-BR" b="1" dirty="0" err="1">
                <a:latin typeface="Montserrat" pitchFamily="2" charset="0"/>
              </a:rPr>
              <a:t>Taqueometria</a:t>
            </a:r>
            <a:r>
              <a:rPr lang="pt-BR" b="1" dirty="0">
                <a:latin typeface="Montserrat" pitchFamily="2" charset="0"/>
              </a:rPr>
              <a:t>, Altimetria </a:t>
            </a:r>
            <a:endParaRPr lang="pt-BR" b="1" dirty="0" smtClean="0">
              <a:latin typeface="Montserrat" pitchFamily="2" charset="0"/>
            </a:endParaRPr>
          </a:p>
          <a:p>
            <a:pPr lvl="1" algn="ctr"/>
            <a:endParaRPr lang="pt-BR" b="1" dirty="0" smtClean="0">
              <a:latin typeface="Montserra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Ângulos </a:t>
            </a:r>
            <a:r>
              <a:rPr lang="pt-BR" dirty="0"/>
              <a:t>horizontais geométricos;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Ângulos </a:t>
            </a:r>
            <a:r>
              <a:rPr lang="pt-BR" dirty="0"/>
              <a:t>horizontais geográficos;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Instrumentos </a:t>
            </a:r>
            <a:r>
              <a:rPr lang="pt-BR" dirty="0"/>
              <a:t>de medir ângulos;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Ângulos </a:t>
            </a:r>
            <a:r>
              <a:rPr lang="pt-BR" dirty="0"/>
              <a:t>verticais.</a:t>
            </a:r>
            <a:endParaRPr lang="pt-BR" dirty="0" smtClean="0">
              <a:latin typeface="Montserrat" pitchFamily="2" charset="0"/>
            </a:endParaRPr>
          </a:p>
          <a:p>
            <a:pPr marL="0" lvl="1" algn="ctr"/>
            <a:r>
              <a:rPr lang="pt-BR" b="1" dirty="0" smtClean="0">
                <a:latin typeface="Montserrat" pitchFamily="2" charset="0"/>
              </a:rPr>
              <a:t>Interpretação </a:t>
            </a:r>
            <a:r>
              <a:rPr lang="pt-BR" b="1" dirty="0">
                <a:latin typeface="Montserrat" pitchFamily="2" charset="0"/>
              </a:rPr>
              <a:t>de dados </a:t>
            </a:r>
            <a:r>
              <a:rPr lang="pt-BR" b="1" dirty="0" smtClean="0">
                <a:latin typeface="Montserrat" pitchFamily="2" charset="0"/>
              </a:rPr>
              <a:t>topográficos</a:t>
            </a:r>
          </a:p>
          <a:p>
            <a:pPr marL="0" lvl="1" algn="ctr"/>
            <a:endParaRPr lang="pt-BR" b="1" dirty="0">
              <a:latin typeface="Montserra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Entendendo o projeto </a:t>
            </a:r>
            <a:r>
              <a:rPr lang="pt-BR" dirty="0" err="1"/>
              <a:t>planialtimétrico</a:t>
            </a:r>
            <a:r>
              <a:rPr lang="pt-BR" dirty="0"/>
              <a:t>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Obtenção </a:t>
            </a:r>
            <a:r>
              <a:rPr lang="pt-BR" dirty="0"/>
              <a:t>de distâncias em planta;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Obtenção </a:t>
            </a:r>
            <a:r>
              <a:rPr lang="pt-BR" dirty="0"/>
              <a:t>de declividades;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Obtenção </a:t>
            </a:r>
            <a:r>
              <a:rPr lang="pt-BR" dirty="0"/>
              <a:t>de seções transversais e longitudinais sobre curvas de nível.</a:t>
            </a:r>
            <a:endParaRPr lang="pt-BR" dirty="0" smtClean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40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731167" y="899491"/>
            <a:ext cx="10838153" cy="338554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OBJETIVO DA DISCIPLINA:</a:t>
            </a:r>
          </a:p>
          <a:p>
            <a:endParaRPr lang="pt-BR" dirty="0" smtClean="0">
              <a:latin typeface="Montserra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 smtClean="0"/>
              <a:t>Proporcionar </a:t>
            </a:r>
            <a:r>
              <a:rPr lang="pt-BR" sz="2000" dirty="0"/>
              <a:t>ao discente fundamentação teórica sobre os elementos da topografia (Generalidades, Medidas de ângulos e Orientação de plantas), e, portanto a interpretação de projetos topográficos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 </a:t>
            </a: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 smtClean="0"/>
              <a:t>Capacitar </a:t>
            </a:r>
            <a:r>
              <a:rPr lang="pt-BR" sz="2000" dirty="0"/>
              <a:t>o discente a desenvolver levantamentos planimétricos de áreas de pequeno porte através de métodos topográficos convencionais, modernos e realizar a sua representação gráfica. </a:t>
            </a:r>
            <a:endParaRPr lang="pt-BR" sz="2000" dirty="0" smtClean="0"/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 smtClean="0"/>
              <a:t>Capacitar </a:t>
            </a:r>
            <a:r>
              <a:rPr lang="pt-BR" sz="2000" dirty="0"/>
              <a:t>o discente a desenvolver levantamentos </a:t>
            </a:r>
            <a:r>
              <a:rPr lang="pt-BR" sz="2000" dirty="0" err="1"/>
              <a:t>altimétricos</a:t>
            </a:r>
            <a:r>
              <a:rPr lang="pt-BR" sz="2000" dirty="0"/>
              <a:t> e realizar a sua representação gráfica por meio de perfil.</a:t>
            </a:r>
            <a:endParaRPr lang="pt-BR" sz="2000" dirty="0" smtClean="0">
              <a:latin typeface="Montserrat" pitchFamily="2" charset="0"/>
            </a:endParaRPr>
          </a:p>
          <a:p>
            <a:pPr marL="285750" indent="-285750">
              <a:buFontTx/>
              <a:buChar char="-"/>
            </a:pPr>
            <a:endParaRPr lang="pt-BR" dirty="0">
              <a:latin typeface="Montserrat" pitchFamily="2" charset="0"/>
            </a:endParaRP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ESTRUTURA DA DISCIPLINA.</a:t>
            </a: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 Professor Marcos </a:t>
            </a:r>
            <a:r>
              <a:rPr lang="pt-BR" sz="1600" b="1" dirty="0">
                <a:solidFill>
                  <a:schemeClr val="bg1"/>
                </a:solidFill>
                <a:latin typeface="Montserrat" pitchFamily="2" charset="0"/>
              </a:rPr>
              <a:t>Britto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SOBRE </a:t>
            </a:r>
            <a:r>
              <a:rPr lang="pt-BR" b="1" smtClean="0">
                <a:solidFill>
                  <a:schemeClr val="bg1"/>
                </a:solidFill>
                <a:latin typeface="Montserrat" pitchFamily="2" charset="0"/>
              </a:rPr>
              <a:t>A DISCIPLINA</a:t>
            </a:r>
            <a:endParaRPr lang="pt-BR" b="1" dirty="0" smtClean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75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731167" y="739514"/>
            <a:ext cx="10838153" cy="286232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MÉTODOS AVALIATIVOS</a:t>
            </a:r>
          </a:p>
          <a:p>
            <a:endParaRPr lang="pt-BR" dirty="0" smtClean="0">
              <a:latin typeface="Montserrat" pitchFamily="2" charset="0"/>
            </a:endParaRPr>
          </a:p>
          <a:p>
            <a:r>
              <a:rPr lang="pt-BR" b="1" dirty="0" smtClean="0">
                <a:latin typeface="Montserrat" pitchFamily="2" charset="0"/>
              </a:rPr>
              <a:t>Parcial 1:</a:t>
            </a:r>
            <a:r>
              <a:rPr lang="pt-BR" dirty="0" smtClean="0">
                <a:latin typeface="Montserrat" pitchFamily="2" charset="0"/>
              </a:rPr>
              <a:t> Exercícios feitos em aula</a:t>
            </a:r>
            <a:endParaRPr lang="pt-BR" dirty="0">
              <a:latin typeface="Montserrat" pitchFamily="2" charset="0"/>
            </a:endParaRPr>
          </a:p>
          <a:p>
            <a:endParaRPr lang="pt-BR" dirty="0" smtClean="0">
              <a:latin typeface="Montserrat" pitchFamily="2" charset="0"/>
            </a:endParaRPr>
          </a:p>
          <a:p>
            <a:r>
              <a:rPr lang="pt-BR" b="1" dirty="0" smtClean="0">
                <a:latin typeface="Montserrat" pitchFamily="2" charset="0"/>
              </a:rPr>
              <a:t>Oficial 1: </a:t>
            </a:r>
            <a:r>
              <a:rPr lang="pt-BR" dirty="0" smtClean="0">
                <a:latin typeface="Montserrat" pitchFamily="2" charset="0"/>
              </a:rPr>
              <a:t>Exercício feitos em aula</a:t>
            </a:r>
          </a:p>
          <a:p>
            <a:endParaRPr lang="pt-BR" dirty="0" smtClean="0">
              <a:latin typeface="Montserrat" pitchFamily="2" charset="0"/>
            </a:endParaRPr>
          </a:p>
          <a:p>
            <a:r>
              <a:rPr lang="pt-BR" b="1" dirty="0" smtClean="0">
                <a:latin typeface="Montserrat" pitchFamily="2" charset="0"/>
              </a:rPr>
              <a:t>Parcial 2: </a:t>
            </a:r>
            <a:r>
              <a:rPr lang="pt-BR" dirty="0">
                <a:latin typeface="Montserrat" pitchFamily="2" charset="0"/>
              </a:rPr>
              <a:t>Exercício feitos em aula</a:t>
            </a:r>
          </a:p>
          <a:p>
            <a:endParaRPr lang="pt-BR" b="1" dirty="0">
              <a:latin typeface="Montserrat" pitchFamily="2" charset="0"/>
            </a:endParaRPr>
          </a:p>
          <a:p>
            <a:r>
              <a:rPr lang="pt-BR" b="1" dirty="0" smtClean="0">
                <a:latin typeface="Montserrat" pitchFamily="2" charset="0"/>
              </a:rPr>
              <a:t>Oficial 2: </a:t>
            </a:r>
            <a:r>
              <a:rPr lang="pt-BR" dirty="0">
                <a:latin typeface="Montserrat" pitchFamily="2" charset="0"/>
              </a:rPr>
              <a:t>Exercício feitos em aula</a:t>
            </a:r>
          </a:p>
          <a:p>
            <a:endParaRPr lang="pt-BR" b="1" dirty="0" smtClean="0">
              <a:latin typeface="Montserrat" pitchFamily="2" charset="0"/>
            </a:endParaRP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ESTRUTURA DA DISCIPLINA.</a:t>
            </a: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 Professor Marcos </a:t>
            </a:r>
            <a:r>
              <a:rPr lang="pt-BR" sz="1600" b="1" dirty="0">
                <a:solidFill>
                  <a:schemeClr val="bg1"/>
                </a:solidFill>
                <a:latin typeface="Montserrat" pitchFamily="2" charset="0"/>
              </a:rPr>
              <a:t>Britto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SOBRE </a:t>
            </a:r>
            <a:r>
              <a:rPr lang="pt-BR" b="1" smtClean="0">
                <a:solidFill>
                  <a:schemeClr val="bg1"/>
                </a:solidFill>
                <a:latin typeface="Montserrat" pitchFamily="2" charset="0"/>
              </a:rPr>
              <a:t>A DISCIPLINA</a:t>
            </a:r>
            <a:endParaRPr lang="pt-BR" b="1" dirty="0" smtClean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58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731167" y="739514"/>
            <a:ext cx="10838153" cy="341632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OBSERVAÇÕES</a:t>
            </a:r>
          </a:p>
          <a:p>
            <a:endParaRPr lang="pt-BR" dirty="0" smtClean="0">
              <a:latin typeface="Montserrat" pitchFamily="2" charset="0"/>
            </a:endParaRPr>
          </a:p>
          <a:p>
            <a:pPr marL="342900" indent="-342900">
              <a:buAutoNum type="arabicPeriod"/>
            </a:pPr>
            <a:endParaRPr lang="pt-BR" dirty="0" smtClean="0">
              <a:latin typeface="Montserrat" pitchFamily="2" charset="0"/>
            </a:endParaRPr>
          </a:p>
          <a:p>
            <a:pPr marL="342900" indent="-342900">
              <a:buAutoNum type="arabicPeriod"/>
            </a:pPr>
            <a:r>
              <a:rPr lang="pt-BR" dirty="0" smtClean="0">
                <a:latin typeface="Montserrat" pitchFamily="2" charset="0"/>
              </a:rPr>
              <a:t>A disciplina será processual. Isso significa que o seu desempenho nela depende de um engajamento constante com as aulas e exercícios propostos;</a:t>
            </a:r>
          </a:p>
          <a:p>
            <a:pPr marL="342900" indent="-342900">
              <a:buAutoNum type="arabicPeriod"/>
            </a:pPr>
            <a:endParaRPr lang="pt-BR" dirty="0" smtClean="0">
              <a:latin typeface="Montserrat" pitchFamily="2" charset="0"/>
            </a:endParaRPr>
          </a:p>
          <a:p>
            <a:pPr marL="342900" indent="-342900">
              <a:buAutoNum type="arabicPeriod"/>
            </a:pPr>
            <a:r>
              <a:rPr lang="pt-BR" dirty="0" smtClean="0">
                <a:latin typeface="Montserrat" pitchFamily="2" charset="0"/>
              </a:rPr>
              <a:t>Haverá, em cada aula, um exercício para se fazer. Em não terminando em aula, será possível entregar na aula seguinte;</a:t>
            </a:r>
          </a:p>
          <a:p>
            <a:pPr marL="342900" indent="-342900">
              <a:buAutoNum type="arabicPeriod"/>
            </a:pPr>
            <a:endParaRPr lang="pt-BR" dirty="0" smtClean="0">
              <a:latin typeface="Montserrat" pitchFamily="2" charset="0"/>
            </a:endParaRPr>
          </a:p>
          <a:p>
            <a:pPr marL="342900" indent="-342900">
              <a:buAutoNum type="arabicPeriod"/>
            </a:pPr>
            <a:r>
              <a:rPr lang="pt-BR" dirty="0" smtClean="0">
                <a:latin typeface="Montserrat" pitchFamily="2" charset="0"/>
              </a:rPr>
              <a:t>Se houver identificação de plágio, o aluno ou aluna será impedido(a) de continuar a avaliação e será encaminhado ao coordenador para passar pelo devido processo administrativo;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Professor Marcos </a:t>
            </a:r>
            <a:r>
              <a:rPr lang="pt-BR" sz="1600" b="1" dirty="0">
                <a:solidFill>
                  <a:schemeClr val="bg1"/>
                </a:solidFill>
                <a:latin typeface="Montserrat" pitchFamily="2" charset="0"/>
              </a:rPr>
              <a:t>Britto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SOBRE </a:t>
            </a:r>
            <a:r>
              <a:rPr lang="pt-BR" b="1" smtClean="0">
                <a:solidFill>
                  <a:schemeClr val="bg1"/>
                </a:solidFill>
                <a:latin typeface="Montserrat" pitchFamily="2" charset="0"/>
              </a:rPr>
              <a:t>A DISCIPLINA</a:t>
            </a:r>
            <a:endParaRPr lang="pt-BR" b="1" dirty="0" smtClean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91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SOBRE A AULA DE HOJE</a:t>
            </a:r>
          </a:p>
        </p:txBody>
      </p:sp>
      <p:sp>
        <p:nvSpPr>
          <p:cNvPr id="9" name="Retângulo 8"/>
          <p:cNvSpPr/>
          <p:nvPr/>
        </p:nvSpPr>
        <p:spPr>
          <a:xfrm>
            <a:off x="731167" y="751343"/>
            <a:ext cx="10838153" cy="535531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ESTRUTURA DA AULA:</a:t>
            </a:r>
          </a:p>
          <a:p>
            <a:endParaRPr lang="pt-BR" dirty="0" smtClean="0">
              <a:latin typeface="Montserrat" pitchFamily="2" charset="0"/>
            </a:endParaRPr>
          </a:p>
          <a:p>
            <a:r>
              <a:rPr lang="pt-BR" b="1" dirty="0" smtClean="0">
                <a:latin typeface="Montserrat" pitchFamily="2" charset="0"/>
              </a:rPr>
              <a:t>Aula 1 (</a:t>
            </a:r>
            <a:r>
              <a:rPr lang="pt-BR" b="1" dirty="0" smtClean="0"/>
              <a:t>19/</a:t>
            </a:r>
            <a:r>
              <a:rPr lang="pt-BR" b="1" dirty="0" err="1" smtClean="0"/>
              <a:t>fev</a:t>
            </a:r>
            <a:r>
              <a:rPr lang="pt-BR" b="1" dirty="0" smtClean="0"/>
              <a:t>)</a:t>
            </a:r>
            <a:r>
              <a:rPr lang="pt-BR" b="1" dirty="0" smtClean="0">
                <a:latin typeface="Montserrat" pitchFamily="2" charset="0"/>
              </a:rPr>
              <a:t>: </a:t>
            </a:r>
            <a:r>
              <a:rPr lang="pt-BR" dirty="0" smtClean="0">
                <a:latin typeface="Montserrat" pitchFamily="2" charset="0"/>
              </a:rPr>
              <a:t>Aula expositiva;</a:t>
            </a: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2 (</a:t>
            </a:r>
            <a:r>
              <a:rPr lang="pt-BR" dirty="0" smtClean="0"/>
              <a:t>26/</a:t>
            </a:r>
            <a:r>
              <a:rPr lang="pt-BR" dirty="0" err="1" smtClean="0"/>
              <a:t>fev</a:t>
            </a:r>
            <a:r>
              <a:rPr lang="pt-BR" dirty="0" smtClean="0"/>
              <a:t>)</a:t>
            </a:r>
            <a:r>
              <a:rPr lang="pt-BR" dirty="0" smtClean="0">
                <a:latin typeface="Montserrat" pitchFamily="2" charset="0"/>
              </a:rPr>
              <a:t>: Aula expositiva + trabalho;</a:t>
            </a: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3 (</a:t>
            </a:r>
            <a:r>
              <a:rPr lang="pt-BR" dirty="0" smtClean="0"/>
              <a:t>04/mar)</a:t>
            </a:r>
            <a:r>
              <a:rPr lang="pt-BR" dirty="0" smtClean="0">
                <a:latin typeface="Montserrat" pitchFamily="2" charset="0"/>
              </a:rPr>
              <a:t>: Aula expositiva + trabalho;</a:t>
            </a: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4 (</a:t>
            </a:r>
            <a:r>
              <a:rPr lang="pt-BR" dirty="0" smtClean="0"/>
              <a:t>11/mar)</a:t>
            </a:r>
            <a:r>
              <a:rPr lang="pt-BR" dirty="0" smtClean="0">
                <a:latin typeface="Montserrat" pitchFamily="2" charset="0"/>
              </a:rPr>
              <a:t>: Aula expositiva + </a:t>
            </a:r>
            <a:r>
              <a:rPr lang="pt-BR" dirty="0">
                <a:latin typeface="Montserrat" pitchFamily="2" charset="0"/>
              </a:rPr>
              <a:t>trabalho;</a:t>
            </a:r>
          </a:p>
          <a:p>
            <a:endParaRPr lang="pt-BR" dirty="0" smtClean="0">
              <a:latin typeface="Montserrat" pitchFamily="2" charset="0"/>
            </a:endParaRPr>
          </a:p>
          <a:p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Aula 5 (</a:t>
            </a:r>
            <a:r>
              <a:rPr lang="pt-BR" b="1" dirty="0" smtClean="0">
                <a:solidFill>
                  <a:srgbClr val="FF0000"/>
                </a:solidFill>
              </a:rPr>
              <a:t>18/mar)</a:t>
            </a:r>
            <a:r>
              <a:rPr lang="pt-BR" b="1" dirty="0">
                <a:solidFill>
                  <a:srgbClr val="FF0000"/>
                </a:solidFill>
                <a:latin typeface="Montserrat" pitchFamily="2" charset="0"/>
              </a:rPr>
              <a:t>: AVALIAÇÃO PARCIAL 1 </a:t>
            </a:r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 </a:t>
            </a:r>
            <a:r>
              <a:rPr lang="pt-BR" dirty="0" smtClean="0">
                <a:latin typeface="Montserrat" pitchFamily="2" charset="0"/>
              </a:rPr>
              <a:t>+ Aula expositiva + trabalho;</a:t>
            </a: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6 (</a:t>
            </a:r>
            <a:r>
              <a:rPr lang="pt-BR" dirty="0" smtClean="0"/>
              <a:t>25/mar):</a:t>
            </a:r>
            <a:r>
              <a:rPr lang="pt-BR" dirty="0" smtClean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Aula expositiva + trabalho;</a:t>
            </a: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>
                <a:latin typeface="Montserrat" pitchFamily="2" charset="0"/>
              </a:rPr>
              <a:t>Aula </a:t>
            </a:r>
            <a:r>
              <a:rPr lang="pt-BR" dirty="0" smtClean="0">
                <a:latin typeface="Montserrat" pitchFamily="2" charset="0"/>
              </a:rPr>
              <a:t>7 (</a:t>
            </a:r>
            <a:r>
              <a:rPr lang="pt-BR" dirty="0" smtClean="0"/>
              <a:t>01/</a:t>
            </a:r>
            <a:r>
              <a:rPr lang="pt-BR" dirty="0" err="1" smtClean="0"/>
              <a:t>abr</a:t>
            </a:r>
            <a:r>
              <a:rPr lang="pt-BR" dirty="0" smtClean="0"/>
              <a:t>) </a:t>
            </a:r>
            <a:r>
              <a:rPr lang="pt-BR" dirty="0" smtClean="0">
                <a:latin typeface="Montserrat" pitchFamily="2" charset="0"/>
              </a:rPr>
              <a:t>: </a:t>
            </a:r>
            <a:r>
              <a:rPr lang="pt-BR" dirty="0">
                <a:latin typeface="Montserrat" pitchFamily="2" charset="0"/>
              </a:rPr>
              <a:t>Aula expositiva + trabalho;</a:t>
            </a:r>
            <a:endParaRPr lang="pt-BR" dirty="0" smtClean="0">
              <a:latin typeface="Montserrat" pitchFamily="2" charset="0"/>
            </a:endParaRPr>
          </a:p>
          <a:p>
            <a:endParaRPr lang="pt-BR" dirty="0">
              <a:latin typeface="Montserrat" pitchFamily="2" charset="0"/>
            </a:endParaRPr>
          </a:p>
          <a:p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Aula 8 (</a:t>
            </a:r>
            <a:r>
              <a:rPr lang="pt-BR" b="1" dirty="0" smtClean="0">
                <a:solidFill>
                  <a:srgbClr val="FF0000"/>
                </a:solidFill>
              </a:rPr>
              <a:t>08/</a:t>
            </a:r>
            <a:r>
              <a:rPr lang="pt-BR" b="1" dirty="0" err="1" smtClean="0">
                <a:solidFill>
                  <a:srgbClr val="FF0000"/>
                </a:solidFill>
              </a:rPr>
              <a:t>abr</a:t>
            </a:r>
            <a:r>
              <a:rPr lang="pt-BR" b="1" dirty="0" smtClean="0">
                <a:solidFill>
                  <a:srgbClr val="FF0000"/>
                </a:solidFill>
              </a:rPr>
              <a:t> )</a:t>
            </a:r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: AVALIAÇÃO OFICIAL 1</a:t>
            </a:r>
            <a:r>
              <a:rPr lang="pt-BR" dirty="0" smtClean="0">
                <a:latin typeface="Montserrat" pitchFamily="2" charset="0"/>
              </a:rPr>
              <a:t> – </a:t>
            </a:r>
            <a:r>
              <a:rPr lang="pt-BR" dirty="0">
                <a:latin typeface="Montserrat" pitchFamily="2" charset="0"/>
              </a:rPr>
              <a:t>Aula expositiva + </a:t>
            </a:r>
            <a:r>
              <a:rPr lang="pt-BR" dirty="0" smtClean="0">
                <a:latin typeface="Montserrat" pitchFamily="2" charset="0"/>
              </a:rPr>
              <a:t>trabalho;</a:t>
            </a: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9 (</a:t>
            </a:r>
            <a:r>
              <a:rPr lang="pt-BR" dirty="0" smtClean="0"/>
              <a:t>15/</a:t>
            </a:r>
            <a:r>
              <a:rPr lang="pt-BR" dirty="0" err="1" smtClean="0"/>
              <a:t>abr</a:t>
            </a:r>
            <a:r>
              <a:rPr lang="pt-BR" dirty="0" smtClean="0"/>
              <a:t>)</a:t>
            </a:r>
            <a:r>
              <a:rPr lang="pt-BR" dirty="0" smtClean="0">
                <a:latin typeface="Montserrat" pitchFamily="2" charset="0"/>
              </a:rPr>
              <a:t>: </a:t>
            </a:r>
            <a:r>
              <a:rPr lang="pt-BR" dirty="0">
                <a:latin typeface="Montserrat" pitchFamily="2" charset="0"/>
              </a:rPr>
              <a:t>Aula expositiva + </a:t>
            </a:r>
            <a:r>
              <a:rPr lang="pt-BR" dirty="0" smtClean="0">
                <a:latin typeface="Montserrat" pitchFamily="2" charset="0"/>
              </a:rPr>
              <a:t>trabalho;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ESTRUTURA DA DISCIPLINA.</a:t>
            </a: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 Professor Marcos </a:t>
            </a:r>
            <a:r>
              <a:rPr lang="pt-BR" sz="1600" b="1" dirty="0">
                <a:solidFill>
                  <a:schemeClr val="bg1"/>
                </a:solidFill>
                <a:latin typeface="Montserrat" pitchFamily="2" charset="0"/>
              </a:rPr>
              <a:t>Britto</a:t>
            </a:r>
          </a:p>
        </p:txBody>
      </p:sp>
    </p:spTree>
    <p:extLst>
      <p:ext uri="{BB962C8B-B14F-4D97-AF65-F5344CB8AC3E}">
        <p14:creationId xmlns:p14="http://schemas.microsoft.com/office/powerpoint/2010/main" val="102332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SOBRE A AULA DE HOJE</a:t>
            </a:r>
          </a:p>
        </p:txBody>
      </p:sp>
      <p:sp>
        <p:nvSpPr>
          <p:cNvPr id="9" name="Retângulo 8"/>
          <p:cNvSpPr/>
          <p:nvPr/>
        </p:nvSpPr>
        <p:spPr>
          <a:xfrm>
            <a:off x="731167" y="899490"/>
            <a:ext cx="10838153" cy="507831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ESTRUTURA DA AULA:</a:t>
            </a: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10 (</a:t>
            </a:r>
            <a:r>
              <a:rPr lang="pt-BR" dirty="0" smtClean="0"/>
              <a:t>22/</a:t>
            </a:r>
            <a:r>
              <a:rPr lang="pt-BR" dirty="0" err="1" smtClean="0"/>
              <a:t>abr</a:t>
            </a:r>
            <a:r>
              <a:rPr lang="pt-BR" dirty="0" smtClean="0"/>
              <a:t>)</a:t>
            </a:r>
            <a:r>
              <a:rPr lang="pt-BR" dirty="0">
                <a:latin typeface="Montserrat" pitchFamily="2" charset="0"/>
              </a:rPr>
              <a:t>: Aula expositiva + trabalho</a:t>
            </a:r>
            <a:endParaRPr lang="pt-BR" dirty="0" smtClean="0">
              <a:latin typeface="Montserrat" pitchFamily="2" charset="0"/>
            </a:endParaRP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11 (</a:t>
            </a:r>
            <a:r>
              <a:rPr lang="pt-BR" dirty="0" smtClean="0"/>
              <a:t>29/</a:t>
            </a:r>
            <a:r>
              <a:rPr lang="pt-BR" dirty="0" err="1" smtClean="0"/>
              <a:t>abr</a:t>
            </a:r>
            <a:r>
              <a:rPr lang="pt-BR" dirty="0" smtClean="0"/>
              <a:t>)</a:t>
            </a:r>
            <a:r>
              <a:rPr lang="pt-BR" dirty="0" smtClean="0">
                <a:latin typeface="Montserrat" pitchFamily="2" charset="0"/>
              </a:rPr>
              <a:t>: </a:t>
            </a:r>
            <a:r>
              <a:rPr lang="pt-BR" dirty="0">
                <a:latin typeface="Montserrat" pitchFamily="2" charset="0"/>
              </a:rPr>
              <a:t>Aula expositiva + trabalho</a:t>
            </a:r>
            <a:endParaRPr lang="pt-BR" dirty="0" smtClean="0">
              <a:latin typeface="Montserrat" pitchFamily="2" charset="0"/>
            </a:endParaRPr>
          </a:p>
          <a:p>
            <a:endParaRPr lang="pt-BR" dirty="0" smtClean="0">
              <a:latin typeface="Montserrat" pitchFamily="2" charset="0"/>
            </a:endParaRPr>
          </a:p>
          <a:p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Aula 12 (</a:t>
            </a:r>
            <a:r>
              <a:rPr lang="pt-BR" b="1" dirty="0" smtClean="0">
                <a:solidFill>
                  <a:srgbClr val="FF0000"/>
                </a:solidFill>
              </a:rPr>
              <a:t>06/</a:t>
            </a:r>
            <a:r>
              <a:rPr lang="pt-BR" b="1" dirty="0" err="1" smtClean="0">
                <a:solidFill>
                  <a:srgbClr val="FF0000"/>
                </a:solidFill>
              </a:rPr>
              <a:t>mai</a:t>
            </a:r>
            <a:r>
              <a:rPr lang="pt-BR" b="1" dirty="0" smtClean="0">
                <a:solidFill>
                  <a:srgbClr val="FF0000"/>
                </a:solidFill>
              </a:rPr>
              <a:t>)</a:t>
            </a:r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: AVALIAÇÃO PARCIAL 2 </a:t>
            </a:r>
            <a:r>
              <a:rPr lang="pt-BR" dirty="0" smtClean="0">
                <a:latin typeface="Montserrat" pitchFamily="2" charset="0"/>
              </a:rPr>
              <a:t>Aula </a:t>
            </a:r>
            <a:r>
              <a:rPr lang="pt-BR" dirty="0">
                <a:latin typeface="Montserrat" pitchFamily="2" charset="0"/>
              </a:rPr>
              <a:t>expositiva + trabalho</a:t>
            </a:r>
            <a:endParaRPr lang="pt-BR" dirty="0" smtClean="0">
              <a:solidFill>
                <a:srgbClr val="FF0000"/>
              </a:solidFill>
              <a:latin typeface="Montserrat" pitchFamily="2" charset="0"/>
            </a:endParaRPr>
          </a:p>
          <a:p>
            <a:endParaRPr lang="pt-BR" dirty="0" smtClean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13 (</a:t>
            </a:r>
            <a:r>
              <a:rPr lang="pt-BR" dirty="0" smtClean="0"/>
              <a:t>13/</a:t>
            </a:r>
            <a:r>
              <a:rPr lang="pt-BR" dirty="0" err="1" smtClean="0"/>
              <a:t>mai</a:t>
            </a:r>
            <a:r>
              <a:rPr lang="pt-BR" dirty="0" smtClean="0"/>
              <a:t>)</a:t>
            </a:r>
            <a:r>
              <a:rPr lang="pt-BR" dirty="0" smtClean="0">
                <a:latin typeface="Montserrat" pitchFamily="2" charset="0"/>
              </a:rPr>
              <a:t>: </a:t>
            </a:r>
            <a:r>
              <a:rPr lang="pt-BR" dirty="0">
                <a:latin typeface="Montserrat" pitchFamily="2" charset="0"/>
              </a:rPr>
              <a:t>Aula expositiva + trabalho</a:t>
            </a:r>
            <a:endParaRPr lang="pt-BR" dirty="0" smtClean="0">
              <a:latin typeface="Montserrat" pitchFamily="2" charset="0"/>
            </a:endParaRPr>
          </a:p>
          <a:p>
            <a:endParaRPr lang="pt-BR" dirty="0">
              <a:latin typeface="Montserrat" pitchFamily="2" charset="0"/>
            </a:endParaRPr>
          </a:p>
          <a:p>
            <a:r>
              <a:rPr lang="pt-BR" dirty="0" smtClean="0">
                <a:latin typeface="Montserrat" pitchFamily="2" charset="0"/>
              </a:rPr>
              <a:t>Aula 14 (</a:t>
            </a:r>
            <a:r>
              <a:rPr lang="pt-BR" dirty="0" smtClean="0"/>
              <a:t>20/</a:t>
            </a:r>
            <a:r>
              <a:rPr lang="pt-BR" dirty="0" err="1" smtClean="0"/>
              <a:t>mai</a:t>
            </a:r>
            <a:r>
              <a:rPr lang="pt-BR" dirty="0" smtClean="0"/>
              <a:t>)</a:t>
            </a:r>
            <a:r>
              <a:rPr lang="pt-BR" dirty="0">
                <a:latin typeface="Montserrat" pitchFamily="2" charset="0"/>
              </a:rPr>
              <a:t>: Aula expositiva + trabalho</a:t>
            </a:r>
            <a:endParaRPr lang="pt-BR" dirty="0" smtClean="0">
              <a:latin typeface="Montserrat" pitchFamily="2" charset="0"/>
            </a:endParaRPr>
          </a:p>
          <a:p>
            <a:endParaRPr lang="pt-BR" dirty="0">
              <a:latin typeface="Montserrat" pitchFamily="2" charset="0"/>
            </a:endParaRPr>
          </a:p>
          <a:p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Aula 15 (</a:t>
            </a:r>
            <a:r>
              <a:rPr lang="pt-BR" b="1" dirty="0" smtClean="0">
                <a:solidFill>
                  <a:srgbClr val="FF0000"/>
                </a:solidFill>
              </a:rPr>
              <a:t>27/</a:t>
            </a:r>
            <a:r>
              <a:rPr lang="pt-BR" b="1" dirty="0" err="1" smtClean="0">
                <a:solidFill>
                  <a:srgbClr val="FF0000"/>
                </a:solidFill>
              </a:rPr>
              <a:t>mai</a:t>
            </a:r>
            <a:r>
              <a:rPr lang="pt-BR" b="1" dirty="0" smtClean="0">
                <a:solidFill>
                  <a:srgbClr val="FF0000"/>
                </a:solidFill>
              </a:rPr>
              <a:t>) </a:t>
            </a:r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: ENTREGA FINAL (IDEALMENTE)</a:t>
            </a:r>
          </a:p>
          <a:p>
            <a:endParaRPr lang="pt-BR" dirty="0">
              <a:latin typeface="Montserrat" pitchFamily="2" charset="0"/>
            </a:endParaRPr>
          </a:p>
          <a:p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Aula 16 (</a:t>
            </a:r>
            <a:r>
              <a:rPr lang="pt-BR" b="1" dirty="0" smtClean="0">
                <a:solidFill>
                  <a:srgbClr val="FF0000"/>
                </a:solidFill>
              </a:rPr>
              <a:t>03/</a:t>
            </a:r>
            <a:r>
              <a:rPr lang="pt-BR" b="1" dirty="0" err="1" smtClean="0">
                <a:solidFill>
                  <a:srgbClr val="FF0000"/>
                </a:solidFill>
              </a:rPr>
              <a:t>jun</a:t>
            </a:r>
            <a:r>
              <a:rPr lang="pt-BR" b="1" dirty="0" smtClean="0">
                <a:solidFill>
                  <a:srgbClr val="FF0000"/>
                </a:solidFill>
              </a:rPr>
              <a:t>)</a:t>
            </a:r>
            <a:r>
              <a:rPr lang="pt-BR" b="1" dirty="0" smtClean="0">
                <a:solidFill>
                  <a:srgbClr val="FF0000"/>
                </a:solidFill>
                <a:latin typeface="Montserrat" pitchFamily="2" charset="0"/>
              </a:rPr>
              <a:t>: ENTREGA FINAL (PROVAVELMENTE)</a:t>
            </a:r>
          </a:p>
          <a:p>
            <a:endParaRPr lang="pt-BR" b="1" dirty="0" smtClean="0">
              <a:solidFill>
                <a:srgbClr val="FF0000"/>
              </a:solidFill>
              <a:latin typeface="Montserrat" pitchFamily="2" charset="0"/>
            </a:endParaRPr>
          </a:p>
          <a:p>
            <a:r>
              <a:rPr lang="pt-BR" b="1" dirty="0">
                <a:solidFill>
                  <a:schemeClr val="accent6">
                    <a:lumMod val="75000"/>
                  </a:schemeClr>
                </a:solidFill>
                <a:latin typeface="Montserrat" pitchFamily="2" charset="0"/>
              </a:rPr>
              <a:t>Até 11/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  <a:latin typeface="Montserrat" pitchFamily="2" charset="0"/>
              </a:rPr>
              <a:t>jun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  <a:latin typeface="Montserrat" pitchFamily="2" charset="0"/>
              </a:rPr>
              <a:t> : notas e todo mundo feliz (ou não)</a:t>
            </a:r>
          </a:p>
          <a:p>
            <a:endParaRPr lang="pt-BR" b="1" dirty="0">
              <a:solidFill>
                <a:srgbClr val="FF0000"/>
              </a:solidFill>
              <a:latin typeface="Montserrat" pitchFamily="2" charset="0"/>
            </a:endParaRP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ESTRUTURA DA DISCIPLINA.</a:t>
            </a: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 Professor Marcos </a:t>
            </a:r>
            <a:r>
              <a:rPr lang="pt-BR" sz="1600" b="1" dirty="0">
                <a:solidFill>
                  <a:schemeClr val="bg1"/>
                </a:solidFill>
                <a:latin typeface="Montserrat" pitchFamily="2" charset="0"/>
              </a:rPr>
              <a:t>Britto</a:t>
            </a:r>
          </a:p>
        </p:txBody>
      </p:sp>
    </p:spTree>
    <p:extLst>
      <p:ext uri="{BB962C8B-B14F-4D97-AF65-F5344CB8AC3E}">
        <p14:creationId xmlns:p14="http://schemas.microsoft.com/office/powerpoint/2010/main" val="199800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ETIMOLOGIA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41225" y="2073134"/>
            <a:ext cx="4218038" cy="52322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latin typeface="Montserrat" pitchFamily="2" charset="0"/>
              </a:rPr>
              <a:t>TOPOGRAFIA </a:t>
            </a:r>
            <a:endParaRPr lang="pt-BR" sz="3200" dirty="0" smtClean="0"/>
          </a:p>
        </p:txBody>
      </p:sp>
    </p:spTree>
    <p:extLst>
      <p:ext uri="{BB962C8B-B14F-4D97-AF65-F5344CB8AC3E}">
        <p14:creationId xmlns:p14="http://schemas.microsoft.com/office/powerpoint/2010/main" val="423356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ETIMOLOGIA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41225" y="2073134"/>
            <a:ext cx="4218038" cy="52322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latin typeface="Montserrat" pitchFamily="2" charset="0"/>
              </a:rPr>
              <a:t>TOPOGRAFIA </a:t>
            </a:r>
            <a:endParaRPr lang="pt-BR" sz="3200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2658644" y="3887099"/>
            <a:ext cx="2202916" cy="369332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TOPOS = LUGAR</a:t>
            </a:r>
            <a:endParaRPr lang="pt-BR" sz="2000" dirty="0" smtClean="0"/>
          </a:p>
        </p:txBody>
      </p:sp>
      <p:cxnSp>
        <p:nvCxnSpPr>
          <p:cNvPr id="3" name="Conector de seta reta 2"/>
          <p:cNvCxnSpPr/>
          <p:nvPr/>
        </p:nvCxnSpPr>
        <p:spPr>
          <a:xfrm flipH="1">
            <a:off x="3931920" y="2561330"/>
            <a:ext cx="1569721" cy="12038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4861560" y="2561330"/>
            <a:ext cx="1143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7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ETIMOLOGIA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41225" y="2073134"/>
            <a:ext cx="4218038" cy="52322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latin typeface="Montserrat" pitchFamily="2" charset="0"/>
              </a:rPr>
              <a:t>TOPOGRAFIA </a:t>
            </a:r>
            <a:endParaRPr lang="pt-BR" sz="3200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2658644" y="3887099"/>
            <a:ext cx="2202916" cy="369332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TOPOS = LUGAR</a:t>
            </a:r>
            <a:endParaRPr lang="pt-BR" sz="2000" dirty="0" smtClean="0"/>
          </a:p>
        </p:txBody>
      </p:sp>
      <p:cxnSp>
        <p:nvCxnSpPr>
          <p:cNvPr id="3" name="Conector de seta reta 2"/>
          <p:cNvCxnSpPr/>
          <p:nvPr/>
        </p:nvCxnSpPr>
        <p:spPr>
          <a:xfrm flipH="1">
            <a:off x="3931920" y="2561330"/>
            <a:ext cx="1569721" cy="12038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1092366" y="5182172"/>
            <a:ext cx="2948859" cy="92333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Superfície da Terra (terra, água, e subterrânea)</a:t>
            </a:r>
            <a:endParaRPr lang="pt-BR" sz="2000" dirty="0" smtClean="0"/>
          </a:p>
        </p:txBody>
      </p:sp>
      <p:cxnSp>
        <p:nvCxnSpPr>
          <p:cNvPr id="19" name="Conector de seta reta 18"/>
          <p:cNvCxnSpPr/>
          <p:nvPr/>
        </p:nvCxnSpPr>
        <p:spPr>
          <a:xfrm flipH="1">
            <a:off x="2193824" y="4256431"/>
            <a:ext cx="1101458" cy="8693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4861560" y="2561330"/>
            <a:ext cx="1143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32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ETIMOLOGIA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41225" y="2073134"/>
            <a:ext cx="4218038" cy="52322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latin typeface="Montserrat" pitchFamily="2" charset="0"/>
              </a:rPr>
              <a:t>TOPOGRAFIA </a:t>
            </a:r>
            <a:endParaRPr lang="pt-BR" sz="3200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2658644" y="3887099"/>
            <a:ext cx="2202916" cy="369332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TOPOS = LUGAR</a:t>
            </a:r>
            <a:endParaRPr lang="pt-BR" sz="2000" dirty="0" smtClean="0"/>
          </a:p>
        </p:txBody>
      </p:sp>
      <p:sp>
        <p:nvSpPr>
          <p:cNvPr id="7" name="Retângulo 6"/>
          <p:cNvSpPr/>
          <p:nvPr/>
        </p:nvSpPr>
        <p:spPr>
          <a:xfrm>
            <a:off x="7353300" y="3442012"/>
            <a:ext cx="3391636" cy="646331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GRAPHEN = DESCREVER, DESCRIÇÃO</a:t>
            </a:r>
            <a:endParaRPr lang="pt-BR" sz="2000" dirty="0" smtClean="0"/>
          </a:p>
        </p:txBody>
      </p:sp>
      <p:cxnSp>
        <p:nvCxnSpPr>
          <p:cNvPr id="3" name="Conector de seta reta 2"/>
          <p:cNvCxnSpPr/>
          <p:nvPr/>
        </p:nvCxnSpPr>
        <p:spPr>
          <a:xfrm flipH="1">
            <a:off x="3931920" y="2561330"/>
            <a:ext cx="1569721" cy="12038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6751320" y="2596354"/>
            <a:ext cx="1203960" cy="6802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1092366" y="5182172"/>
            <a:ext cx="2948859" cy="92333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Superfície da Terra (terra, água, e subterrânea)</a:t>
            </a:r>
            <a:endParaRPr lang="pt-BR" sz="2000" dirty="0" smtClean="0"/>
          </a:p>
        </p:txBody>
      </p:sp>
      <p:cxnSp>
        <p:nvCxnSpPr>
          <p:cNvPr id="19" name="Conector de seta reta 18"/>
          <p:cNvCxnSpPr/>
          <p:nvPr/>
        </p:nvCxnSpPr>
        <p:spPr>
          <a:xfrm flipH="1">
            <a:off x="2193824" y="4256431"/>
            <a:ext cx="1101458" cy="8693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/>
          <p:cNvCxnSpPr/>
          <p:nvPr/>
        </p:nvCxnSpPr>
        <p:spPr>
          <a:xfrm>
            <a:off x="6065520" y="2561330"/>
            <a:ext cx="12877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0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ETIMOLOGIA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41225" y="2073134"/>
            <a:ext cx="4218038" cy="52322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latin typeface="Montserrat" pitchFamily="2" charset="0"/>
              </a:rPr>
              <a:t>TOPOGRAFIA </a:t>
            </a:r>
            <a:endParaRPr lang="pt-BR" sz="3200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2658644" y="3887099"/>
            <a:ext cx="2202916" cy="369332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TOPOS = LUGAR</a:t>
            </a:r>
            <a:endParaRPr lang="pt-BR" sz="2000" dirty="0" smtClean="0"/>
          </a:p>
        </p:txBody>
      </p:sp>
      <p:sp>
        <p:nvSpPr>
          <p:cNvPr id="7" name="Retângulo 6"/>
          <p:cNvSpPr/>
          <p:nvPr/>
        </p:nvSpPr>
        <p:spPr>
          <a:xfrm>
            <a:off x="7353300" y="3442012"/>
            <a:ext cx="3391636" cy="646331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GRAPHEN = DESCREVER, DESCRIÇÃO</a:t>
            </a:r>
            <a:endParaRPr lang="pt-BR" sz="2000" dirty="0" smtClean="0"/>
          </a:p>
        </p:txBody>
      </p:sp>
      <p:cxnSp>
        <p:nvCxnSpPr>
          <p:cNvPr id="3" name="Conector de seta reta 2"/>
          <p:cNvCxnSpPr/>
          <p:nvPr/>
        </p:nvCxnSpPr>
        <p:spPr>
          <a:xfrm flipH="1">
            <a:off x="3931920" y="2561330"/>
            <a:ext cx="1569721" cy="12038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6751320" y="2596354"/>
            <a:ext cx="1203960" cy="6802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955280" y="5182172"/>
            <a:ext cx="3391636" cy="646331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Depende, portanto, de uma gramática</a:t>
            </a:r>
            <a:endParaRPr lang="pt-BR" sz="2000" dirty="0" smtClean="0"/>
          </a:p>
        </p:txBody>
      </p:sp>
      <p:cxnSp>
        <p:nvCxnSpPr>
          <p:cNvPr id="16" name="Conector de seta reta 15"/>
          <p:cNvCxnSpPr/>
          <p:nvPr/>
        </p:nvCxnSpPr>
        <p:spPr>
          <a:xfrm>
            <a:off x="8713838" y="4091476"/>
            <a:ext cx="670560" cy="10383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1092366" y="5182172"/>
            <a:ext cx="2948859" cy="92333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Montserrat" pitchFamily="2" charset="0"/>
              </a:rPr>
              <a:t>Superfície da Terra (terra, água, e subterrânea)</a:t>
            </a:r>
            <a:endParaRPr lang="pt-BR" sz="2000" dirty="0" smtClean="0"/>
          </a:p>
        </p:txBody>
      </p:sp>
      <p:cxnSp>
        <p:nvCxnSpPr>
          <p:cNvPr id="19" name="Conector de seta reta 18"/>
          <p:cNvCxnSpPr/>
          <p:nvPr/>
        </p:nvCxnSpPr>
        <p:spPr>
          <a:xfrm flipH="1">
            <a:off x="2193824" y="4256431"/>
            <a:ext cx="1101458" cy="8693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6065520" y="2561330"/>
            <a:ext cx="12877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39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IMPORTÂNCIA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83884" y="2078342"/>
            <a:ext cx="10332720" cy="267765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Importância</a:t>
            </a:r>
            <a:r>
              <a:rPr lang="pt-BR" sz="2400" b="1" dirty="0">
                <a:latin typeface="Montserrat" pitchFamily="2" charset="0"/>
              </a:rPr>
              <a:t>: </a:t>
            </a:r>
            <a:r>
              <a:rPr lang="pt-BR" sz="2400" dirty="0">
                <a:latin typeface="Montserrat" pitchFamily="2" charset="0"/>
              </a:rPr>
              <a:t>ela é a base de qualquer projeto e de qualquer obra realizada por engenheiros ou arquitetos</a:t>
            </a:r>
            <a:r>
              <a:rPr lang="pt-BR" sz="2400" dirty="0" smtClean="0">
                <a:latin typeface="Montserrat" pitchFamily="2" charset="0"/>
              </a:rPr>
              <a:t>. </a:t>
            </a:r>
            <a:r>
              <a:rPr lang="pt-BR" sz="2400" dirty="0">
                <a:latin typeface="Montserrat" pitchFamily="2" charset="0"/>
              </a:rPr>
              <a:t>É</a:t>
            </a:r>
            <a:r>
              <a:rPr lang="pt-BR" sz="2400" dirty="0" smtClean="0">
                <a:latin typeface="Montserrat" pitchFamily="2" charset="0"/>
              </a:rPr>
              <a:t> </a:t>
            </a:r>
            <a:r>
              <a:rPr lang="pt-BR" sz="2400" dirty="0">
                <a:latin typeface="Montserrat" pitchFamily="2" charset="0"/>
              </a:rPr>
              <a:t>fundamental o conhecimento pormenorizado </a:t>
            </a:r>
            <a:r>
              <a:rPr lang="pt-BR" sz="2400" dirty="0" smtClean="0">
                <a:latin typeface="Montserrat" pitchFamily="2" charset="0"/>
              </a:rPr>
              <a:t>do terreno onde será implantado a obra, </a:t>
            </a:r>
            <a:r>
              <a:rPr lang="pt-BR" sz="2400" dirty="0">
                <a:latin typeface="Montserrat" pitchFamily="2" charset="0"/>
              </a:rPr>
              <a:t>tanto na etapa do projeto, quanto da sua construção ou execução; </a:t>
            </a:r>
            <a:r>
              <a:rPr lang="pt-BR" sz="2400" dirty="0" smtClean="0">
                <a:latin typeface="Montserrat" pitchFamily="2" charset="0"/>
              </a:rPr>
              <a:t>a </a:t>
            </a:r>
            <a:r>
              <a:rPr lang="pt-BR" sz="2400" dirty="0">
                <a:latin typeface="Montserrat" pitchFamily="2" charset="0"/>
              </a:rPr>
              <a:t>Topografia, fornece os métodos e os instrumentos que permitem este conhecimento do terreno e asseguram uma correta implantação da obra ou serviço.</a:t>
            </a:r>
          </a:p>
        </p:txBody>
      </p:sp>
    </p:spTree>
    <p:extLst>
      <p:ext uri="{BB962C8B-B14F-4D97-AF65-F5344CB8AC3E}">
        <p14:creationId xmlns:p14="http://schemas.microsoft.com/office/powerpoint/2010/main" val="159694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83884" y="2509788"/>
            <a:ext cx="10332720" cy="2308324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>
                <a:latin typeface="Montserrat" pitchFamily="2" charset="0"/>
              </a:rPr>
              <a:t>Finalidade: </a:t>
            </a:r>
            <a:r>
              <a:rPr lang="pt-BR" sz="2400" dirty="0">
                <a:latin typeface="Montserrat" pitchFamily="2" charset="0"/>
              </a:rPr>
              <a:t>determinar o </a:t>
            </a:r>
            <a:r>
              <a:rPr lang="pt-BR" sz="2400" u="sng" dirty="0">
                <a:latin typeface="Montserrat" pitchFamily="2" charset="0"/>
              </a:rPr>
              <a:t>contorno</a:t>
            </a:r>
            <a:r>
              <a:rPr lang="pt-BR" sz="2400" dirty="0">
                <a:latin typeface="Montserrat" pitchFamily="2" charset="0"/>
              </a:rPr>
              <a:t>, </a:t>
            </a:r>
            <a:r>
              <a:rPr lang="pt-BR" sz="2400" u="sng" dirty="0">
                <a:latin typeface="Montserrat" pitchFamily="2" charset="0"/>
              </a:rPr>
              <a:t>dimensão</a:t>
            </a:r>
            <a:r>
              <a:rPr lang="pt-BR" sz="2400" dirty="0">
                <a:latin typeface="Montserrat" pitchFamily="2" charset="0"/>
              </a:rPr>
              <a:t> e </a:t>
            </a:r>
            <a:r>
              <a:rPr lang="pt-BR" sz="2400" u="sng" dirty="0">
                <a:latin typeface="Montserrat" pitchFamily="2" charset="0"/>
              </a:rPr>
              <a:t>posição relativa</a:t>
            </a:r>
            <a:r>
              <a:rPr lang="pt-BR" sz="2400" dirty="0">
                <a:latin typeface="Montserrat" pitchFamily="2" charset="0"/>
              </a:rPr>
              <a:t> de uma porção limitada da superfície terrestre, do fundo dos mares ou do interior de minas, desconsiderando a curvatura resultante da esfericidade da Terra. Compete ainda à Topografia, a </a:t>
            </a:r>
            <a:r>
              <a:rPr lang="pt-BR" sz="2400" u="sng" dirty="0">
                <a:latin typeface="Montserrat" pitchFamily="2" charset="0"/>
              </a:rPr>
              <a:t>locação</a:t>
            </a:r>
            <a:r>
              <a:rPr lang="pt-BR" sz="2400" dirty="0">
                <a:latin typeface="Montserrat" pitchFamily="2" charset="0"/>
              </a:rPr>
              <a:t>, no terreno, </a:t>
            </a:r>
            <a:r>
              <a:rPr lang="pt-BR" sz="2400" u="sng" dirty="0">
                <a:latin typeface="Montserrat" pitchFamily="2" charset="0"/>
              </a:rPr>
              <a:t>de projetos elaborados </a:t>
            </a:r>
            <a:r>
              <a:rPr lang="pt-BR" sz="2400" dirty="0">
                <a:latin typeface="Montserrat" pitchFamily="2" charset="0"/>
              </a:rPr>
              <a:t>de </a:t>
            </a:r>
            <a:r>
              <a:rPr lang="pt-BR" sz="2400" dirty="0" smtClean="0">
                <a:latin typeface="Montserrat" pitchFamily="2" charset="0"/>
              </a:rPr>
              <a:t>Arquitetura. </a:t>
            </a:r>
            <a:r>
              <a:rPr lang="pt-BR" sz="2400" dirty="0">
                <a:latin typeface="Montserrat" pitchFamily="2" charset="0"/>
              </a:rPr>
              <a:t>(DOMINGUES, 1979).</a:t>
            </a:r>
          </a:p>
        </p:txBody>
      </p:sp>
    </p:spTree>
    <p:extLst>
      <p:ext uri="{BB962C8B-B14F-4D97-AF65-F5344CB8AC3E}">
        <p14:creationId xmlns:p14="http://schemas.microsoft.com/office/powerpoint/2010/main" val="389491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PARA QUÊ E ONDE É USADA: </a:t>
            </a:r>
          </a:p>
          <a:p>
            <a:r>
              <a:rPr lang="pt-BR" sz="2400" dirty="0" smtClean="0">
                <a:latin typeface="Montserrat" pitchFamily="2" charset="0"/>
              </a:rPr>
              <a:t>trabalhos </a:t>
            </a:r>
            <a:r>
              <a:rPr lang="pt-BR" sz="2400" dirty="0">
                <a:latin typeface="Montserrat" pitchFamily="2" charset="0"/>
              </a:rPr>
              <a:t>de obras </a:t>
            </a:r>
            <a:r>
              <a:rPr lang="pt-BR" sz="2400" dirty="0" smtClean="0">
                <a:latin typeface="Montserrat" pitchFamily="2" charset="0"/>
              </a:rPr>
              <a:t>viárias</a:t>
            </a:r>
          </a:p>
        </p:txBody>
      </p:sp>
    </p:spTree>
    <p:extLst>
      <p:ext uri="{BB962C8B-B14F-4D97-AF65-F5344CB8AC3E}">
        <p14:creationId xmlns:p14="http://schemas.microsoft.com/office/powerpoint/2010/main" val="308065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PARA QUÊ E ONDE É USADA: </a:t>
            </a:r>
            <a:r>
              <a:rPr lang="pt-BR" sz="2400" dirty="0" smtClean="0">
                <a:latin typeface="Montserrat" pitchFamily="2" charset="0"/>
              </a:rPr>
              <a:t> </a:t>
            </a:r>
          </a:p>
          <a:p>
            <a:r>
              <a:rPr lang="pt-BR" sz="2400" dirty="0" smtClean="0">
                <a:latin typeface="Montserrat" pitchFamily="2" charset="0"/>
              </a:rPr>
              <a:t>núcleos </a:t>
            </a:r>
            <a:r>
              <a:rPr lang="pt-BR" sz="2400" dirty="0">
                <a:latin typeface="Montserrat" pitchFamily="2" charset="0"/>
              </a:rPr>
              <a:t>habitacionais, </a:t>
            </a:r>
            <a:r>
              <a:rPr lang="pt-BR" sz="2400" dirty="0" smtClean="0">
                <a:latin typeface="Montserrat" pitchFamily="2" charset="0"/>
              </a:rPr>
              <a:t>edifícios</a:t>
            </a:r>
            <a:r>
              <a:rPr lang="pt-BR" sz="2400" dirty="0">
                <a:latin typeface="Montserrat" pitchFamily="2" charset="0"/>
              </a:rPr>
              <a:t>.</a:t>
            </a:r>
            <a:r>
              <a:rPr lang="pt-BR" sz="2400" dirty="0" smtClean="0">
                <a:latin typeface="Montserrat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166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PARA QUÊ E ONDE É USADA: </a:t>
            </a:r>
            <a:r>
              <a:rPr lang="pt-BR" sz="2400" dirty="0" smtClean="0">
                <a:latin typeface="Montserrat" pitchFamily="2" charset="0"/>
              </a:rPr>
              <a:t> </a:t>
            </a:r>
          </a:p>
          <a:p>
            <a:r>
              <a:rPr lang="pt-BR" sz="2400" dirty="0" smtClean="0">
                <a:latin typeface="Montserrat" pitchFamily="2" charset="0"/>
              </a:rPr>
              <a:t>aeroportos, </a:t>
            </a:r>
          </a:p>
        </p:txBody>
      </p:sp>
    </p:spTree>
    <p:extLst>
      <p:ext uri="{BB962C8B-B14F-4D97-AF65-F5344CB8AC3E}">
        <p14:creationId xmlns:p14="http://schemas.microsoft.com/office/powerpoint/2010/main" val="40197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PARA QUÊ E ONDE É USADA: </a:t>
            </a:r>
            <a:r>
              <a:rPr lang="pt-BR" sz="2400" dirty="0" smtClean="0">
                <a:latin typeface="Montserrat" pitchFamily="2" charset="0"/>
              </a:rPr>
              <a:t> </a:t>
            </a:r>
          </a:p>
          <a:p>
            <a:r>
              <a:rPr lang="pt-BR" sz="2400" dirty="0">
                <a:latin typeface="Montserrat" pitchFamily="2" charset="0"/>
              </a:rPr>
              <a:t>usinas hidrelétricas, </a:t>
            </a:r>
          </a:p>
        </p:txBody>
      </p:sp>
    </p:spTree>
    <p:extLst>
      <p:ext uri="{BB962C8B-B14F-4D97-AF65-F5344CB8AC3E}">
        <p14:creationId xmlns:p14="http://schemas.microsoft.com/office/powerpoint/2010/main" val="122058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PARA QUÊ E ONDE É USADA: </a:t>
            </a:r>
            <a:r>
              <a:rPr lang="pt-BR" sz="2400" dirty="0" smtClean="0">
                <a:latin typeface="Montserrat" pitchFamily="2" charset="0"/>
              </a:rPr>
              <a:t> </a:t>
            </a:r>
          </a:p>
          <a:p>
            <a:r>
              <a:rPr lang="pt-BR" sz="2400" dirty="0">
                <a:latin typeface="Montserrat" pitchFamily="2" charset="0"/>
              </a:rPr>
              <a:t>telecomunicações, </a:t>
            </a:r>
          </a:p>
        </p:txBody>
      </p:sp>
    </p:spTree>
    <p:extLst>
      <p:ext uri="{BB962C8B-B14F-4D97-AF65-F5344CB8AC3E}">
        <p14:creationId xmlns:p14="http://schemas.microsoft.com/office/powerpoint/2010/main" val="3336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PARA QUÊ E ONDE É USADA: </a:t>
            </a:r>
            <a:r>
              <a:rPr lang="pt-BR" sz="2400" dirty="0" smtClean="0">
                <a:latin typeface="Montserrat" pitchFamily="2" charset="0"/>
              </a:rPr>
              <a:t> </a:t>
            </a:r>
          </a:p>
          <a:p>
            <a:r>
              <a:rPr lang="pt-BR" sz="2400" dirty="0">
                <a:latin typeface="Montserrat" pitchFamily="2" charset="0"/>
              </a:rPr>
              <a:t>sistemas de água e esgoto, </a:t>
            </a:r>
          </a:p>
        </p:txBody>
      </p:sp>
    </p:spTree>
    <p:extLst>
      <p:ext uri="{BB962C8B-B14F-4D97-AF65-F5344CB8AC3E}">
        <p14:creationId xmlns:p14="http://schemas.microsoft.com/office/powerpoint/2010/main" val="134417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PARA QUÊ E ONDE É USADA: </a:t>
            </a:r>
            <a:r>
              <a:rPr lang="pt-BR" sz="2400" dirty="0" smtClean="0">
                <a:latin typeface="Montserrat" pitchFamily="2" charset="0"/>
              </a:rPr>
              <a:t> </a:t>
            </a:r>
          </a:p>
          <a:p>
            <a:r>
              <a:rPr lang="pt-BR" sz="2400" dirty="0">
                <a:latin typeface="Montserrat" pitchFamily="2" charset="0"/>
              </a:rPr>
              <a:t>planejamento, </a:t>
            </a:r>
            <a:r>
              <a:rPr lang="pt-BR" sz="2400" dirty="0" smtClean="0">
                <a:latin typeface="Montserrat" pitchFamily="2" charset="0"/>
              </a:rPr>
              <a:t>urbanismo</a:t>
            </a:r>
            <a:r>
              <a:rPr lang="pt-BR" sz="2400" dirty="0">
                <a:latin typeface="Montserrat" pitchFamily="2" charset="0"/>
              </a:rPr>
              <a:t>, </a:t>
            </a:r>
            <a:r>
              <a:rPr lang="pt-BR" sz="2400" dirty="0" smtClean="0">
                <a:latin typeface="Montserrat" pitchFamily="2" charset="0"/>
              </a:rPr>
              <a:t>paisagismo</a:t>
            </a:r>
            <a:r>
              <a:rPr lang="pt-BR" sz="2400" dirty="0">
                <a:latin typeface="Montserrat" pitchFamily="2" charset="0"/>
              </a:rPr>
              <a:t>, </a:t>
            </a:r>
            <a:r>
              <a:rPr lang="pt-BR" sz="2400" dirty="0" smtClean="0">
                <a:latin typeface="Montserrat" pitchFamily="2" charset="0"/>
              </a:rPr>
              <a:t>irrigação</a:t>
            </a:r>
            <a:r>
              <a:rPr lang="pt-BR" sz="2400" dirty="0">
                <a:latin typeface="Montserrat" pitchFamily="2" charset="0"/>
              </a:rPr>
              <a:t>, </a:t>
            </a:r>
            <a:r>
              <a:rPr lang="pt-BR" sz="2400" dirty="0" smtClean="0">
                <a:latin typeface="Montserrat" pitchFamily="2" charset="0"/>
              </a:rPr>
              <a:t>drenagem</a:t>
            </a:r>
            <a:r>
              <a:rPr lang="pt-BR" sz="2400" dirty="0">
                <a:latin typeface="Montserrat" pitchFamily="2" charset="0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134738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FINALIDADE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PARA QUÊ E ONDE É USADA: </a:t>
            </a:r>
            <a:r>
              <a:rPr lang="pt-BR" sz="2400" dirty="0" smtClean="0">
                <a:latin typeface="Montserrat" pitchFamily="2" charset="0"/>
              </a:rPr>
              <a:t> </a:t>
            </a:r>
          </a:p>
          <a:p>
            <a:r>
              <a:rPr lang="pt-BR" sz="2400" dirty="0" smtClean="0">
                <a:latin typeface="Montserrat" pitchFamily="2" charset="0"/>
              </a:rPr>
              <a:t>Agricultura</a:t>
            </a:r>
            <a:r>
              <a:rPr lang="pt-BR" sz="2400" dirty="0">
                <a:latin typeface="Montserrat" pitchFamily="2" charset="0"/>
              </a:rPr>
              <a:t>, </a:t>
            </a:r>
            <a:r>
              <a:rPr lang="pt-BR" sz="2400" dirty="0" smtClean="0">
                <a:latin typeface="Montserrat" pitchFamily="2" charset="0"/>
              </a:rPr>
              <a:t>reflorestamento, e muito mais.</a:t>
            </a:r>
            <a:endParaRPr lang="pt-BR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52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PARA A PRÓXIMA AULA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9640" y="694402"/>
            <a:ext cx="10332720" cy="3046988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MATERIAIS PARA A PRÓXIMA AULA: (os mesmos de desenho arquitetônico)</a:t>
            </a:r>
          </a:p>
          <a:p>
            <a:pPr marL="342900" indent="-342900">
              <a:buFontTx/>
              <a:buChar char="-"/>
            </a:pPr>
            <a:endParaRPr lang="pt-BR" sz="2400" dirty="0" smtClean="0">
              <a:latin typeface="Montserrat" pitchFamily="2" charset="0"/>
            </a:endParaRPr>
          </a:p>
          <a:p>
            <a:pPr marL="342900" indent="-342900">
              <a:buFontTx/>
              <a:buChar char="-"/>
            </a:pPr>
            <a:r>
              <a:rPr lang="pt-BR" sz="2400" dirty="0" smtClean="0">
                <a:latin typeface="Montserrat" pitchFamily="2" charset="0"/>
              </a:rPr>
              <a:t>Lapiseira;</a:t>
            </a:r>
          </a:p>
          <a:p>
            <a:pPr marL="342900" indent="-342900">
              <a:buFontTx/>
              <a:buChar char="-"/>
            </a:pPr>
            <a:r>
              <a:rPr lang="pt-BR" sz="2400" dirty="0" err="1" smtClean="0">
                <a:latin typeface="Montserrat" pitchFamily="2" charset="0"/>
              </a:rPr>
              <a:t>Escalímetro</a:t>
            </a:r>
            <a:r>
              <a:rPr lang="pt-BR" sz="2400" dirty="0" smtClean="0">
                <a:latin typeface="Montserrat" pitchFamily="2" charset="0"/>
              </a:rPr>
              <a:t>;</a:t>
            </a:r>
          </a:p>
          <a:p>
            <a:pPr marL="342900" indent="-342900">
              <a:buFontTx/>
              <a:buChar char="-"/>
            </a:pPr>
            <a:r>
              <a:rPr lang="pt-BR" sz="2400" dirty="0" smtClean="0">
                <a:latin typeface="Montserrat" pitchFamily="2" charset="0"/>
              </a:rPr>
              <a:t>Par de esquadros;</a:t>
            </a:r>
          </a:p>
          <a:p>
            <a:pPr marL="342900" indent="-342900">
              <a:buFontTx/>
              <a:buChar char="-"/>
            </a:pPr>
            <a:r>
              <a:rPr lang="pt-BR" sz="2400" dirty="0" smtClean="0">
                <a:latin typeface="Montserrat" pitchFamily="2" charset="0"/>
              </a:rPr>
              <a:t>Transferidor;</a:t>
            </a:r>
          </a:p>
          <a:p>
            <a:pPr marL="342900" indent="-342900">
              <a:buFontTx/>
              <a:buChar char="-"/>
            </a:pPr>
            <a:r>
              <a:rPr lang="pt-BR" sz="2400" dirty="0" smtClean="0">
                <a:latin typeface="Montserrat" pitchFamily="2" charset="0"/>
              </a:rPr>
              <a:t>Folhas A4; (pode ser em papel </a:t>
            </a:r>
            <a:r>
              <a:rPr lang="pt-BR" sz="2400" dirty="0" err="1" smtClean="0">
                <a:latin typeface="Montserrat" pitchFamily="2" charset="0"/>
              </a:rPr>
              <a:t>milimetrado</a:t>
            </a:r>
            <a:r>
              <a:rPr lang="pt-BR" sz="2400" dirty="0" smtClean="0">
                <a:latin typeface="Montserrat" pitchFamily="2" charset="0"/>
              </a:rPr>
              <a:t> ou sem linhas)</a:t>
            </a:r>
            <a:endParaRPr lang="pt-BR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30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16147</TotalTime>
  <Words>956</Words>
  <Application>Microsoft Office PowerPoint</Application>
  <PresentationFormat>Widescreen</PresentationFormat>
  <Paragraphs>196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Montserrat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Britto</dc:creator>
  <cp:lastModifiedBy>Marcos Britto</cp:lastModifiedBy>
  <cp:revision>261</cp:revision>
  <cp:lastPrinted>2023-03-07T20:52:12Z</cp:lastPrinted>
  <dcterms:created xsi:type="dcterms:W3CDTF">2022-12-27T23:36:38Z</dcterms:created>
  <dcterms:modified xsi:type="dcterms:W3CDTF">2024-02-19T22:01:23Z</dcterms:modified>
</cp:coreProperties>
</file>