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notesSlides/_rels/notesSlide22.xml.rels" ContentType="application/vnd.openxmlformats-package.relationships+xml"/>
  <Override PartName="/ppt/notesSlides/_rels/notesSlide25.xml.rels" ContentType="application/vnd.openxmlformats-package.relationships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Layouts/slideLayout5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5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60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54.xml" ContentType="application/vnd.openxmlformats-officedocument.presentationml.slide+xml"/>
  <Override PartName="/ppt/slides/slide11.xml" ContentType="application/vnd.openxmlformats-officedocument.presentationml.slide+xml"/>
  <Override PartName="/ppt/slides/slide33.xml" ContentType="application/vnd.openxmlformats-officedocument.presentationml.slide+xml"/>
  <Override PartName="/ppt/slides/slide55.xml" ContentType="application/vnd.openxmlformats-officedocument.presentationml.slide+xml"/>
  <Override PartName="/ppt/slides/slide12.xml" ContentType="application/vnd.openxmlformats-officedocument.presentationml.slide+xml"/>
  <Override PartName="/ppt/slides/slide34.xml" ContentType="application/vnd.openxmlformats-officedocument.presentationml.slide+xml"/>
  <Override PartName="/ppt/slides/slide56.xml" ContentType="application/vnd.openxmlformats-officedocument.presentationml.slide+xml"/>
  <Override PartName="/ppt/slides/slide13.xml" ContentType="application/vnd.openxmlformats-officedocument.presentationml.slide+xml"/>
  <Override PartName="/ppt/slides/slide35.xml" ContentType="application/vnd.openxmlformats-officedocument.presentationml.slide+xml"/>
  <Override PartName="/ppt/slides/slide57.xml" ContentType="application/vnd.openxmlformats-officedocument.presentationml.slide+xml"/>
  <Override PartName="/ppt/slides/slide14.xml" ContentType="application/vnd.openxmlformats-officedocument.presentationml.slide+xml"/>
  <Override PartName="/ppt/slides/slide36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37.xml" ContentType="application/vnd.openxmlformats-officedocument.presentationml.slide+xml"/>
  <Override PartName="/ppt/slides/slide59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17.xml" ContentType="application/vnd.openxmlformats-officedocument.presentationml.slide+xml"/>
  <Override PartName="/ppt/slides/slide39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4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54.xml.rels" ContentType="application/vnd.openxmlformats-package.relationships+xml"/>
  <Override PartName="/ppt/slides/_rels/slide32.xml.rels" ContentType="application/vnd.openxmlformats-package.relationships+xml"/>
  <Override PartName="/ppt/slides/_rels/slide10.xml.rels" ContentType="application/vnd.openxmlformats-package.relationships+xml"/>
  <Override PartName="/ppt/slides/_rels/slide55.xml.rels" ContentType="application/vnd.openxmlformats-package.relationships+xml"/>
  <Override PartName="/ppt/slides/_rels/slide33.xml.rels" ContentType="application/vnd.openxmlformats-package.relationships+xml"/>
  <Override PartName="/ppt/slides/_rels/slide11.xml.rels" ContentType="application/vnd.openxmlformats-package.relationships+xml"/>
  <Override PartName="/ppt/slides/_rels/slide56.xml.rels" ContentType="application/vnd.openxmlformats-package.relationships+xml"/>
  <Override PartName="/ppt/slides/_rels/slide34.xml.rels" ContentType="application/vnd.openxmlformats-package.relationships+xml"/>
  <Override PartName="/ppt/slides/_rels/slide12.xml.rels" ContentType="application/vnd.openxmlformats-package.relationships+xml"/>
  <Override PartName="/ppt/slides/_rels/slide57.xml.rels" ContentType="application/vnd.openxmlformats-package.relationships+xml"/>
  <Override PartName="/ppt/slides/_rels/slide35.xml.rels" ContentType="application/vnd.openxmlformats-package.relationships+xml"/>
  <Override PartName="/ppt/slides/_rels/slide13.xml.rels" ContentType="application/vnd.openxmlformats-package.relationships+xml"/>
  <Override PartName="/ppt/slides/_rels/slide58.xml.rels" ContentType="application/vnd.openxmlformats-package.relationships+xml"/>
  <Override PartName="/ppt/slides/_rels/slide36.xml.rels" ContentType="application/vnd.openxmlformats-package.relationships+xml"/>
  <Override PartName="/ppt/slides/_rels/slide14.xml.rels" ContentType="application/vnd.openxmlformats-package.relationships+xml"/>
  <Override PartName="/ppt/slides/_rels/slide59.xml.rels" ContentType="application/vnd.openxmlformats-package.relationships+xml"/>
  <Override PartName="/ppt/slides/_rels/slide37.xml.rels" ContentType="application/vnd.openxmlformats-package.relationships+xml"/>
  <Override PartName="/ppt/slides/_rels/slide15.xml.rels" ContentType="application/vnd.openxmlformats-package.relationships+xml"/>
  <Override PartName="/ppt/slides/_rels/slide38.xml.rels" ContentType="application/vnd.openxmlformats-package.relationships+xml"/>
  <Override PartName="/ppt/slides/_rels/slide16.xml.rels" ContentType="application/vnd.openxmlformats-package.relationships+xml"/>
  <Override PartName="/ppt/slides/_rels/slide39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42.xml.rels" ContentType="application/vnd.openxmlformats-package.relationships+xml"/>
  <Override PartName="/ppt/slides/_rels/slide20.xml.rels" ContentType="application/vnd.openxmlformats-package.relationships+xml"/>
  <Override PartName="/ppt/slides/_rels/slide43.xml.rels" ContentType="application/vnd.openxmlformats-package.relationships+xml"/>
  <Override PartName="/ppt/slides/_rels/slide21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45.xml.rels" ContentType="application/vnd.openxmlformats-package.relationships+xml"/>
  <Override PartName="/ppt/slides/_rels/slide23.xml.rels" ContentType="application/vnd.openxmlformats-package.relationships+xml"/>
  <Override PartName="/ppt/slides/_rels/slide46.xml.rels" ContentType="application/vnd.openxmlformats-package.relationships+xml"/>
  <Override PartName="/ppt/slides/_rels/slide24.xml.rels" ContentType="application/vnd.openxmlformats-package.relationships+xml"/>
  <Override PartName="/ppt/slides/_rels/slide47.xml.rels" ContentType="application/vnd.openxmlformats-package.relationships+xml"/>
  <Override PartName="/ppt/slides/_rels/slide25.xml.rels" ContentType="application/vnd.openxmlformats-package.relationships+xml"/>
  <Override PartName="/ppt/slides/_rels/slide48.xml.rels" ContentType="application/vnd.openxmlformats-package.relationships+xml"/>
  <Override PartName="/ppt/slides/_rels/slide26.xml.rels" ContentType="application/vnd.openxmlformats-package.relationships+xml"/>
  <Override PartName="/ppt/slides/_rels/slide4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52.xml.rels" ContentType="application/vnd.openxmlformats-package.relationships+xml"/>
  <Override PartName="/ppt/slides/_rels/slide30.xml.rels" ContentType="application/vnd.openxmlformats-package.relationships+xml"/>
  <Override PartName="/ppt/slides/_rels/slide53.xml.rels" ContentType="application/vnd.openxmlformats-package.relationships+xml"/>
  <Override PartName="/ppt/slides/_rels/slide31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slide21.xml" ContentType="application/vnd.openxmlformats-officedocument.presentationml.slide+xml"/>
  <Override PartName="/ppt/slides/slide43.xml" ContentType="application/vnd.openxmlformats-officedocument.presentationml.slide+xml"/>
  <Override PartName="/ppt/slides/slide22.xml" ContentType="application/vnd.openxmlformats-officedocument.presentationml.slide+xml"/>
  <Override PartName="/ppt/slides/slide44.xml" ContentType="application/vnd.openxmlformats-officedocument.presentationml.slide+xml"/>
  <Override PartName="/ppt/slides/slide23.xml" ContentType="application/vnd.openxmlformats-officedocument.presentationml.slide+xml"/>
  <Override PartName="/ppt/slides/slide45.xml" ContentType="application/vnd.openxmlformats-officedocument.presentationml.slide+xml"/>
  <Override PartName="/ppt/slides/slide24.xml" ContentType="application/vnd.openxmlformats-officedocument.presentationml.slide+xml"/>
  <Override PartName="/ppt/slides/slide46.xml" ContentType="application/vnd.openxmlformats-officedocument.presentationml.slide+xml"/>
  <Override PartName="/ppt/slides/slide25.xml" ContentType="application/vnd.openxmlformats-officedocument.presentationml.slide+xml"/>
  <Override PartName="/ppt/slides/slide47.xml" ContentType="application/vnd.openxmlformats-officedocument.presentationml.slide+xml"/>
  <Override PartName="/ppt/slides/slide26.xml" ContentType="application/vnd.openxmlformats-officedocument.presentationml.slide+xml"/>
  <Override PartName="/ppt/slides/slide48.xml" ContentType="application/vnd.openxmlformats-officedocument.presentationml.slide+xml"/>
  <Override PartName="/ppt/slides/slide27.xml" ContentType="application/vnd.openxmlformats-officedocument.presentationml.slide+xml"/>
  <Override PartName="/ppt/slides/slide49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52.xml" ContentType="application/vnd.openxmlformats-officedocument.presentationml.slide+xml"/>
  <Override PartName="/ppt/slides/slide31.xml" ContentType="application/vnd.openxmlformats-officedocument.presentationml.slide+xml"/>
  <Override PartName="/ppt/slides/slide53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media/image1.png" ContentType="image/png"/>
  <Override PartName="/ppt/media/image36.png" ContentType="image/png"/>
  <Override PartName="/ppt/media/image13.jpeg" ContentType="image/jpeg"/>
  <Override PartName="/ppt/media/image9.png" ContentType="image/png"/>
  <Override PartName="/ppt/media/image8.jpeg" ContentType="image/jpeg"/>
  <Override PartName="/ppt/media/image2.png" ContentType="image/png"/>
  <Override PartName="/ppt/media/image19.jpeg" ContentType="image/jpeg"/>
  <Override PartName="/ppt/media/image3.png" ContentType="image/png"/>
  <Override PartName="/ppt/media/image4.png" ContentType="image/png"/>
  <Override PartName="/ppt/media/image29.jpeg" ContentType="image/jpeg"/>
  <Override PartName="/ppt/media/image5.png" ContentType="image/png"/>
  <Override PartName="/ppt/media/image32.png" ContentType="image/png"/>
  <Override PartName="/ppt/media/image6.png" ContentType="image/png"/>
  <Override PartName="/ppt/media/image27.jpeg" ContentType="image/jpeg"/>
  <Override PartName="/ppt/media/image7.png" ContentType="image/png"/>
  <Override PartName="/ppt/media/image34.png" ContentType="image/png"/>
  <Override PartName="/ppt/media/image10.jpeg" ContentType="image/jpeg"/>
  <Override PartName="/ppt/media/image11.jpeg" ContentType="image/jpeg"/>
  <Override PartName="/ppt/media/image16.png" ContentType="image/png"/>
  <Override PartName="/ppt/media/image33.jpeg" ContentType="image/jpeg"/>
  <Override PartName="/ppt/media/image38.png" ContentType="image/png"/>
  <Override PartName="/ppt/media/image12.jpeg" ContentType="image/jpeg"/>
  <Override PartName="/ppt/media/image14.jpeg" ContentType="image/jpeg"/>
  <Override PartName="/ppt/media/image15.png" ContentType="image/png"/>
  <Override PartName="/ppt/media/image23.jpeg" ContentType="image/jpeg"/>
  <Override PartName="/ppt/media/image37.png" ContentType="image/png"/>
  <Override PartName="/ppt/media/image17.png" ContentType="image/png"/>
  <Override PartName="/ppt/media/image21.jpeg" ContentType="image/jpeg"/>
  <Override PartName="/ppt/media/image39.png" ContentType="image/png"/>
  <Override PartName="/ppt/media/image18.png" ContentType="image/png"/>
  <Override PartName="/ppt/media/image31.jpeg" ContentType="image/jpeg"/>
  <Override PartName="/ppt/media/image20.jpeg" ContentType="image/jpeg"/>
  <Override PartName="/ppt/media/image22.png" ContentType="image/png"/>
  <Override PartName="/ppt/media/image44.png" ContentType="image/png"/>
  <Override PartName="/ppt/media/image24.jpeg" ContentType="image/jpeg"/>
  <Override PartName="/ppt/media/image25.jpeg" ContentType="image/jpeg"/>
  <Override PartName="/ppt/media/image35.png" ContentType="image/png"/>
  <Override PartName="/ppt/media/image26.jpeg" ContentType="image/jpeg"/>
  <Override PartName="/ppt/media/image45.png" ContentType="image/png"/>
  <Override PartName="/ppt/media/image28.jpeg" ContentType="image/jpeg"/>
  <Override PartName="/ppt/media/image43.png" ContentType="image/png"/>
  <Override PartName="/ppt/media/image30.jpeg" ContentType="image/jpeg"/>
  <Override PartName="/ppt/media/image40.png" ContentType="image/png"/>
  <Override PartName="/ppt/media/image41.png" ContentType="image/png"/>
  <Override PartName="/ppt/media/image42.png" ContentType="image/png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2000" cy="6858000"/>
  <p:notesSz cx="7099300" cy="102235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EBF7E71-1165-4E06-90FE-C54FB7E6790A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-18484920" y="-13188960"/>
            <a:ext cx="24680520" cy="1388376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709560" y="4856040"/>
            <a:ext cx="560196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-18484920" y="-13188960"/>
            <a:ext cx="24680520" cy="1388376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709560" y="4856040"/>
            <a:ext cx="560196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922320" y="635040"/>
            <a:ext cx="10347120" cy="304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42080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91928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92232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442080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791928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922320" y="635040"/>
            <a:ext cx="10347120" cy="304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442080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791928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92232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442080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791928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ubTitle"/>
          </p:nvPr>
        </p:nvSpPr>
        <p:spPr>
          <a:xfrm>
            <a:off x="922320" y="635040"/>
            <a:ext cx="10347120" cy="304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442080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/>
          </p:nvPr>
        </p:nvSpPr>
        <p:spPr>
          <a:xfrm>
            <a:off x="791928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/>
          </p:nvPr>
        </p:nvSpPr>
        <p:spPr>
          <a:xfrm>
            <a:off x="92232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/>
          </p:nvPr>
        </p:nvSpPr>
        <p:spPr>
          <a:xfrm>
            <a:off x="442080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18" name="PlaceHolder 7"/>
          <p:cNvSpPr>
            <a:spLocks noGrp="1"/>
          </p:cNvSpPr>
          <p:nvPr>
            <p:ph/>
          </p:nvPr>
        </p:nvSpPr>
        <p:spPr>
          <a:xfrm>
            <a:off x="791928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ubTitle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ubTitle"/>
          </p:nvPr>
        </p:nvSpPr>
        <p:spPr>
          <a:xfrm>
            <a:off x="922320" y="635040"/>
            <a:ext cx="10347120" cy="304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0" name="PlaceHolder 5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42080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791928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/>
          </p:nvPr>
        </p:nvSpPr>
        <p:spPr>
          <a:xfrm>
            <a:off x="92232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6" name="PlaceHolder 6"/>
          <p:cNvSpPr>
            <a:spLocks noGrp="1"/>
          </p:cNvSpPr>
          <p:nvPr>
            <p:ph/>
          </p:nvPr>
        </p:nvSpPr>
        <p:spPr>
          <a:xfrm>
            <a:off x="442080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57" name="PlaceHolder 7"/>
          <p:cNvSpPr>
            <a:spLocks noGrp="1"/>
          </p:cNvSpPr>
          <p:nvPr>
            <p:ph/>
          </p:nvPr>
        </p:nvSpPr>
        <p:spPr>
          <a:xfrm>
            <a:off x="791928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ubTitle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ubTitle"/>
          </p:nvPr>
        </p:nvSpPr>
        <p:spPr>
          <a:xfrm>
            <a:off x="922320" y="635040"/>
            <a:ext cx="10347120" cy="304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441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922320" y="4115520"/>
            <a:ext cx="1034712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/>
          </p:nvPr>
        </p:nvSpPr>
        <p:spPr>
          <a:xfrm>
            <a:off x="6224400" y="181116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/>
          </p:nvPr>
        </p:nvSpPr>
        <p:spPr>
          <a:xfrm>
            <a:off x="92232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89" name="PlaceHolder 5"/>
          <p:cNvSpPr>
            <a:spLocks noGrp="1"/>
          </p:cNvSpPr>
          <p:nvPr>
            <p:ph/>
          </p:nvPr>
        </p:nvSpPr>
        <p:spPr>
          <a:xfrm>
            <a:off x="6224400" y="4115520"/>
            <a:ext cx="504936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92232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42080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7919280" y="181116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92232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/>
          </p:nvPr>
        </p:nvSpPr>
        <p:spPr>
          <a:xfrm>
            <a:off x="442080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196" name="PlaceHolder 7"/>
          <p:cNvSpPr>
            <a:spLocks noGrp="1"/>
          </p:cNvSpPr>
          <p:nvPr>
            <p:ph/>
          </p:nvPr>
        </p:nvSpPr>
        <p:spPr>
          <a:xfrm>
            <a:off x="7919280" y="4115520"/>
            <a:ext cx="3331440" cy="210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5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10"/>
          <p:cNvSpPr/>
          <p:nvPr/>
        </p:nvSpPr>
        <p:spPr>
          <a:xfrm>
            <a:off x="8277120" y="5619600"/>
            <a:ext cx="2999880" cy="137880"/>
          </a:xfrm>
          <a:prstGeom prst="rect">
            <a:avLst/>
          </a:prstGeom>
          <a:solidFill>
            <a:srgbClr val="4ecd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buNone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</a:rPr>
              <a:t>Clique para editar o formato de texto dos tópicos</a:t>
            </a: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0"/>
          <p:cNvSpPr/>
          <p:nvPr/>
        </p:nvSpPr>
        <p:spPr>
          <a:xfrm>
            <a:off x="1084320" y="1506600"/>
            <a:ext cx="2044440" cy="137880"/>
          </a:xfrm>
          <a:prstGeom prst="rect">
            <a:avLst/>
          </a:prstGeom>
          <a:solidFill>
            <a:srgbClr val="4ecd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0" y="0"/>
            <a:ext cx="183960" cy="6857640"/>
          </a:xfrm>
          <a:prstGeom prst="rect">
            <a:avLst/>
          </a:prstGeom>
          <a:solidFill>
            <a:srgbClr val="f670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buNone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</a:rPr>
              <a:t>Clique para editar o formato de texto dos tópicos</a:t>
            </a: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41"/>
          <p:cNvSpPr/>
          <p:nvPr/>
        </p:nvSpPr>
        <p:spPr>
          <a:xfrm>
            <a:off x="0" y="0"/>
            <a:ext cx="183960" cy="6857640"/>
          </a:xfrm>
          <a:prstGeom prst="rect">
            <a:avLst/>
          </a:prstGeom>
          <a:solidFill>
            <a:srgbClr val="f670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80" name="Shape 42"/>
          <p:cNvSpPr/>
          <p:nvPr/>
        </p:nvSpPr>
        <p:spPr>
          <a:xfrm>
            <a:off x="1084320" y="1506600"/>
            <a:ext cx="2044440" cy="137880"/>
          </a:xfrm>
          <a:prstGeom prst="rect">
            <a:avLst/>
          </a:prstGeom>
          <a:solidFill>
            <a:srgbClr val="4ecd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buNone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</a:rPr>
              <a:t>Clique para editar o formato de texto dos tópicos</a:t>
            </a: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2"/>
          <p:cNvSpPr/>
          <p:nvPr/>
        </p:nvSpPr>
        <p:spPr>
          <a:xfrm>
            <a:off x="7574040" y="0"/>
            <a:ext cx="461772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buNone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</a:rPr>
              <a:t>Clique para editar o formato de texto dos tópicos</a:t>
            </a: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48"/>
          <p:cNvSpPr/>
          <p:nvPr/>
        </p:nvSpPr>
        <p:spPr>
          <a:xfrm>
            <a:off x="0" y="6719760"/>
            <a:ext cx="12191760" cy="137880"/>
          </a:xfrm>
          <a:prstGeom prst="rect">
            <a:avLst/>
          </a:prstGeom>
          <a:solidFill>
            <a:srgbClr val="f670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68400" bIns="68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buNone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922320" y="1811160"/>
            <a:ext cx="10347120" cy="4411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</a:rPr>
              <a:t>Clique para editar o formato de texto dos tópicos</a:t>
            </a:r>
            <a:endParaRPr b="0" lang="pt-BR" sz="1000" spc="-1" strike="noStrike">
              <a:solidFill>
                <a:srgbClr val="000000"/>
              </a:solidFill>
              <a:latin typeface="Roboto Condensed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2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2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2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26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2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0.jpeg"/><Relationship Id="rId2" Type="http://schemas.openxmlformats.org/officeDocument/2006/relationships/slideLayout" Target="../slideLayouts/slideLayout26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1.jpeg"/><Relationship Id="rId2" Type="http://schemas.openxmlformats.org/officeDocument/2006/relationships/slideLayout" Target="../slideLayouts/slideLayout26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26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slideLayout" Target="../slideLayouts/slideLayout26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jpeg"/><Relationship Id="rId2" Type="http://schemas.openxmlformats.org/officeDocument/2006/relationships/slideLayout" Target="../slideLayouts/slideLayout26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slideLayout" Target="../slideLayouts/slideLayout26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slideLayout" Target="../slideLayouts/slideLayout26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slideLayout" Target="../slideLayouts/slideLayout2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8.jpeg"/><Relationship Id="rId2" Type="http://schemas.openxmlformats.org/officeDocument/2006/relationships/image" Target="../media/image29.jpeg"/><Relationship Id="rId3" Type="http://schemas.openxmlformats.org/officeDocument/2006/relationships/slideLayout" Target="../slideLayouts/slideLayout26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0.jpeg"/><Relationship Id="rId2" Type="http://schemas.openxmlformats.org/officeDocument/2006/relationships/slideLayout" Target="../slideLayouts/slideLayout26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slideLayout" Target="../slideLayouts/slideLayout26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jpeg"/><Relationship Id="rId3" Type="http://schemas.openxmlformats.org/officeDocument/2006/relationships/slideLayout" Target="../slideLayouts/slideLayout26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6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6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6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6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6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26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26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26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slideLayout" Target="../slideLayouts/slideLayout2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26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26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664240" y="3016080"/>
            <a:ext cx="5611320" cy="24062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4000" spc="-1" strike="noStrike">
                <a:solidFill>
                  <a:schemeClr val="lt1"/>
                </a:solidFill>
                <a:latin typeface="Roboto Condensed"/>
                <a:ea typeface="Montserrat"/>
              </a:rPr>
              <a:t>Movimentação de Terra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aixaDeTexto 2"/>
          <p:cNvSpPr/>
          <p:nvPr/>
        </p:nvSpPr>
        <p:spPr>
          <a:xfrm>
            <a:off x="8832960" y="5805360"/>
            <a:ext cx="325188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chemeClr val="lt1"/>
                </a:solidFill>
                <a:latin typeface="Roboto Condensed"/>
                <a:ea typeface="Arial"/>
              </a:rPr>
              <a:t>Fernando Ferraz Ribeiro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Num" idx="4"/>
          </p:nvPr>
        </p:nvSpPr>
        <p:spPr>
          <a:xfrm>
            <a:off x="8077320" y="6353280"/>
            <a:ext cx="2109600" cy="36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pt-BR" sz="1400" spc="-1" strike="noStrike">
                <a:solidFill>
                  <a:schemeClr val="dk1"/>
                </a:solidFill>
                <a:latin typeface="Roboto Condensed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2C7CF7-85D2-4307-9B01-CD050ACBBC9B}" type="slidenum">
              <a:rPr b="1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Estrutura da Aula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Box 2"/>
          <p:cNvSpPr/>
          <p:nvPr/>
        </p:nvSpPr>
        <p:spPr>
          <a:xfrm>
            <a:off x="1055520" y="1609560"/>
            <a:ext cx="10872360" cy="47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1.0. Conceitos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2.0. Terraplenagem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3.0.Tipos de Talude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4.0. Determinação de linhas de offset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5.0. Cálculo de volume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Num" idx="5"/>
          </p:nvPr>
        </p:nvSpPr>
        <p:spPr>
          <a:xfrm>
            <a:off x="8077320" y="6353280"/>
            <a:ext cx="2109600" cy="36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800" spc="-1" strike="noStrike">
                <a:solidFill>
                  <a:schemeClr val="dk1"/>
                </a:solidFill>
                <a:latin typeface="Roboto Condensed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5E8AA7-D89C-4DA7-AEF5-C27A7707908C}" type="slidenum">
              <a:rPr b="0" lang="pt-BR" sz="1800" spc="-1" strike="noStrike">
                <a:solidFill>
                  <a:schemeClr val="dk1"/>
                </a:solidFill>
                <a:latin typeface="Roboto Condensed"/>
                <a:ea typeface="Arial"/>
              </a:rPr>
              <a:t>&lt;número&gt;</a:t>
            </a:fld>
            <a:endParaRPr b="0" lang="pt-BR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/>
          </p:nvPr>
        </p:nvSpPr>
        <p:spPr>
          <a:xfrm>
            <a:off x="922320" y="2133720"/>
            <a:ext cx="10693080" cy="30952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57200" indent="-457200"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pt-BR" sz="2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Entender os fundamentos de projeto e execução relacionados à movimentação de terra.</a:t>
            </a:r>
            <a:endParaRPr b="0" lang="pt-BR" sz="2800" spc="-1" strike="noStrike">
              <a:solidFill>
                <a:srgbClr val="000000"/>
              </a:solidFill>
              <a:latin typeface="Roboto Condensed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Objetivo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2209680" y="3863880"/>
            <a:ext cx="4505040" cy="190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9600" spc="-1" strike="noStrike">
                <a:solidFill>
                  <a:schemeClr val="lt1"/>
                </a:solidFill>
                <a:latin typeface="Roboto Condensed"/>
                <a:ea typeface="Montserrat"/>
              </a:rPr>
              <a:t>1.</a:t>
            </a:r>
            <a:br>
              <a:rPr sz="9600"/>
            </a:br>
            <a:r>
              <a:rPr b="1" lang="pt-BR" sz="5400" spc="-1" strike="noStrike">
                <a:solidFill>
                  <a:schemeClr val="lt1"/>
                </a:solidFill>
                <a:latin typeface="Roboto Condensed"/>
                <a:ea typeface="Montserrat"/>
              </a:rPr>
              <a:t>Conceitos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CaixaDeTexto 6"/>
          <p:cNvSpPr/>
          <p:nvPr/>
        </p:nvSpPr>
        <p:spPr>
          <a:xfrm>
            <a:off x="922320" y="1841400"/>
            <a:ext cx="10573920" cy="42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Movimentação de Terra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Conjunto de operações que tem por objeto alterações da conformação topográfica original do terreno, incluindo as operações de: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escavação;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carga;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transporte;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descarga;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compactação.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aixaDeTexto 6"/>
          <p:cNvSpPr/>
          <p:nvPr/>
        </p:nvSpPr>
        <p:spPr>
          <a:xfrm>
            <a:off x="1055520" y="3068640"/>
            <a:ext cx="1057392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A esse conjunto de operações damos o nome de </a:t>
            </a:r>
            <a:r>
              <a:rPr b="1" lang="pt-BR" sz="32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terraplenagem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. Apesar de não ser preferencial admite-se a variante do termo terraplanagem.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CaixaDeTexto 6"/>
          <p:cNvSpPr/>
          <p:nvPr/>
        </p:nvSpPr>
        <p:spPr>
          <a:xfrm>
            <a:off x="1055520" y="2133720"/>
            <a:ext cx="10573920" cy="41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Preparação do terreno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Em geral a terraplenagem é precedida por uma etapa inicial de preparo que consiste nas seguintes atividades: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Desmatamento: Retirada da vegetação de grande porte;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Destocamento: Retirada dos tocos;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Limpeza: Retirada da vegetação rasteira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Remoção de camada vegetal: Retirada da camada de solo que não pode ser utilizada em aterros.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3" name="Imagem 4" descr="Diagrama, Desenho técnico&#10;&#10;Descrição gerada automaticamente"/>
          <p:cNvPicPr/>
          <p:nvPr/>
        </p:nvPicPr>
        <p:blipFill>
          <a:blip r:embed="rId1"/>
          <a:stretch/>
        </p:blipFill>
        <p:spPr>
          <a:xfrm>
            <a:off x="2529000" y="2781360"/>
            <a:ext cx="7133760" cy="2676240"/>
          </a:xfrm>
          <a:prstGeom prst="rect">
            <a:avLst/>
          </a:prstGeom>
          <a:ln w="0">
            <a:noFill/>
          </a:ln>
        </p:spPr>
      </p:pic>
      <p:sp>
        <p:nvSpPr>
          <p:cNvPr id="224" name="CaixaDeTexto 9"/>
          <p:cNvSpPr/>
          <p:nvPr/>
        </p:nvSpPr>
        <p:spPr>
          <a:xfrm>
            <a:off x="1415880" y="6372360"/>
            <a:ext cx="21585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Adaptado de 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CaixaDeTexto 11"/>
          <p:cNvSpPr/>
          <p:nvPr/>
        </p:nvSpPr>
        <p:spPr>
          <a:xfrm>
            <a:off x="1055520" y="1897200"/>
            <a:ext cx="237600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Seção de Corte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CaixaDeTexto 9"/>
          <p:cNvSpPr/>
          <p:nvPr/>
        </p:nvSpPr>
        <p:spPr>
          <a:xfrm>
            <a:off x="968400" y="6573960"/>
            <a:ext cx="21603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Linha Verde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Imagem 2" descr="Estrada com árvores ao fundo&#10;&#10;Descrição gerada automaticamente"/>
          <p:cNvPicPr/>
          <p:nvPr/>
        </p:nvPicPr>
        <p:blipFill>
          <a:blip r:embed="rId1"/>
          <a:srcRect l="1352" t="13011" r="12167" b="14124"/>
          <a:stretch/>
        </p:blipFill>
        <p:spPr>
          <a:xfrm>
            <a:off x="968400" y="1805040"/>
            <a:ext cx="9577080" cy="4519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aixaDeTexto 8"/>
          <p:cNvSpPr/>
          <p:nvPr/>
        </p:nvSpPr>
        <p:spPr>
          <a:xfrm>
            <a:off x="1415880" y="6372360"/>
            <a:ext cx="21585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Adaptado de 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Imagem 3" descr="Diagrama, Desenho técnico&#10;&#10;Descrição gerada automaticamente"/>
          <p:cNvPicPr/>
          <p:nvPr/>
        </p:nvPicPr>
        <p:blipFill>
          <a:blip r:embed="rId1"/>
          <a:stretch/>
        </p:blipFill>
        <p:spPr>
          <a:xfrm>
            <a:off x="2028960" y="2776680"/>
            <a:ext cx="8027640" cy="3323880"/>
          </a:xfrm>
          <a:prstGeom prst="rect">
            <a:avLst/>
          </a:prstGeom>
          <a:ln w="0">
            <a:noFill/>
          </a:ln>
        </p:spPr>
      </p:pic>
      <p:sp>
        <p:nvSpPr>
          <p:cNvPr id="234" name="CaixaDeTexto 9"/>
          <p:cNvSpPr/>
          <p:nvPr/>
        </p:nvSpPr>
        <p:spPr>
          <a:xfrm>
            <a:off x="954000" y="2027160"/>
            <a:ext cx="21585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Seção de Aterro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CaixaDeTexto 8"/>
          <p:cNvSpPr/>
          <p:nvPr/>
        </p:nvSpPr>
        <p:spPr>
          <a:xfrm>
            <a:off x="1415880" y="6372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BA 878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8" name="Imagem 2" descr="Estrada com carros&#10;&#10;Descrição gerada automaticamente"/>
          <p:cNvPicPr/>
          <p:nvPr/>
        </p:nvPicPr>
        <p:blipFill>
          <a:blip r:embed="rId1"/>
          <a:srcRect l="1543" t="14936" r="7436" b="15071"/>
          <a:stretch/>
        </p:blipFill>
        <p:spPr>
          <a:xfrm>
            <a:off x="1114560" y="1800360"/>
            <a:ext cx="9962640" cy="428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Imagem 2" descr="Diagrama&#10;&#10;Descrição gerada automaticamente"/>
          <p:cNvPicPr/>
          <p:nvPr/>
        </p:nvPicPr>
        <p:blipFill>
          <a:blip r:embed="rId1"/>
          <a:stretch/>
        </p:blipFill>
        <p:spPr>
          <a:xfrm>
            <a:off x="2368440" y="2424240"/>
            <a:ext cx="7454520" cy="3847680"/>
          </a:xfrm>
          <a:prstGeom prst="rect">
            <a:avLst/>
          </a:prstGeom>
          <a:ln w="0">
            <a:noFill/>
          </a:ln>
        </p:spPr>
      </p:pic>
      <p:sp>
        <p:nvSpPr>
          <p:cNvPr id="242" name="CaixaDeTexto 4"/>
          <p:cNvSpPr/>
          <p:nvPr/>
        </p:nvSpPr>
        <p:spPr>
          <a:xfrm>
            <a:off x="1415880" y="6372360"/>
            <a:ext cx="21585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Adaptado de 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CaixaDeTexto 5"/>
          <p:cNvSpPr/>
          <p:nvPr/>
        </p:nvSpPr>
        <p:spPr>
          <a:xfrm>
            <a:off x="1022400" y="1797120"/>
            <a:ext cx="1472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Seção Mista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aixaDeTexto 4"/>
          <p:cNvSpPr/>
          <p:nvPr/>
        </p:nvSpPr>
        <p:spPr>
          <a:xfrm>
            <a:off x="1055520" y="6373800"/>
            <a:ext cx="21603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BA 502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Imagem 3" descr=""/>
          <p:cNvPicPr/>
          <p:nvPr/>
        </p:nvPicPr>
        <p:blipFill>
          <a:blip r:embed="rId1"/>
          <a:srcRect l="961" t="13011" r="15477" b="14038"/>
          <a:stretch/>
        </p:blipFill>
        <p:spPr>
          <a:xfrm>
            <a:off x="1055520" y="1695600"/>
            <a:ext cx="9253080" cy="4527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aixaDeTexto 6"/>
          <p:cNvSpPr/>
          <p:nvPr/>
        </p:nvSpPr>
        <p:spPr>
          <a:xfrm>
            <a:off x="1066680" y="2459160"/>
            <a:ext cx="10056600" cy="152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chemeClr val="dk1"/>
                </a:solidFill>
                <a:latin typeface="Roboto Condensed"/>
                <a:ea typeface="Roboto Condensed"/>
              </a:rPr>
              <a:t>Compensação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chemeClr val="dk1"/>
                </a:solidFill>
                <a:latin typeface="Roboto Condensed"/>
                <a:ea typeface="Roboto Condensed"/>
              </a:rPr>
              <a:t>Compensação  é a utilização de material escavado, no mesmo local em que se processou a escavação.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" name="Picture 2" descr=""/>
          <p:cNvPicPr/>
          <p:nvPr/>
        </p:nvPicPr>
        <p:blipFill>
          <a:blip r:embed="rId1"/>
          <a:srcRect l="0" t="45102" r="14284" b="35855"/>
          <a:stretch/>
        </p:blipFill>
        <p:spPr>
          <a:xfrm>
            <a:off x="882720" y="4818240"/>
            <a:ext cx="3526920" cy="1103040"/>
          </a:xfrm>
          <a:prstGeom prst="rect">
            <a:avLst/>
          </a:prstGeom>
          <a:ln w="0">
            <a:noFill/>
          </a:ln>
        </p:spPr>
      </p:pic>
      <p:sp>
        <p:nvSpPr>
          <p:cNvPr id="253" name="CaixaDeTexto 8"/>
          <p:cNvSpPr/>
          <p:nvPr/>
        </p:nvSpPr>
        <p:spPr>
          <a:xfrm>
            <a:off x="9991800" y="6634080"/>
            <a:ext cx="21110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100" spc="-1" strike="noStrike">
                <a:solidFill>
                  <a:srgbClr val="000000"/>
                </a:solidFill>
                <a:latin typeface="Roboto Condensed"/>
                <a:ea typeface="Arial"/>
              </a:rPr>
              <a:t>https://metrica.zendesk.com/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2" descr=""/>
          <p:cNvPicPr/>
          <p:nvPr/>
        </p:nvPicPr>
        <p:blipFill>
          <a:blip r:embed="rId2"/>
          <a:srcRect l="0" t="9481" r="6952" b="54826"/>
          <a:stretch/>
        </p:blipFill>
        <p:spPr>
          <a:xfrm>
            <a:off x="863640" y="2205000"/>
            <a:ext cx="3835080" cy="216036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2" descr=""/>
          <p:cNvPicPr/>
          <p:nvPr/>
        </p:nvPicPr>
        <p:blipFill>
          <a:blip r:embed="rId3"/>
          <a:srcRect l="0" t="62066" r="3354" b="0"/>
          <a:stretch/>
        </p:blipFill>
        <p:spPr>
          <a:xfrm>
            <a:off x="7175520" y="3478320"/>
            <a:ext cx="3987360" cy="230148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2" descr=""/>
          <p:cNvPicPr/>
          <p:nvPr/>
        </p:nvPicPr>
        <p:blipFill>
          <a:blip r:embed="rId4"/>
          <a:srcRect l="0" t="45102" r="14284" b="35855"/>
          <a:stretch/>
        </p:blipFill>
        <p:spPr>
          <a:xfrm>
            <a:off x="7175520" y="2195640"/>
            <a:ext cx="3528720" cy="1103040"/>
          </a:xfrm>
          <a:prstGeom prst="rect">
            <a:avLst/>
          </a:prstGeom>
          <a:ln w="0">
            <a:noFill/>
          </a:ln>
        </p:spPr>
      </p:pic>
      <p:sp>
        <p:nvSpPr>
          <p:cNvPr id="257" name="Seta: para a Direita 1"/>
          <p:cNvSpPr/>
          <p:nvPr/>
        </p:nvSpPr>
        <p:spPr>
          <a:xfrm>
            <a:off x="5738760" y="3462480"/>
            <a:ext cx="93636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5400">
            <a:solidFill>
              <a:srgbClr val="3449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Box 1"/>
          <p:cNvSpPr/>
          <p:nvPr/>
        </p:nvSpPr>
        <p:spPr>
          <a:xfrm>
            <a:off x="1081080" y="1859040"/>
            <a:ext cx="691164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Empolamento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1" name="Picture 2" descr="A mala não fecha! E agora? - Hotéis Deville"/>
          <p:cNvPicPr/>
          <p:nvPr/>
        </p:nvPicPr>
        <p:blipFill>
          <a:blip r:embed="rId1"/>
          <a:stretch/>
        </p:blipFill>
        <p:spPr>
          <a:xfrm>
            <a:off x="896760" y="2533680"/>
            <a:ext cx="5416200" cy="3617640"/>
          </a:xfrm>
          <a:prstGeom prst="rect">
            <a:avLst/>
          </a:prstGeom>
          <a:ln w="0">
            <a:noFill/>
          </a:ln>
        </p:spPr>
      </p:pic>
      <p:sp>
        <p:nvSpPr>
          <p:cNvPr id="262" name="CaixaDeTexto 8"/>
          <p:cNvSpPr/>
          <p:nvPr/>
        </p:nvSpPr>
        <p:spPr>
          <a:xfrm>
            <a:off x="1116000" y="6407280"/>
            <a:ext cx="6098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Roboto Condensed"/>
                <a:ea typeface="Arial"/>
              </a:rPr>
              <a:t>http://201.39.92.125/blog/estilo-de-vida/a-mala-nao-fecha-e-agora/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Picture 2" descr=""/>
          <p:cNvPicPr/>
          <p:nvPr/>
        </p:nvPicPr>
        <p:blipFill>
          <a:blip r:embed="rId1"/>
          <a:stretch/>
        </p:blipFill>
        <p:spPr>
          <a:xfrm>
            <a:off x="5954760" y="2997360"/>
            <a:ext cx="5143320" cy="2287080"/>
          </a:xfrm>
          <a:prstGeom prst="rect">
            <a:avLst/>
          </a:prstGeom>
          <a:ln w="0">
            <a:noFill/>
          </a:ln>
        </p:spPr>
      </p:pic>
      <p:sp>
        <p:nvSpPr>
          <p:cNvPr id="264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Box 1"/>
          <p:cNvSpPr/>
          <p:nvPr/>
        </p:nvSpPr>
        <p:spPr>
          <a:xfrm>
            <a:off x="1081080" y="1859040"/>
            <a:ext cx="691164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Empolamento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Picture 7" descr=""/>
          <p:cNvPicPr/>
          <p:nvPr/>
        </p:nvPicPr>
        <p:blipFill>
          <a:blip r:embed="rId2"/>
          <a:srcRect l="0" t="16206" r="0" b="0"/>
          <a:stretch/>
        </p:blipFill>
        <p:spPr>
          <a:xfrm>
            <a:off x="1081080" y="3173400"/>
            <a:ext cx="4255560" cy="1731600"/>
          </a:xfrm>
          <a:prstGeom prst="rect">
            <a:avLst/>
          </a:prstGeom>
          <a:ln w="0">
            <a:noFill/>
          </a:ln>
        </p:spPr>
      </p:pic>
      <p:sp>
        <p:nvSpPr>
          <p:cNvPr id="268" name="CaixaDeTexto 8"/>
          <p:cNvSpPr/>
          <p:nvPr/>
        </p:nvSpPr>
        <p:spPr>
          <a:xfrm>
            <a:off x="1079640" y="4905360"/>
            <a:ext cx="4957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Arial"/>
              </a:rPr>
              <a:t>https://souzaengenharia.blogspot.com/2015/05/empolamento-e-compactacao.html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Box 1"/>
          <p:cNvSpPr/>
          <p:nvPr/>
        </p:nvSpPr>
        <p:spPr>
          <a:xfrm>
            <a:off x="1081080" y="1859040"/>
            <a:ext cx="691164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Empolamento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etângulo 6"/>
          <p:cNvSpPr/>
          <p:nvPr/>
        </p:nvSpPr>
        <p:spPr>
          <a:xfrm>
            <a:off x="1081080" y="2486160"/>
            <a:ext cx="10188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Consideremos um terreno plano de   20x60 m de solo argiloso compactado, onde se escavará 3 subsolos  com pé direito de 3m, com 800 m² de área cada.  Considere transporte com caminhões de 6 m³, para bota fora a uma distância que permite 5 viagens por dia e frota de 5 caminhões.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Quantas viagens de caminhão basculante e quantos dias de trabalho serão necessários?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etângulo 9"/>
          <p:cNvSpPr/>
          <p:nvPr/>
        </p:nvSpPr>
        <p:spPr>
          <a:xfrm>
            <a:off x="1081080" y="6540480"/>
            <a:ext cx="6229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Arial"/>
              </a:rPr>
              <a:t>Adaptado: 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4" name="Picture 2" descr=""/>
          <p:cNvPicPr/>
          <p:nvPr/>
        </p:nvPicPr>
        <p:blipFill>
          <a:blip r:embed="rId1"/>
          <a:stretch/>
        </p:blipFill>
        <p:spPr>
          <a:xfrm>
            <a:off x="1081080" y="4076640"/>
            <a:ext cx="4679640" cy="208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Box 1"/>
          <p:cNvSpPr/>
          <p:nvPr/>
        </p:nvSpPr>
        <p:spPr>
          <a:xfrm>
            <a:off x="1081080" y="1859040"/>
            <a:ext cx="691164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Empolamento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etângulo 6"/>
          <p:cNvSpPr/>
          <p:nvPr/>
        </p:nvSpPr>
        <p:spPr>
          <a:xfrm>
            <a:off x="1081080" y="2486160"/>
            <a:ext cx="10188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Consideremos um terreno plano de   20x60 m de solo argiloso natural, onde se escavará 3 subsolos  com pé direito de 3m, com 800 m² de área cada.  Considere transporte com caminhões de 6 m³, para bota-fora a uma distância que permite 5 viagens por dia e frota de 10 caminhões.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Quantas viagens de caminhão basculante e quantos dias de trabalho serão necessários?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Retângulo 9"/>
          <p:cNvSpPr/>
          <p:nvPr/>
        </p:nvSpPr>
        <p:spPr>
          <a:xfrm>
            <a:off x="1081080" y="6540480"/>
            <a:ext cx="6229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Arial"/>
              </a:rPr>
              <a:t>Adaptado: 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0" name="Picture 2" descr=""/>
          <p:cNvPicPr/>
          <p:nvPr/>
        </p:nvPicPr>
        <p:blipFill>
          <a:blip r:embed="rId1"/>
          <a:stretch/>
        </p:blipFill>
        <p:spPr>
          <a:xfrm>
            <a:off x="1081080" y="4076640"/>
            <a:ext cx="4679640" cy="2082600"/>
          </a:xfrm>
          <a:prstGeom prst="rect">
            <a:avLst/>
          </a:prstGeom>
          <a:ln w="0">
            <a:noFill/>
          </a:ln>
        </p:spPr>
      </p:pic>
      <p:sp>
        <p:nvSpPr>
          <p:cNvPr id="281" name="CaixaDeTexto 11"/>
          <p:cNvSpPr/>
          <p:nvPr/>
        </p:nvSpPr>
        <p:spPr>
          <a:xfrm>
            <a:off x="6458040" y="3962520"/>
            <a:ext cx="4811400" cy="264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800 m² x 3 subsolos x 3 m =7.200 m</a:t>
            </a:r>
            <a:r>
              <a:rPr b="0" lang="pt-BR" sz="1400" spc="-1" strike="noStrike" baseline="30000">
                <a:solidFill>
                  <a:schemeClr val="dk1"/>
                </a:solidFill>
                <a:latin typeface="Roboto Condensed"/>
                <a:ea typeface="Arial"/>
              </a:rPr>
              <a:t>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7.200 m</a:t>
            </a:r>
            <a:r>
              <a:rPr b="0" lang="pt-BR" sz="1400" spc="-1" strike="noStrike" baseline="30000">
                <a:solidFill>
                  <a:schemeClr val="dk1"/>
                </a:solidFill>
                <a:latin typeface="Roboto Condensed"/>
                <a:ea typeface="Arial"/>
              </a:rPr>
              <a:t>3 </a:t>
            </a: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x 1,43 = 10.296 m</a:t>
            </a:r>
            <a:r>
              <a:rPr b="0" lang="pt-BR" sz="1400" spc="-1" strike="noStrike" baseline="30000">
                <a:solidFill>
                  <a:schemeClr val="dk1"/>
                </a:solidFill>
                <a:latin typeface="Roboto Condensed"/>
                <a:ea typeface="Arial"/>
              </a:rPr>
              <a:t>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Font typeface="OpenSymbol"/>
              <a:buAutoNum type="alphaLcParenR"/>
              <a:tabLst>
                <a:tab algn="l" pos="0"/>
              </a:tabLst>
            </a:pPr>
            <a:r>
              <a:rPr b="1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Quantidade de viagens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10.296 m</a:t>
            </a:r>
            <a:r>
              <a:rPr b="0" lang="pt-BR" sz="1400" spc="-1" strike="noStrike" baseline="30000">
                <a:solidFill>
                  <a:schemeClr val="dk1"/>
                </a:solidFill>
                <a:latin typeface="Roboto Condensed"/>
                <a:ea typeface="Arial"/>
              </a:rPr>
              <a:t>3 </a:t>
            </a: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÷ 6 m</a:t>
            </a:r>
            <a:r>
              <a:rPr b="0" lang="pt-BR" sz="1400" spc="-1" strike="noStrike" baseline="30000">
                <a:solidFill>
                  <a:schemeClr val="dk1"/>
                </a:solidFill>
                <a:latin typeface="Roboto Condensed"/>
                <a:ea typeface="Arial"/>
              </a:rPr>
              <a:t>3</a:t>
            </a: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= </a:t>
            </a:r>
            <a:r>
              <a:rPr b="1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1.760 viagens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b) Dias de trabalho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Numero de viagens por dia = 50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Quantidade de dias = 1.760 ÷ 50 = </a:t>
            </a:r>
            <a:r>
              <a:rPr b="1" lang="pt-BR" sz="1400" spc="-1" strike="noStrike">
                <a:solidFill>
                  <a:schemeClr val="dk1"/>
                </a:solidFill>
                <a:latin typeface="Roboto Condensed"/>
                <a:ea typeface="Arial"/>
              </a:rPr>
              <a:t>35,2 dias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Box 2"/>
          <p:cNvSpPr/>
          <p:nvPr/>
        </p:nvSpPr>
        <p:spPr>
          <a:xfrm>
            <a:off x="933480" y="2276640"/>
            <a:ext cx="9699120" cy="38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Rebaixamento de Lençol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Permitir uso definitivo  de subsolo;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Aumentar as condições estabilidade de solo ou melhorar as condições para movimentação de terra;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Reduzir a carga lateral em estruturas de escoramento;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Deixar praticamente inalteradas as condições de suporte do terreno subjacente ao apoio da estrutura a ser construída.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Box 2"/>
          <p:cNvSpPr/>
          <p:nvPr/>
        </p:nvSpPr>
        <p:spPr>
          <a:xfrm>
            <a:off x="1055520" y="1847880"/>
            <a:ext cx="7919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Rebaixamento de Lençol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289" name="Picture 2" descr="http://www.ecivilnet.com/images/3p1p.jpg"/>
          <p:cNvPicPr/>
          <p:nvPr/>
        </p:nvPicPr>
        <p:blipFill>
          <a:blip r:embed="rId1"/>
          <a:stretch/>
        </p:blipFill>
        <p:spPr>
          <a:xfrm>
            <a:off x="469800" y="3776760"/>
            <a:ext cx="6181200" cy="1868040"/>
          </a:xfrm>
          <a:prstGeom prst="rect">
            <a:avLst/>
          </a:prstGeom>
          <a:ln w="0">
            <a:noFill/>
          </a:ln>
        </p:spPr>
      </p:pic>
      <p:pic>
        <p:nvPicPr>
          <p:cNvPr id="290" name="Picture 2" descr="http://www.ecivilnet.com/images/fig3p8.jpg"/>
          <p:cNvPicPr/>
          <p:nvPr/>
        </p:nvPicPr>
        <p:blipFill>
          <a:blip r:embed="rId2"/>
          <a:stretch/>
        </p:blipFill>
        <p:spPr>
          <a:xfrm>
            <a:off x="6838920" y="3578400"/>
            <a:ext cx="4430520" cy="2400120"/>
          </a:xfrm>
          <a:prstGeom prst="rect">
            <a:avLst/>
          </a:prstGeom>
          <a:ln w="0">
            <a:noFill/>
          </a:ln>
        </p:spPr>
      </p:pic>
      <p:sp>
        <p:nvSpPr>
          <p:cNvPr id="291" name="Retângulo 6"/>
          <p:cNvSpPr/>
          <p:nvPr/>
        </p:nvSpPr>
        <p:spPr>
          <a:xfrm>
            <a:off x="1044720" y="2575080"/>
            <a:ext cx="5525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chemeClr val="dk1"/>
                </a:solidFill>
                <a:latin typeface="Roboto Condensed"/>
                <a:ea typeface="Arial"/>
              </a:rPr>
              <a:t>Bombeamento Direto ou Esgotamento de Vala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etângulo 7"/>
          <p:cNvSpPr/>
          <p:nvPr/>
        </p:nvSpPr>
        <p:spPr>
          <a:xfrm>
            <a:off x="6570720" y="2573280"/>
            <a:ext cx="685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chemeClr val="dk1"/>
                </a:solidFill>
                <a:latin typeface="Roboto Condensed"/>
                <a:ea typeface="Arial"/>
              </a:rPr>
              <a:t>Sistema de Rebaixamento com Ponteiras Filtrantes (Well-Points)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etângulo 8"/>
          <p:cNvSpPr/>
          <p:nvPr/>
        </p:nvSpPr>
        <p:spPr>
          <a:xfrm>
            <a:off x="10353600" y="6627960"/>
            <a:ext cx="1511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9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http://www.ecivilnet.com/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AutoShape 2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296" name="Imagem 2" descr="23758_big.jpg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297" name="Retângulo 3"/>
          <p:cNvSpPr/>
          <p:nvPr/>
        </p:nvSpPr>
        <p:spPr>
          <a:xfrm>
            <a:off x="1783440" y="6453360"/>
            <a:ext cx="1177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rgbClr val="000000"/>
                </a:solidFill>
                <a:latin typeface="Roboto Condensed"/>
                <a:ea typeface="Arial"/>
              </a:rPr>
              <a:t>galeria.cuiket.com.br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2209680" y="3863880"/>
            <a:ext cx="4505040" cy="190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9600" spc="-1" strike="noStrike">
                <a:solidFill>
                  <a:schemeClr val="lt1"/>
                </a:solidFill>
                <a:latin typeface="Roboto Condensed"/>
                <a:ea typeface="Montserrat"/>
              </a:rPr>
              <a:t>2.</a:t>
            </a:r>
            <a:br>
              <a:rPr sz="9600"/>
            </a:br>
            <a:r>
              <a:rPr b="1" lang="pt-BR" sz="4000" spc="-1" strike="noStrike">
                <a:solidFill>
                  <a:schemeClr val="lt1"/>
                </a:solidFill>
                <a:latin typeface="Roboto Condensed"/>
                <a:ea typeface="Montserrat"/>
              </a:rPr>
              <a:t>Terraplenagem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Box 2"/>
          <p:cNvSpPr/>
          <p:nvPr/>
        </p:nvSpPr>
        <p:spPr>
          <a:xfrm>
            <a:off x="1415880" y="2133720"/>
            <a:ext cx="8424360" cy="29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343080"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a) Execução manual: até 100 m</a:t>
            </a:r>
            <a:r>
              <a:rPr b="1" lang="pt-BR" sz="2000" spc="-1" strike="noStrike" baseline="30000">
                <a:solidFill>
                  <a:srgbClr val="000000"/>
                </a:solidFill>
                <a:latin typeface="Roboto Condensed"/>
                <a:ea typeface="Arial"/>
              </a:rPr>
              <a:t>3</a:t>
            </a: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 ou em condições especiais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343080"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b) Execução mecânica: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Equipamentos de Escavação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Equipamentos de Compactação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Equipamentos de Transporte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Picture 4" descr="http://static.habitissimo.com.br/photos/business/big/terraplenagem-maxxi-chapeco-sc_185928.jpg"/>
          <p:cNvPicPr/>
          <p:nvPr/>
        </p:nvPicPr>
        <p:blipFill>
          <a:blip r:embed="rId1"/>
          <a:stretch/>
        </p:blipFill>
        <p:spPr>
          <a:xfrm>
            <a:off x="325440" y="147600"/>
            <a:ext cx="8604000" cy="6453000"/>
          </a:xfrm>
          <a:prstGeom prst="rect">
            <a:avLst/>
          </a:prstGeom>
          <a:ln w="0">
            <a:noFill/>
          </a:ln>
        </p:spPr>
      </p:pic>
      <p:sp>
        <p:nvSpPr>
          <p:cNvPr id="303" name="Retângulo 3"/>
          <p:cNvSpPr/>
          <p:nvPr/>
        </p:nvSpPr>
        <p:spPr>
          <a:xfrm>
            <a:off x="266760" y="6600960"/>
            <a:ext cx="14886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Arial"/>
              </a:rPr>
              <a:t>www.habitissimo.com.br 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Imagem 2" descr="Diagrama&#10;&#10;Descrição gerada automaticamente"/>
          <p:cNvPicPr/>
          <p:nvPr/>
        </p:nvPicPr>
        <p:blipFill>
          <a:blip r:embed="rId1"/>
          <a:srcRect l="21865" t="22306" r="20122" b="15071"/>
          <a:stretch/>
        </p:blipFill>
        <p:spPr>
          <a:xfrm>
            <a:off x="5567400" y="2452680"/>
            <a:ext cx="6636960" cy="4036680"/>
          </a:xfrm>
          <a:prstGeom prst="rect">
            <a:avLst/>
          </a:prstGeom>
          <a:ln w="0">
            <a:noFill/>
          </a:ln>
        </p:spPr>
      </p:pic>
      <p:pic>
        <p:nvPicPr>
          <p:cNvPr id="305" name="Imagem 5" descr="Diagrama&#10;&#10;Descrição gerada automaticamente"/>
          <p:cNvPicPr/>
          <p:nvPr/>
        </p:nvPicPr>
        <p:blipFill>
          <a:blip r:embed="rId2"/>
          <a:srcRect l="24767" t="32025" r="33475" b="5352"/>
          <a:stretch/>
        </p:blipFill>
        <p:spPr>
          <a:xfrm>
            <a:off x="1343160" y="2327400"/>
            <a:ext cx="4669920" cy="3992040"/>
          </a:xfrm>
          <a:prstGeom prst="rect">
            <a:avLst/>
          </a:prstGeom>
          <a:ln w="0">
            <a:noFill/>
          </a:ln>
        </p:spPr>
      </p:pic>
      <p:sp>
        <p:nvSpPr>
          <p:cNvPr id="306" name="Text Box 2"/>
          <p:cNvSpPr/>
          <p:nvPr/>
        </p:nvSpPr>
        <p:spPr>
          <a:xfrm>
            <a:off x="1092240" y="1766880"/>
            <a:ext cx="3779640" cy="266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Pás Carregadeiras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Lança não tem giro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Retângulo 5"/>
          <p:cNvSpPr/>
          <p:nvPr/>
        </p:nvSpPr>
        <p:spPr>
          <a:xfrm>
            <a:off x="8107920" y="6615000"/>
            <a:ext cx="4178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https://essel.com.br/cursos/biblioteca_tecnica/civil/Movimentacao%20de%20terra.pdf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AutoShape 2"/>
          <p:cNvSpPr/>
          <p:nvPr/>
        </p:nvSpPr>
        <p:spPr>
          <a:xfrm>
            <a:off x="1679400" y="-14436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Box 2"/>
          <p:cNvSpPr/>
          <p:nvPr/>
        </p:nvSpPr>
        <p:spPr>
          <a:xfrm>
            <a:off x="1038240" y="1766880"/>
            <a:ext cx="7002000" cy="266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Pás Carregadeiras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Podem ser de pneus ou de esteiras;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Sob pneus tem facilidade de deslocamento sem necessidade de transporte em carretas, mas tem mais facilidade de patinamento;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Em terreno fracos ou com umidade as esteiras são preferíveis.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Retângulo 5"/>
          <p:cNvSpPr/>
          <p:nvPr/>
        </p:nvSpPr>
        <p:spPr>
          <a:xfrm>
            <a:off x="8107920" y="6615000"/>
            <a:ext cx="4178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https://essel.com.br/cursos/biblioteca_tecnica/civil/Movimentacao%20de%20terra.pdf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AutoShape 2"/>
          <p:cNvSpPr/>
          <p:nvPr/>
        </p:nvSpPr>
        <p:spPr>
          <a:xfrm>
            <a:off x="1679400" y="-14436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4" name="Imagem 3" descr="Interface gráfica do usuário&#10;&#10;Descrição gerada automaticamente"/>
          <p:cNvPicPr/>
          <p:nvPr/>
        </p:nvPicPr>
        <p:blipFill>
          <a:blip r:embed="rId1"/>
          <a:srcRect l="37542" t="22306" r="40703" b="18738"/>
          <a:stretch/>
        </p:blipFill>
        <p:spPr>
          <a:xfrm>
            <a:off x="8059680" y="1465200"/>
            <a:ext cx="3101760" cy="4976280"/>
          </a:xfrm>
          <a:prstGeom prst="rect">
            <a:avLst/>
          </a:prstGeom>
          <a:ln w="0">
            <a:noFill/>
          </a:ln>
        </p:spPr>
      </p:pic>
      <p:pic>
        <p:nvPicPr>
          <p:cNvPr id="315" name="Imagem 6" descr="Uma imagem contendo Interface gráfica do usuário&#10;&#10;Descrição gerada automaticamente"/>
          <p:cNvPicPr/>
          <p:nvPr/>
        </p:nvPicPr>
        <p:blipFill>
          <a:blip r:embed="rId2"/>
          <a:srcRect l="32317" t="51218" r="28834" b="9086"/>
          <a:stretch/>
        </p:blipFill>
        <p:spPr>
          <a:xfrm>
            <a:off x="1206360" y="4095720"/>
            <a:ext cx="4608000" cy="264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Picture 6" descr="Carregadeiras de Esteira Grandes"/>
          <p:cNvPicPr/>
          <p:nvPr/>
        </p:nvPicPr>
        <p:blipFill>
          <a:blip r:embed="rId1"/>
          <a:stretch/>
        </p:blipFill>
        <p:spPr>
          <a:xfrm>
            <a:off x="3432240" y="1447920"/>
            <a:ext cx="6552720" cy="4914720"/>
          </a:xfrm>
          <a:prstGeom prst="rect">
            <a:avLst/>
          </a:prstGeom>
          <a:ln w="0">
            <a:noFill/>
          </a:ln>
        </p:spPr>
      </p:pic>
      <p:sp>
        <p:nvSpPr>
          <p:cNvPr id="317" name="Text Box 2"/>
          <p:cNvSpPr/>
          <p:nvPr/>
        </p:nvSpPr>
        <p:spPr>
          <a:xfrm>
            <a:off x="1055520" y="1766880"/>
            <a:ext cx="532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Pás Carregadeiras de Esteira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etângulo 5"/>
          <p:cNvSpPr/>
          <p:nvPr/>
        </p:nvSpPr>
        <p:spPr>
          <a:xfrm>
            <a:off x="10178640" y="648324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AutoShape 2"/>
          <p:cNvSpPr/>
          <p:nvPr/>
        </p:nvSpPr>
        <p:spPr>
          <a:xfrm>
            <a:off x="1679400" y="-14436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Box 2"/>
          <p:cNvSpPr/>
          <p:nvPr/>
        </p:nvSpPr>
        <p:spPr>
          <a:xfrm>
            <a:off x="963720" y="177012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Pás Carregadeiras de Rodas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Retângulo 5"/>
          <p:cNvSpPr/>
          <p:nvPr/>
        </p:nvSpPr>
        <p:spPr>
          <a:xfrm>
            <a:off x="1270080" y="644364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AutoShape 2"/>
          <p:cNvSpPr/>
          <p:nvPr/>
        </p:nvSpPr>
        <p:spPr>
          <a:xfrm>
            <a:off x="1679400" y="-14436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325" name="Picture 4" descr="Carregadeiras de Rodas Compactas"/>
          <p:cNvPicPr/>
          <p:nvPr/>
        </p:nvPicPr>
        <p:blipFill>
          <a:blip r:embed="rId1"/>
          <a:stretch/>
        </p:blipFill>
        <p:spPr>
          <a:xfrm>
            <a:off x="2906640" y="2338560"/>
            <a:ext cx="6025680" cy="4484160"/>
          </a:xfrm>
          <a:prstGeom prst="rect">
            <a:avLst/>
          </a:prstGeom>
          <a:ln w="0">
            <a:noFill/>
          </a:ln>
        </p:spPr>
      </p:pic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Picture 4" descr="http://s7d2.scene7.com/is/image/Caterpillar/C832317?$cc-g$"/>
          <p:cNvPicPr/>
          <p:nvPr/>
        </p:nvPicPr>
        <p:blipFill>
          <a:blip r:embed="rId1"/>
          <a:stretch/>
        </p:blipFill>
        <p:spPr>
          <a:xfrm>
            <a:off x="4511520" y="1835280"/>
            <a:ext cx="6144840" cy="4608000"/>
          </a:xfrm>
          <a:prstGeom prst="rect">
            <a:avLst/>
          </a:prstGeom>
          <a:ln w="0">
            <a:noFill/>
          </a:ln>
        </p:spPr>
      </p:pic>
      <p:sp>
        <p:nvSpPr>
          <p:cNvPr id="328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Box 2"/>
          <p:cNvSpPr/>
          <p:nvPr/>
        </p:nvSpPr>
        <p:spPr>
          <a:xfrm>
            <a:off x="1087560" y="191628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Minicarregadeira (bobby-cat)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etângulo 5"/>
          <p:cNvSpPr/>
          <p:nvPr/>
        </p:nvSpPr>
        <p:spPr>
          <a:xfrm>
            <a:off x="1072800" y="622944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 Box 2"/>
          <p:cNvSpPr/>
          <p:nvPr/>
        </p:nvSpPr>
        <p:spPr>
          <a:xfrm>
            <a:off x="1092240" y="1766880"/>
            <a:ext cx="5148000" cy="266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Escavadeiras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Possuem mecanismos que permitem giro de 360⁰;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Equipamento trabalha estacionado;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Geralmente montados sobres esteiras mas também tem versões sobre rodas.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Retângulo 5"/>
          <p:cNvSpPr/>
          <p:nvPr/>
        </p:nvSpPr>
        <p:spPr>
          <a:xfrm>
            <a:off x="8107920" y="6615000"/>
            <a:ext cx="4178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https://essel.com.br/cursos/biblioteca_tecnica/civil/Movimentacao%20de%20terra.pdf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AutoShape 2"/>
          <p:cNvSpPr/>
          <p:nvPr/>
        </p:nvSpPr>
        <p:spPr>
          <a:xfrm>
            <a:off x="1679400" y="-14436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6" name="Imagem 3" descr="Texto&#10;&#10;Descrição gerada automaticamente com confiança baixa"/>
          <p:cNvPicPr/>
          <p:nvPr/>
        </p:nvPicPr>
        <p:blipFill>
          <a:blip r:embed="rId1"/>
          <a:srcRect l="28253" t="28500" r="24189" b="12174"/>
          <a:stretch/>
        </p:blipFill>
        <p:spPr>
          <a:xfrm>
            <a:off x="6105600" y="1944720"/>
            <a:ext cx="5687640" cy="401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Box 2"/>
          <p:cNvSpPr/>
          <p:nvPr/>
        </p:nvSpPr>
        <p:spPr>
          <a:xfrm>
            <a:off x="988920" y="206064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Escavadeira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0" name="Picture 2" descr="Escavadeiras Pequenas"/>
          <p:cNvPicPr/>
          <p:nvPr/>
        </p:nvPicPr>
        <p:blipFill>
          <a:blip r:embed="rId1"/>
          <a:stretch/>
        </p:blipFill>
        <p:spPr>
          <a:xfrm>
            <a:off x="4511520" y="1700280"/>
            <a:ext cx="5568480" cy="4176360"/>
          </a:xfrm>
          <a:prstGeom prst="rect">
            <a:avLst/>
          </a:prstGeom>
          <a:ln w="0">
            <a:noFill/>
          </a:ln>
        </p:spPr>
      </p:pic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Box 2"/>
          <p:cNvSpPr/>
          <p:nvPr/>
        </p:nvSpPr>
        <p:spPr>
          <a:xfrm>
            <a:off x="988920" y="167652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Escavadeira de Rodas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5" name="Picture 2" descr="http://s7d2.scene7.com/is/image/Caterpillar/C833769?$cc-g$"/>
          <p:cNvPicPr/>
          <p:nvPr/>
        </p:nvPicPr>
        <p:blipFill>
          <a:blip r:embed="rId1"/>
          <a:stretch/>
        </p:blipFill>
        <p:spPr>
          <a:xfrm>
            <a:off x="4224240" y="1700280"/>
            <a:ext cx="5616360" cy="4212720"/>
          </a:xfrm>
          <a:prstGeom prst="rect">
            <a:avLst/>
          </a:prstGeom>
          <a:ln w="0">
            <a:noFill/>
          </a:ln>
        </p:spPr>
      </p:pic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Box 2"/>
          <p:cNvSpPr/>
          <p:nvPr/>
        </p:nvSpPr>
        <p:spPr>
          <a:xfrm>
            <a:off x="1004760" y="184464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Miniescavadeira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0" name="Picture 4" descr="Miniescavadeiras"/>
          <p:cNvPicPr/>
          <p:nvPr/>
        </p:nvPicPr>
        <p:blipFill>
          <a:blip r:embed="rId1"/>
          <a:stretch/>
        </p:blipFill>
        <p:spPr>
          <a:xfrm>
            <a:off x="5016600" y="2009880"/>
            <a:ext cx="5616360" cy="4212720"/>
          </a:xfrm>
          <a:prstGeom prst="rect">
            <a:avLst/>
          </a:prstGeom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3" name="Picture 2" descr="http://s7d2.scene7.com/is/image/Caterpillar/C10081686?$cc-g$"/>
          <p:cNvPicPr/>
          <p:nvPr/>
        </p:nvPicPr>
        <p:blipFill>
          <a:blip r:embed="rId1"/>
          <a:stretch/>
        </p:blipFill>
        <p:spPr>
          <a:xfrm>
            <a:off x="3287880" y="1376280"/>
            <a:ext cx="6768720" cy="5076360"/>
          </a:xfrm>
          <a:prstGeom prst="rect">
            <a:avLst/>
          </a:prstGeom>
          <a:ln w="0">
            <a:noFill/>
          </a:ln>
        </p:spPr>
      </p:pic>
      <p:sp>
        <p:nvSpPr>
          <p:cNvPr id="354" name="Text Box 2"/>
          <p:cNvSpPr/>
          <p:nvPr/>
        </p:nvSpPr>
        <p:spPr>
          <a:xfrm>
            <a:off x="952560" y="1916280"/>
            <a:ext cx="43146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Retroescavadeira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Imagem 6" descr="C833843.jpg"/>
          <p:cNvPicPr/>
          <p:nvPr/>
        </p:nvPicPr>
        <p:blipFill>
          <a:blip r:embed="rId1"/>
          <a:stretch/>
        </p:blipFill>
        <p:spPr>
          <a:xfrm>
            <a:off x="3863880" y="1052640"/>
            <a:ext cx="6803640" cy="5103360"/>
          </a:xfrm>
          <a:prstGeom prst="rect">
            <a:avLst/>
          </a:prstGeom>
          <a:ln w="0">
            <a:noFill/>
          </a:ln>
        </p:spPr>
      </p:pic>
      <p:sp>
        <p:nvSpPr>
          <p:cNvPr id="358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Box 2"/>
          <p:cNvSpPr/>
          <p:nvPr/>
        </p:nvSpPr>
        <p:spPr>
          <a:xfrm>
            <a:off x="963720" y="170964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Escavadeira a cabo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Box 2"/>
          <p:cNvSpPr/>
          <p:nvPr/>
        </p:nvSpPr>
        <p:spPr>
          <a:xfrm>
            <a:off x="1054080" y="1758960"/>
            <a:ext cx="38872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Martelos Hidráulicos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5" name="Picture 2" descr="Martelos - Escavadeiras"/>
          <p:cNvPicPr/>
          <p:nvPr/>
        </p:nvPicPr>
        <p:blipFill>
          <a:blip r:embed="rId1"/>
          <a:stretch/>
        </p:blipFill>
        <p:spPr>
          <a:xfrm>
            <a:off x="1703520" y="2492280"/>
            <a:ext cx="4273200" cy="3211200"/>
          </a:xfrm>
          <a:prstGeom prst="rect">
            <a:avLst/>
          </a:prstGeom>
          <a:ln w="0">
            <a:noFill/>
          </a:ln>
        </p:spPr>
      </p:pic>
      <p:sp>
        <p:nvSpPr>
          <p:cNvPr id="366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367" name="Imagem 8" descr="C833770.jpg"/>
          <p:cNvPicPr/>
          <p:nvPr/>
        </p:nvPicPr>
        <p:blipFill>
          <a:blip r:embed="rId2"/>
          <a:stretch/>
        </p:blipFill>
        <p:spPr>
          <a:xfrm>
            <a:off x="4329000" y="1125360"/>
            <a:ext cx="6143400" cy="4606560"/>
          </a:xfrm>
          <a:prstGeom prst="rect">
            <a:avLst/>
          </a:prstGeom>
          <a:ln w="0">
            <a:noFill/>
          </a:ln>
        </p:spPr>
      </p:pic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Equipamentos de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Picture 2" descr="http://s7d2.scene7.com/is/image/Caterpillar/C574644?$cc-g$"/>
          <p:cNvPicPr/>
          <p:nvPr/>
        </p:nvPicPr>
        <p:blipFill>
          <a:blip r:embed="rId1"/>
          <a:stretch/>
        </p:blipFill>
        <p:spPr>
          <a:xfrm>
            <a:off x="4716360" y="1943280"/>
            <a:ext cx="6552720" cy="4914720"/>
          </a:xfrm>
          <a:prstGeom prst="rect">
            <a:avLst/>
          </a:prstGeom>
          <a:ln w="0">
            <a:noFill/>
          </a:ln>
        </p:spPr>
      </p:pic>
      <p:sp>
        <p:nvSpPr>
          <p:cNvPr id="370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Box 2"/>
          <p:cNvSpPr/>
          <p:nvPr/>
        </p:nvSpPr>
        <p:spPr>
          <a:xfrm>
            <a:off x="1055520" y="1533600"/>
            <a:ext cx="5471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Roletes Vibratórios tipo </a:t>
            </a:r>
            <a:r>
              <a:rPr b="1" i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padfoot</a:t>
            </a: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 ou pé-de-carneiro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- Áreas de aterro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Box 2"/>
          <p:cNvSpPr/>
          <p:nvPr/>
        </p:nvSpPr>
        <p:spPr>
          <a:xfrm>
            <a:off x="988920" y="1735200"/>
            <a:ext cx="3887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Roletes Vibratórios Lisos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Arial"/>
              </a:rPr>
              <a:t>- Acabamento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tângulo 5"/>
          <p:cNvSpPr/>
          <p:nvPr/>
        </p:nvSpPr>
        <p:spPr>
          <a:xfrm>
            <a:off x="1833120" y="6237360"/>
            <a:ext cx="111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http://www.cat.com/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379" name="Imagem 7" descr="C830950.jpg"/>
          <p:cNvPicPr/>
          <p:nvPr/>
        </p:nvPicPr>
        <p:blipFill>
          <a:blip r:embed="rId1"/>
          <a:stretch/>
        </p:blipFill>
        <p:spPr>
          <a:xfrm>
            <a:off x="4727520" y="1268280"/>
            <a:ext cx="5673240" cy="4255560"/>
          </a:xfrm>
          <a:prstGeom prst="rect">
            <a:avLst/>
          </a:prstGeom>
          <a:ln w="0">
            <a:noFill/>
          </a:ln>
        </p:spPr>
      </p:pic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Box 2"/>
          <p:cNvSpPr/>
          <p:nvPr/>
        </p:nvSpPr>
        <p:spPr>
          <a:xfrm>
            <a:off x="1014480" y="1650960"/>
            <a:ext cx="3887280" cy="13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Caminhão Basculante Trucado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algn="just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"/>
              </a:rPr>
              <a:t>Caminhão Basculante Toco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etângulo 5"/>
          <p:cNvSpPr/>
          <p:nvPr/>
        </p:nvSpPr>
        <p:spPr>
          <a:xfrm>
            <a:off x="9067680" y="6443640"/>
            <a:ext cx="1517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800" spc="-1" strike="noStrike">
                <a:solidFill>
                  <a:schemeClr val="dk1"/>
                </a:solidFill>
                <a:latin typeface="Roboto Condensed"/>
                <a:ea typeface="Arial"/>
              </a:rPr>
              <a:t>https://carros.mitula.com.br/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385" name="Picture 2" descr="http://www.lafaetelocacao.com.br/pt/wp-content/uploads/caminhao-basculante3.png"/>
          <p:cNvPicPr/>
          <p:nvPr/>
        </p:nvPicPr>
        <p:blipFill>
          <a:blip r:embed="rId1"/>
          <a:stretch/>
        </p:blipFill>
        <p:spPr>
          <a:xfrm>
            <a:off x="612720" y="3193920"/>
            <a:ext cx="4690800" cy="3149280"/>
          </a:xfrm>
          <a:prstGeom prst="rect">
            <a:avLst/>
          </a:prstGeom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7" name="Picture 10" descr="Carros caminhao basculante toco usados - Mitula Carros"/>
          <p:cNvPicPr/>
          <p:nvPr/>
        </p:nvPicPr>
        <p:blipFill>
          <a:blip r:embed="rId2"/>
          <a:stretch/>
        </p:blipFill>
        <p:spPr>
          <a:xfrm>
            <a:off x="6688080" y="3532320"/>
            <a:ext cx="3846240" cy="2883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Box 2"/>
          <p:cNvSpPr/>
          <p:nvPr/>
        </p:nvSpPr>
        <p:spPr>
          <a:xfrm>
            <a:off x="1055520" y="2060640"/>
            <a:ext cx="5616360" cy="36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Contratação de Movimentação de Terra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Empreitada global;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Empreitada por viagem ou volume;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Aluguel de equipamentos.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Box 2"/>
          <p:cNvSpPr/>
          <p:nvPr/>
        </p:nvSpPr>
        <p:spPr>
          <a:xfrm>
            <a:off x="1200240" y="2349360"/>
            <a:ext cx="9575280" cy="36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Contratação de Movimentação de Terra:  Empreitada Global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O contratado busca a maior produtividade possível, com máxima otimização do volume transportado por caminhão;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O contratante deve se preocupar com o excesso de material nos caminhões, pois isso pode gerar problemas de vizinhança;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Especificação de aterro e escavação devem ser verificadas.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Box 2"/>
          <p:cNvSpPr/>
          <p:nvPr/>
        </p:nvSpPr>
        <p:spPr>
          <a:xfrm>
            <a:off x="976320" y="2276640"/>
            <a:ext cx="7919640" cy="36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Contratação de Movimentação de Terra:  Empreitada por Viagem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O contratante deve estar atento aos caminhões com capacidade ociosa;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Controle rigoroso do número de viagens.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Box 2"/>
          <p:cNvSpPr/>
          <p:nvPr/>
        </p:nvSpPr>
        <p:spPr>
          <a:xfrm>
            <a:off x="1200240" y="2276640"/>
            <a:ext cx="7919640" cy="36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Contratação de Movimentação de Terra:  Aluguel de Equipamentos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O contratante deve estar atento aos caminhões com capacidade ociosa;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Também deve estar atento à lentidão na execução dos serviços;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1"/>
          <p:cNvSpPr/>
          <p:nvPr/>
        </p:nvSpPr>
        <p:spPr>
          <a:xfrm>
            <a:off x="1827360" y="198360"/>
            <a:ext cx="822924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ffffff"/>
                </a:solidFill>
                <a:latin typeface="Roboto Condensed"/>
                <a:ea typeface="Arial"/>
              </a:rPr>
              <a:t>1.0. Serviços Preliminares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Box 2"/>
          <p:cNvSpPr/>
          <p:nvPr/>
        </p:nvSpPr>
        <p:spPr>
          <a:xfrm>
            <a:off x="1055520" y="2205000"/>
            <a:ext cx="7919640" cy="36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Terraplenagem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Atenção especial às inclinações de taludes definitivos e provisórios;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buClr>
                <a:srgbClr val="000000"/>
              </a:buClr>
              <a:buFont typeface="OpenSymbol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Controle da cota final;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- Levar em consideração a remoção dos taludes provisórios, se necessário.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AutoShape 4"/>
          <p:cNvSpPr/>
          <p:nvPr/>
        </p:nvSpPr>
        <p:spPr>
          <a:xfrm>
            <a:off x="1587600" y="-13644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Terraplenagem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2209680" y="3863880"/>
            <a:ext cx="4505040" cy="190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9600" spc="-1" strike="noStrike">
                <a:solidFill>
                  <a:schemeClr val="lt1"/>
                </a:solidFill>
                <a:latin typeface="Roboto Condensed"/>
                <a:ea typeface="Montserrat"/>
              </a:rPr>
              <a:t>3.</a:t>
            </a:r>
            <a:br>
              <a:rPr sz="9600"/>
            </a:br>
            <a:r>
              <a:rPr b="1" lang="pt-BR" sz="5400" spc="-1" strike="noStrike">
                <a:solidFill>
                  <a:schemeClr val="lt1"/>
                </a:solidFill>
                <a:latin typeface="Roboto Condensed"/>
                <a:ea typeface="Montserrat"/>
              </a:rPr>
              <a:t>Taludes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Text Box 1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1.0. Conceitos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 Box 2"/>
          <p:cNvSpPr/>
          <p:nvPr/>
        </p:nvSpPr>
        <p:spPr>
          <a:xfrm>
            <a:off x="1847880" y="1116000"/>
            <a:ext cx="8098920" cy="369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Box 3"/>
          <p:cNvSpPr/>
          <p:nvPr/>
        </p:nvSpPr>
        <p:spPr>
          <a:xfrm>
            <a:off x="1055520" y="1557360"/>
            <a:ext cx="8098920" cy="49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Talude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Superfícies inclinadas resultantes de um corte ou aterro.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Um talude na proporção 2:3 significa que a cada 3 m de avanço no plano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horizontal teremos 2 m no plano vertical.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Ponto de off- set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Ponto onde o talude se encontra com a superfície original do terreno</a:t>
            </a: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.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(ALVAREZ et al)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Linhas de Ofsset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Lugar geométrico dos pontos de off-set (ALVAREZ et al)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2" name="Picture 4" descr=""/>
          <p:cNvPicPr/>
          <p:nvPr/>
        </p:nvPicPr>
        <p:blipFill>
          <a:blip r:embed="rId1"/>
          <a:stretch/>
        </p:blipFill>
        <p:spPr>
          <a:xfrm>
            <a:off x="2252520" y="3284640"/>
            <a:ext cx="3419280" cy="1069560"/>
          </a:xfrm>
          <a:prstGeom prst="rect">
            <a:avLst/>
          </a:prstGeom>
          <a:ln w="0">
            <a:noFill/>
          </a:ln>
        </p:spPr>
      </p:pic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3.0. Taludes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Picture 1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415" name="Text Box 2"/>
          <p:cNvSpPr/>
          <p:nvPr/>
        </p:nvSpPr>
        <p:spPr>
          <a:xfrm>
            <a:off x="10056960" y="6554880"/>
            <a:ext cx="10792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333333"/>
                </a:solidFill>
                <a:latin typeface="Roboto Condensed"/>
                <a:ea typeface="Arial"/>
              </a:rPr>
              <a:t>Google images 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Picture 1" descr=""/>
          <p:cNvPicPr/>
          <p:nvPr/>
        </p:nvPicPr>
        <p:blipFill>
          <a:blip r:embed="rId1"/>
          <a:stretch/>
        </p:blipFill>
        <p:spPr>
          <a:xfrm>
            <a:off x="1903320" y="3138480"/>
            <a:ext cx="7741800" cy="2607840"/>
          </a:xfrm>
          <a:prstGeom prst="rect">
            <a:avLst/>
          </a:prstGeom>
          <a:ln w="0">
            <a:noFill/>
          </a:ln>
        </p:spPr>
      </p:pic>
      <p:sp>
        <p:nvSpPr>
          <p:cNvPr id="417" name="Text Box 2"/>
          <p:cNvSpPr/>
          <p:nvPr/>
        </p:nvSpPr>
        <p:spPr>
          <a:xfrm>
            <a:off x="1055520" y="1994040"/>
            <a:ext cx="32396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Taludes de Corte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Box 3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2.0. Tipos de talude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3.0. Taludes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CaixaDeTexto 7"/>
          <p:cNvSpPr/>
          <p:nvPr/>
        </p:nvSpPr>
        <p:spPr>
          <a:xfrm>
            <a:off x="1415880" y="6372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Text Box 1"/>
          <p:cNvSpPr/>
          <p:nvPr/>
        </p:nvSpPr>
        <p:spPr>
          <a:xfrm>
            <a:off x="922320" y="1844640"/>
            <a:ext cx="8280000" cy="48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Taludes de Corte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2" name="Picture 4" descr="http://dc244.4shared.com/doc/-7a9xuwa/preview_html_m5fd203fe.png"/>
          <p:cNvPicPr/>
          <p:nvPr/>
        </p:nvPicPr>
        <p:blipFill>
          <a:blip r:embed="rId1"/>
          <a:stretch/>
        </p:blipFill>
        <p:spPr>
          <a:xfrm>
            <a:off x="2351160" y="2625840"/>
            <a:ext cx="5760720" cy="3580920"/>
          </a:xfrm>
          <a:prstGeom prst="rect">
            <a:avLst/>
          </a:prstGeom>
          <a:ln w="0">
            <a:noFill/>
          </a:ln>
        </p:spPr>
      </p:pic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3.0. Taludes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Text Box 1"/>
          <p:cNvSpPr/>
          <p:nvPr/>
        </p:nvSpPr>
        <p:spPr>
          <a:xfrm>
            <a:off x="934920" y="1825560"/>
            <a:ext cx="32396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Taludes de aterro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Box 2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2.0. Tipos de talude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6" name="Picture 4" descr=""/>
          <p:cNvPicPr/>
          <p:nvPr/>
        </p:nvPicPr>
        <p:blipFill>
          <a:blip r:embed="rId1"/>
          <a:stretch/>
        </p:blipFill>
        <p:spPr>
          <a:xfrm>
            <a:off x="2556000" y="3340080"/>
            <a:ext cx="6901920" cy="2542680"/>
          </a:xfrm>
          <a:prstGeom prst="rect">
            <a:avLst/>
          </a:prstGeom>
          <a:ln w="0">
            <a:noFill/>
          </a:ln>
        </p:spPr>
      </p:pic>
      <p:sp>
        <p:nvSpPr>
          <p:cNvPr id="427" name="CaixaDeTexto 6"/>
          <p:cNvSpPr/>
          <p:nvPr/>
        </p:nvSpPr>
        <p:spPr>
          <a:xfrm>
            <a:off x="9696600" y="6453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3.0. Taludes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CaixaDeTexto 9"/>
          <p:cNvSpPr/>
          <p:nvPr/>
        </p:nvSpPr>
        <p:spPr>
          <a:xfrm>
            <a:off x="906480" y="2057400"/>
            <a:ext cx="109486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Tendem a ser menos inclinados  que os talude de corte pois têm menos estabilidade que o terreno natural.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Picture 1" descr=""/>
          <p:cNvPicPr/>
          <p:nvPr/>
        </p:nvPicPr>
        <p:blipFill>
          <a:blip r:embed="rId1"/>
          <a:stretch/>
        </p:blipFill>
        <p:spPr>
          <a:xfrm>
            <a:off x="2424240" y="2851200"/>
            <a:ext cx="7343280" cy="3371400"/>
          </a:xfrm>
          <a:prstGeom prst="rect">
            <a:avLst/>
          </a:prstGeom>
          <a:ln w="0">
            <a:noFill/>
          </a:ln>
        </p:spPr>
      </p:pic>
      <p:sp>
        <p:nvSpPr>
          <p:cNvPr id="431" name="Text Box 2"/>
          <p:cNvSpPr/>
          <p:nvPr/>
        </p:nvSpPr>
        <p:spPr>
          <a:xfrm>
            <a:off x="922320" y="1874880"/>
            <a:ext cx="3239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Taludes de seção mista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Box 3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2.0. Tipos de talude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CaixaDeTexto 6"/>
          <p:cNvSpPr/>
          <p:nvPr/>
        </p:nvSpPr>
        <p:spPr>
          <a:xfrm>
            <a:off x="1190520" y="6453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3.0. Taludes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1127160" y="3863880"/>
            <a:ext cx="5587560" cy="190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9600" spc="-1" strike="noStrike">
                <a:solidFill>
                  <a:schemeClr val="lt1"/>
                </a:solidFill>
                <a:latin typeface="Roboto Condensed"/>
                <a:ea typeface="Montserrat"/>
              </a:rPr>
              <a:t>4.</a:t>
            </a:r>
            <a:br>
              <a:rPr sz="9600"/>
            </a:br>
            <a:r>
              <a:rPr b="1" lang="pt-BR" sz="5400" spc="-1" strike="noStrike">
                <a:solidFill>
                  <a:schemeClr val="lt1"/>
                </a:solidFill>
                <a:latin typeface="Roboto Condensed"/>
                <a:ea typeface="Montserrat"/>
              </a:rPr>
              <a:t>Determinação de Linhas de Offset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Picture 1" descr=""/>
          <p:cNvPicPr/>
          <p:nvPr/>
        </p:nvPicPr>
        <p:blipFill>
          <a:blip r:embed="rId1"/>
          <a:stretch/>
        </p:blipFill>
        <p:spPr>
          <a:xfrm>
            <a:off x="2567160" y="2252520"/>
            <a:ext cx="7324200" cy="4285800"/>
          </a:xfrm>
          <a:prstGeom prst="rect">
            <a:avLst/>
          </a:prstGeom>
          <a:ln w="0">
            <a:noFill/>
          </a:ln>
        </p:spPr>
      </p:pic>
      <p:sp>
        <p:nvSpPr>
          <p:cNvPr id="437" name="Text Box 2"/>
          <p:cNvSpPr/>
          <p:nvPr/>
        </p:nvSpPr>
        <p:spPr>
          <a:xfrm>
            <a:off x="182736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3.0. Determinação de Linhas de Ofsset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Determinação de Linhas de Offset 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CaixaDeTexto 7"/>
          <p:cNvSpPr/>
          <p:nvPr/>
        </p:nvSpPr>
        <p:spPr>
          <a:xfrm>
            <a:off x="1190520" y="6453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" name="Picture 1" descr=""/>
          <p:cNvPicPr/>
          <p:nvPr/>
        </p:nvPicPr>
        <p:blipFill>
          <a:blip r:embed="rId1"/>
          <a:stretch/>
        </p:blipFill>
        <p:spPr>
          <a:xfrm>
            <a:off x="2424240" y="2009880"/>
            <a:ext cx="7171920" cy="4266720"/>
          </a:xfrm>
          <a:prstGeom prst="rect">
            <a:avLst/>
          </a:prstGeom>
          <a:ln w="0">
            <a:noFill/>
          </a:ln>
        </p:spPr>
      </p:pic>
      <p:sp>
        <p:nvSpPr>
          <p:cNvPr id="441" name="Text Box 4"/>
          <p:cNvSpPr/>
          <p:nvPr/>
        </p:nvSpPr>
        <p:spPr>
          <a:xfrm>
            <a:off x="1754280" y="-6336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3.0. Determinação de Linhas de Ofsset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CaixaDeTexto 6"/>
          <p:cNvSpPr/>
          <p:nvPr/>
        </p:nvSpPr>
        <p:spPr>
          <a:xfrm>
            <a:off x="1190520" y="6453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Determinação de Linhas de Offset 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Picture 1" descr=""/>
          <p:cNvPicPr/>
          <p:nvPr/>
        </p:nvPicPr>
        <p:blipFill>
          <a:blip r:embed="rId1"/>
          <a:stretch/>
        </p:blipFill>
        <p:spPr>
          <a:xfrm>
            <a:off x="5313240" y="2717640"/>
            <a:ext cx="5211360" cy="3630240"/>
          </a:xfrm>
          <a:prstGeom prst="rect">
            <a:avLst/>
          </a:prstGeom>
          <a:ln w="0">
            <a:noFill/>
          </a:ln>
        </p:spPr>
      </p:pic>
      <p:pic>
        <p:nvPicPr>
          <p:cNvPr id="445" name="Picture 2" descr=""/>
          <p:cNvPicPr/>
          <p:nvPr/>
        </p:nvPicPr>
        <p:blipFill>
          <a:blip r:embed="rId2"/>
          <a:stretch/>
        </p:blipFill>
        <p:spPr>
          <a:xfrm>
            <a:off x="1631880" y="2460600"/>
            <a:ext cx="4019040" cy="904680"/>
          </a:xfrm>
          <a:prstGeom prst="rect">
            <a:avLst/>
          </a:prstGeom>
          <a:ln w="0">
            <a:noFill/>
          </a:ln>
        </p:spPr>
      </p:pic>
      <p:sp>
        <p:nvSpPr>
          <p:cNvPr id="446" name="Text Box 4"/>
          <p:cNvSpPr/>
          <p:nvPr/>
        </p:nvSpPr>
        <p:spPr>
          <a:xfrm>
            <a:off x="1074600" y="6348240"/>
            <a:ext cx="30873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333333"/>
                </a:solidFill>
                <a:latin typeface="Roboto Condensed"/>
                <a:ea typeface="Arial"/>
              </a:rPr>
              <a:t>Fonte (Google Imagens)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Box 5"/>
          <p:cNvSpPr/>
          <p:nvPr/>
        </p:nvSpPr>
        <p:spPr>
          <a:xfrm>
            <a:off x="1754280" y="-6192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3.0. Determinação de Linhas de Ofsset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Determinação de Linhas de Offset 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Box 2"/>
          <p:cNvSpPr/>
          <p:nvPr/>
        </p:nvSpPr>
        <p:spPr>
          <a:xfrm>
            <a:off x="922320" y="1874880"/>
            <a:ext cx="3239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Representação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title"/>
          </p:nvPr>
        </p:nvSpPr>
        <p:spPr>
          <a:xfrm>
            <a:off x="1127160" y="3863880"/>
            <a:ext cx="5587560" cy="190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9600" spc="-1" strike="noStrike">
                <a:solidFill>
                  <a:schemeClr val="lt1"/>
                </a:solidFill>
                <a:latin typeface="Roboto Condensed"/>
                <a:ea typeface="Montserrat"/>
              </a:rPr>
              <a:t>5.</a:t>
            </a:r>
            <a:br>
              <a:rPr sz="9600"/>
            </a:br>
            <a:r>
              <a:rPr b="1" lang="pt-BR" sz="5400" spc="-1" strike="noStrike">
                <a:solidFill>
                  <a:schemeClr val="lt1"/>
                </a:solidFill>
                <a:latin typeface="Roboto Condensed"/>
                <a:ea typeface="Montserrat"/>
              </a:rPr>
              <a:t>Cálculo de Volume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Text Box 1"/>
          <p:cNvSpPr/>
          <p:nvPr/>
        </p:nvSpPr>
        <p:spPr>
          <a:xfrm>
            <a:off x="164772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4.0. Cálculo do volume de terra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Box 2"/>
          <p:cNvSpPr/>
          <p:nvPr/>
        </p:nvSpPr>
        <p:spPr>
          <a:xfrm>
            <a:off x="1127160" y="1703520"/>
            <a:ext cx="9216720" cy="458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Empolamento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Corresponde ao aumento de volume apresentado pelo solo após ser retirado de sua condição original. Varia conforme o tipo de solo.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- Areia e terra vegetal: 20 a 30 %;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- Argila: 25 a 30 %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- Rocha 35 a 50%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Cálculo de volumes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3" name="Picture 3" descr=""/>
          <p:cNvPicPr/>
          <p:nvPr/>
        </p:nvPicPr>
        <p:blipFill>
          <a:blip r:embed="rId1"/>
          <a:stretch/>
        </p:blipFill>
        <p:spPr>
          <a:xfrm>
            <a:off x="2227320" y="4941720"/>
            <a:ext cx="7737120" cy="1555560"/>
          </a:xfrm>
          <a:prstGeom prst="rect">
            <a:avLst/>
          </a:prstGeom>
          <a:ln w="0">
            <a:noFill/>
          </a:ln>
        </p:spPr>
      </p:pic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5.0. Cálculo de Volume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Picture 1" descr=""/>
          <p:cNvPicPr/>
          <p:nvPr/>
        </p:nvPicPr>
        <p:blipFill>
          <a:blip r:embed="rId1"/>
          <a:stretch/>
        </p:blipFill>
        <p:spPr>
          <a:xfrm>
            <a:off x="2855880" y="2027160"/>
            <a:ext cx="5624280" cy="4336560"/>
          </a:xfrm>
          <a:prstGeom prst="rect">
            <a:avLst/>
          </a:prstGeom>
          <a:ln w="0">
            <a:noFill/>
          </a:ln>
        </p:spPr>
      </p:pic>
      <p:sp>
        <p:nvSpPr>
          <p:cNvPr id="456" name="Text Box 2"/>
          <p:cNvSpPr/>
          <p:nvPr/>
        </p:nvSpPr>
        <p:spPr>
          <a:xfrm>
            <a:off x="1647720" y="-1000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4.0. Cálculo do volume de terra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5.0. Cálculo de Volume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CaixaDeTexto 5"/>
          <p:cNvSpPr/>
          <p:nvPr/>
        </p:nvSpPr>
        <p:spPr>
          <a:xfrm>
            <a:off x="1190520" y="6453360"/>
            <a:ext cx="21585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ALVAREZ ET AL (2003)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Text Box 2"/>
          <p:cNvSpPr/>
          <p:nvPr/>
        </p:nvSpPr>
        <p:spPr>
          <a:xfrm>
            <a:off x="1847880" y="-792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4.0. Cálculo do volume de terra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6.0. Referências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Box 2"/>
          <p:cNvSpPr/>
          <p:nvPr/>
        </p:nvSpPr>
        <p:spPr>
          <a:xfrm>
            <a:off x="925560" y="1778040"/>
            <a:ext cx="11088360" cy="52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 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BORGES, Alberto de Campos.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Topografia Aplicada a Engenharia Civil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São</a:t>
            </a:r>
            <a:r>
              <a:rPr b="0" lang="pt-BR" sz="1600" spc="-1" strike="noStrike" u="sng">
                <a:solidFill>
                  <a:srgbClr val="000000"/>
                </a:solidFill>
                <a:uFillTx/>
                <a:latin typeface="Roboto Condensed"/>
                <a:ea typeface="Arial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Paulo, Edgard Blucher, 1992. 2. v.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MASCARÓ, J. L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Loteamentos Urbanos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Porto Alegre: Editor L. Mascaró, 2005.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MASCARÓ, J. L.; YOSHINAGA, M.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Infraestrutura Urbana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Porto Alegre: +4 Editora :</a:t>
            </a:r>
            <a:r>
              <a:rPr b="0" lang="pt-BR" sz="1600" spc="-1" strike="noStrike" u="sng">
                <a:solidFill>
                  <a:srgbClr val="000000"/>
                </a:solidFill>
                <a:uFillTx/>
                <a:latin typeface="Roboto Condensed"/>
                <a:ea typeface="Arial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L.J. Mascaró, 2005.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DA COSTA, P. S.; FIGUEIREDO, W.C.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Estradas – Estudos e Projetos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Salvador: EDUFBA, 2007.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ROMERO, Adriana Bustos.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Princípios Bioclimáticos para o Desenho Urbano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São Paulo: Projeto Editores Associados, 2001.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THUM, Adriane Brill; ERBA, Diego Alfonso (org.).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Topografia para estudantes de Arquitetura, Engenharia e Geologia.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São Leopoldo: Unisinos, 2003. 1. v.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ALVAREZ, Adriana; BRASILEIRO, Alice; MORGADO, Cláudio; TREVISAN, Rosina. 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Topografia para Arquitetos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. Rio de Janeiro: Booklink, UFRJ, 2003.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 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Arial"/>
              </a:rPr>
              <a:t>Grohmann, C. H., 2008. Introdução ao geoprocessamento e à análise digital de terreno com software livre. Technical report, Instituto de Geociências, Universidade de São Paulo, São Paulo.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330"/>
          <p:cNvSpPr/>
          <p:nvPr/>
        </p:nvSpPr>
        <p:spPr>
          <a:xfrm>
            <a:off x="1523880" y="0"/>
            <a:ext cx="9143640" cy="26190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2146320" y="536400"/>
            <a:ext cx="7899120" cy="1545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7200" spc="-1" strike="noStrike">
                <a:solidFill>
                  <a:srgbClr val="4ecdc4"/>
                </a:solidFill>
                <a:latin typeface="Roboto Condensed"/>
                <a:ea typeface="Montserrat"/>
              </a:rPr>
              <a:t>Obrigado</a:t>
            </a:r>
            <a:endParaRPr b="0" lang="pt-BR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 type="subTitle"/>
          </p:nvPr>
        </p:nvSpPr>
        <p:spPr>
          <a:xfrm>
            <a:off x="2225520" y="2917800"/>
            <a:ext cx="8442000" cy="83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4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Dúvidas? 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334"/>
          <p:cNvSpPr/>
          <p:nvPr/>
        </p:nvSpPr>
        <p:spPr>
          <a:xfrm>
            <a:off x="2336760" y="4100400"/>
            <a:ext cx="1533240" cy="137880"/>
          </a:xfrm>
          <a:prstGeom prst="rect">
            <a:avLst/>
          </a:prstGeom>
          <a:solidFill>
            <a:srgbClr val="454f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69120" bIns="691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Desdemona template">
  <a:themeElements>
    <a:clrScheme name="Default">
      <a:dk1>
        <a:srgbClr val="000000"/>
      </a:dk1>
      <a:lt1>
        <a:srgbClr val="ffffff"/>
      </a:lt1>
      <a:dk2>
        <a:srgbClr val="accbf9"/>
      </a:dk2>
      <a:lt2>
        <a:srgbClr val="242852"/>
      </a:lt2>
      <a:accent1>
        <a:srgbClr val="4a66ac"/>
      </a:accent1>
      <a:accent2>
        <a:srgbClr val="629dd1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Desdemona template">
  <a:themeElements>
    <a:clrScheme name="Default">
      <a:dk1>
        <a:srgbClr val="000000"/>
      </a:dk1>
      <a:lt1>
        <a:srgbClr val="ffffff"/>
      </a:lt1>
      <a:dk2>
        <a:srgbClr val="accbf9"/>
      </a:dk2>
      <a:lt2>
        <a:srgbClr val="242852"/>
      </a:lt2>
      <a:accent1>
        <a:srgbClr val="4a66ac"/>
      </a:accent1>
      <a:accent2>
        <a:srgbClr val="629dd1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Desdemona template">
  <a:themeElements>
    <a:clrScheme name="Default">
      <a:dk1>
        <a:srgbClr val="000000"/>
      </a:dk1>
      <a:lt1>
        <a:srgbClr val="ffffff"/>
      </a:lt1>
      <a:dk2>
        <a:srgbClr val="accbf9"/>
      </a:dk2>
      <a:lt2>
        <a:srgbClr val="242852"/>
      </a:lt2>
      <a:accent1>
        <a:srgbClr val="4a66ac"/>
      </a:accent1>
      <a:accent2>
        <a:srgbClr val="629dd1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Desdemona template">
  <a:themeElements>
    <a:clrScheme name="Default">
      <a:dk1>
        <a:srgbClr val="000000"/>
      </a:dk1>
      <a:lt1>
        <a:srgbClr val="ffffff"/>
      </a:lt1>
      <a:dk2>
        <a:srgbClr val="accbf9"/>
      </a:dk2>
      <a:lt2>
        <a:srgbClr val="242852"/>
      </a:lt2>
      <a:accent1>
        <a:srgbClr val="4a66ac"/>
      </a:accent1>
      <a:accent2>
        <a:srgbClr val="629dd1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Desdemona template">
  <a:themeElements>
    <a:clrScheme name="Default">
      <a:dk1>
        <a:srgbClr val="000000"/>
      </a:dk1>
      <a:lt1>
        <a:srgbClr val="ffffff"/>
      </a:lt1>
      <a:dk2>
        <a:srgbClr val="accbf9"/>
      </a:dk2>
      <a:lt2>
        <a:srgbClr val="242852"/>
      </a:lt2>
      <a:accent1>
        <a:srgbClr val="4a66ac"/>
      </a:accent1>
      <a:accent2>
        <a:srgbClr val="629dd1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ccbf9"/>
      </a:dk2>
      <a:lt2>
        <a:srgbClr val="242852"/>
      </a:lt2>
      <a:accent1>
        <a:srgbClr val="4a66ac"/>
      </a:accent1>
      <a:accent2>
        <a:srgbClr val="629dd1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Topografia Aula 01 - Noções Gerais Objetivos e Divisão rev</Template>
  <TotalTime>0</TotalTime>
  <Application>LibreOffice/7.5.5.2$Windows_X86_64 LibreOffice_project/ca8fe7424262805f223b9a2334bc7181abbcbf5e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2011-01-28T13:17:00Z</dcterms:created>
  <dc:creator>Ridalva</dc:creator>
  <dc:description/>
  <dc:language>pt-BR</dc:language>
  <cp:lastModifiedBy/>
  <dcterms:modified xsi:type="dcterms:W3CDTF">2025-12-11T15:18:46Z</dcterms:modified>
  <cp:revision>132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61</vt:i4>
  </property>
  <property fmtid="{D5CDD505-2E9C-101B-9397-08002B2CF9AE}" pid="4" name="Slides">
    <vt:i4>61</vt:i4>
  </property>
</Properties>
</file>