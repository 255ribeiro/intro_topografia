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99" r:id="rId3"/>
    <p:sldId id="378" r:id="rId4"/>
    <p:sldId id="397" r:id="rId5"/>
    <p:sldId id="410" r:id="rId6"/>
    <p:sldId id="411" r:id="rId7"/>
    <p:sldId id="407" r:id="rId8"/>
    <p:sldId id="409" r:id="rId9"/>
    <p:sldId id="412" r:id="rId10"/>
    <p:sldId id="402" r:id="rId11"/>
    <p:sldId id="401" r:id="rId12"/>
    <p:sldId id="403" r:id="rId13"/>
    <p:sldId id="404" r:id="rId14"/>
    <p:sldId id="405" r:id="rId15"/>
    <p:sldId id="406" r:id="rId16"/>
    <p:sldId id="398" r:id="rId17"/>
    <p:sldId id="400" r:id="rId18"/>
    <p:sldId id="408" r:id="rId19"/>
    <p:sldId id="413" r:id="rId20"/>
    <p:sldId id="393" r:id="rId21"/>
    <p:sldId id="394" r:id="rId22"/>
    <p:sldId id="395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3662" autoAdjust="0"/>
  </p:normalViewPr>
  <p:slideViewPr>
    <p:cSldViewPr snapToGrid="0">
      <p:cViewPr varScale="1">
        <p:scale>
          <a:sx n="62" d="100"/>
          <a:sy n="62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CF727-4844-4058-80B1-55D09D60E6DD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61AC1-0056-4F24-BE59-8956684AA8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48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Denomina-se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levantamento topográfico a atividade realizada em campo que visa coletar dados para posterior representação do terreno. O nivelamento é a operação de altimetria utilizada para obter as distâncias verticais entre planos horizontais, através de cotas ou altitudes. Os padrões que regem e regulamentam os procedimentos de levantamento topográfico e </a:t>
            </a:r>
            <a:r>
              <a:rPr lang="pt-B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nivelmanetos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estão descritos na </a:t>
            </a:r>
            <a:r>
              <a:rPr lang="pt-BR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NBR 13.133. A NBR 14.166 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estabelece diretrizes para a elaboração e a atualização de plantas cadastrais municipais, a fim de amarrar os serviços de topografia e visando suas incorporações às plantas cadastrais do município. Além dessas, a </a:t>
            </a:r>
            <a:r>
              <a:rPr lang="pt-BR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NBR 15.777 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estipula os procedimentos a serem aplicados na elaboração de mapeamentos, cartas e plantas cadastrais e a padronização de simbologia aplicável. </a:t>
            </a:r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73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 smtClean="0"/>
              <a:t>Memorial descritivo é um documento anexo ao trabalho que informa todas as características de uma propriedade ou área. Esse memorial indica os principais marcos, coordenadas, estradas principais que limitam a propriedade, etc. É utilizado para descrever, em forma de texto, a poligonal que limita a propriedade de uma maneira que se entenda e compreenda suas características e o que foi realizado, sem a necessidade de se verificar graficamente ou em tabelas.</a:t>
            </a:r>
            <a:endParaRPr lang="pt-BR" sz="1200" b="1" dirty="0" smtClean="0">
              <a:latin typeface="Montserrat" pitchFamily="2" charset="0"/>
            </a:endParaRPr>
          </a:p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97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147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360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9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959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150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872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067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92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796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985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415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 smtClean="0"/>
              <a:t>Memorial descritivo é um documento anexo ao trabalho que informa todas as características de uma propriedade ou área. Esse memorial indica os principais marcos, coordenadas, estradas principais que limitam a propriedade, etc. É utilizado para descrever, em forma de texto, a poligonal que limita a propriedade de uma maneira que se entenda e compreenda suas características e o que foi realizado, sem a necessidade de se verificar graficamente ou em tabelas.</a:t>
            </a:r>
            <a:endParaRPr lang="pt-BR" sz="1200" b="1" dirty="0" smtClean="0">
              <a:latin typeface="Montserrat" pitchFamily="2" charset="0"/>
            </a:endParaRPr>
          </a:p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742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02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756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987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402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483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461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Resposta: </a:t>
            </a:r>
          </a:p>
          <a:p>
            <a:pPr marL="228600" indent="-228600">
              <a:buAutoNum type="arabicPeriod"/>
            </a:pPr>
            <a:r>
              <a:rPr lang="pt-BR" dirty="0" smtClean="0"/>
              <a:t>Perímetro: 144,991 m; </a:t>
            </a:r>
          </a:p>
          <a:p>
            <a:pPr marL="228600" indent="-228600">
              <a:buAutoNum type="arabicPeriod"/>
            </a:pPr>
            <a:r>
              <a:rPr lang="pt-BR" dirty="0" smtClean="0"/>
              <a:t>Coordenadas: B (60,00 m; 0,00 m); C (35,542 m; 20,105 m); D (24,457 m; -20,105 m)</a:t>
            </a:r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89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0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6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75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76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50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16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49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37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91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2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6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8077B-BCF5-431F-BFAC-F06CB74BF117}" type="datetimeFigureOut">
              <a:rPr lang="pt-BR" smtClean="0"/>
              <a:t>24/02/2024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75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30328" y="2274838"/>
            <a:ext cx="8967952" cy="126084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3200" b="1" dirty="0" smtClean="0">
                <a:latin typeface="Montserrat" pitchFamily="2" charset="0"/>
              </a:rPr>
              <a:t>TOPOGRAFIA E O PLANO TOPOGRÁFICO</a:t>
            </a:r>
          </a:p>
          <a:p>
            <a:pPr algn="l">
              <a:lnSpc>
                <a:spcPct val="100000"/>
              </a:lnSpc>
            </a:pPr>
            <a:r>
              <a:rPr lang="pt-BR" sz="3200" dirty="0" err="1" smtClean="0">
                <a:solidFill>
                  <a:srgbClr val="FF0000"/>
                </a:solidFill>
                <a:latin typeface="Montserrat" pitchFamily="2" charset="0"/>
              </a:rPr>
              <a:t>Planimentria</a:t>
            </a:r>
            <a:r>
              <a:rPr lang="pt-BR" sz="3200" dirty="0" smtClean="0">
                <a:solidFill>
                  <a:srgbClr val="FF0000"/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0" y="6339840"/>
            <a:ext cx="12192000" cy="5181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PROFESSOR MARCOS BRITTO</a:t>
            </a:r>
          </a:p>
        </p:txBody>
      </p:sp>
    </p:spTree>
    <p:extLst>
      <p:ext uri="{BB962C8B-B14F-4D97-AF65-F5344CB8AC3E}">
        <p14:creationId xmlns:p14="http://schemas.microsoft.com/office/powerpoint/2010/main" val="386772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Levantamento topográfico.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6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108488" y="6364441"/>
            <a:ext cx="12083510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Memorial descritivo e o levantamento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4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19316" y="4060723"/>
            <a:ext cx="1351936" cy="1248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249299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Pontos</a:t>
            </a:r>
          </a:p>
          <a:p>
            <a:endParaRPr lang="pt-BR" dirty="0" smtClean="0"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2000" dirty="0" smtClean="0"/>
              <a:t>Os pontos são a unidade mais elementar do levantamento topográfico, e identificam mudanças de direção da poligonal.</a:t>
            </a:r>
          </a:p>
        </p:txBody>
      </p:sp>
    </p:spTree>
    <p:extLst>
      <p:ext uri="{BB962C8B-B14F-4D97-AF65-F5344CB8AC3E}">
        <p14:creationId xmlns:p14="http://schemas.microsoft.com/office/powerpoint/2010/main" val="258683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19316" y="4060723"/>
            <a:ext cx="1351936" cy="1248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249299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Poligonais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As linhas poligonais são formadas por </a:t>
            </a:r>
            <a:r>
              <a:rPr lang="pt-BR" sz="2000" b="1" dirty="0" smtClean="0"/>
              <a:t>segmentos de retas</a:t>
            </a:r>
            <a:r>
              <a:rPr lang="pt-BR" sz="2000" b="1" dirty="0"/>
              <a:t> </a:t>
            </a:r>
            <a:r>
              <a:rPr lang="pt-BR" sz="2000" b="1" dirty="0" smtClean="0"/>
              <a:t>consecutivas </a:t>
            </a:r>
            <a:r>
              <a:rPr lang="pt-BR" sz="2000" dirty="0" smtClean="0"/>
              <a:t>que não possuem as mesmas direções. Elas formam </a:t>
            </a:r>
            <a:r>
              <a:rPr lang="pt-BR" sz="2000" b="1" dirty="0" smtClean="0"/>
              <a:t>os limites do terreno</a:t>
            </a:r>
            <a:r>
              <a:rPr lang="pt-BR" sz="20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426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19316" y="4060723"/>
            <a:ext cx="1351936" cy="1248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295465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Distâncias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As distâncias identificam medidas horizontais. Podem ser conferidas pela escala, mas é sempre bom estarem presentes na planta para uma rápida conferência.</a:t>
            </a:r>
          </a:p>
        </p:txBody>
      </p:sp>
    </p:spTree>
    <p:extLst>
      <p:ext uri="{BB962C8B-B14F-4D97-AF65-F5344CB8AC3E}">
        <p14:creationId xmlns:p14="http://schemas.microsoft.com/office/powerpoint/2010/main" val="409034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19316" y="4060723"/>
            <a:ext cx="1351936" cy="1248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203132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Norte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Indicação do </a:t>
            </a:r>
            <a:r>
              <a:rPr lang="pt-BR" sz="2000" b="1" dirty="0" smtClean="0"/>
              <a:t>norte geográfico</a:t>
            </a:r>
            <a:r>
              <a:rPr lang="pt-BR" sz="2000" dirty="0" smtClean="0"/>
              <a:t>, podendo ou não haver as outras coordenadas cardeais</a:t>
            </a:r>
          </a:p>
        </p:txBody>
      </p:sp>
    </p:spTree>
    <p:extLst>
      <p:ext uri="{BB962C8B-B14F-4D97-AF65-F5344CB8AC3E}">
        <p14:creationId xmlns:p14="http://schemas.microsoft.com/office/powerpoint/2010/main" val="400498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4801314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Norte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O norte permite determinar a posição exata de uma poligonal ou alinhamento topográfico sobre a superfície da Terra. O chamado </a:t>
            </a:r>
            <a:r>
              <a:rPr lang="pt-BR" sz="2000" b="1" dirty="0" smtClean="0"/>
              <a:t>Norte Verdadeiro</a:t>
            </a:r>
            <a:r>
              <a:rPr lang="pt-BR" sz="2000" dirty="0" smtClean="0"/>
              <a:t> (NV) é conhecido como o </a:t>
            </a:r>
            <a:r>
              <a:rPr lang="pt-BR" sz="2000" b="1" dirty="0" smtClean="0"/>
              <a:t>Norte Geográfico</a:t>
            </a:r>
            <a:r>
              <a:rPr lang="pt-BR" sz="2000" dirty="0" smtClean="0"/>
              <a:t> (NG). Além deste, há o </a:t>
            </a:r>
            <a:r>
              <a:rPr lang="pt-BR" sz="2000" b="1" dirty="0" smtClean="0"/>
              <a:t>Norte Magnético </a:t>
            </a:r>
            <a:r>
              <a:rPr lang="pt-BR" sz="2000" dirty="0" smtClean="0"/>
              <a:t>(NM), que não utilizamos, pois muda de época para época.</a:t>
            </a:r>
          </a:p>
        </p:txBody>
      </p:sp>
    </p:spTree>
    <p:extLst>
      <p:ext uri="{BB962C8B-B14F-4D97-AF65-F5344CB8AC3E}">
        <p14:creationId xmlns:p14="http://schemas.microsoft.com/office/powerpoint/2010/main" val="189484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19316" y="4060723"/>
            <a:ext cx="1351936" cy="1248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07924" y="793490"/>
            <a:ext cx="4218038" cy="203132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Identificação de divisas</a:t>
            </a:r>
          </a:p>
          <a:p>
            <a:endParaRPr lang="pt-BR" dirty="0" smtClean="0"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2000" dirty="0" smtClean="0"/>
              <a:t>Identificação de todos os elementos que fazem divisa com outros lotes como ruas, muros, barreiras, etc.</a:t>
            </a:r>
          </a:p>
        </p:txBody>
      </p:sp>
    </p:spTree>
    <p:extLst>
      <p:ext uri="{BB962C8B-B14F-4D97-AF65-F5344CB8AC3E}">
        <p14:creationId xmlns:p14="http://schemas.microsoft.com/office/powerpoint/2010/main" val="371217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accent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8981" y="5289754"/>
            <a:ext cx="1351936" cy="816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08488" y="469900"/>
            <a:ext cx="3352800" cy="341632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Selo</a:t>
            </a:r>
          </a:p>
          <a:p>
            <a:endParaRPr lang="pt-BR" dirty="0" smtClean="0"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2000" dirty="0" smtClean="0"/>
              <a:t>O selo indica as informações básicas da prancha que está apresentada, bem como informações do contratante (proprietário) e outras informações do terreno.</a:t>
            </a:r>
          </a:p>
        </p:txBody>
      </p:sp>
    </p:spTree>
    <p:extLst>
      <p:ext uri="{BB962C8B-B14F-4D97-AF65-F5344CB8AC3E}">
        <p14:creationId xmlns:p14="http://schemas.microsoft.com/office/powerpoint/2010/main" val="38985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accent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8981" y="5289754"/>
            <a:ext cx="1351936" cy="816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334298" y="893958"/>
            <a:ext cx="3126656" cy="249299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Legenda e convenções</a:t>
            </a:r>
          </a:p>
          <a:p>
            <a:endParaRPr lang="pt-BR" dirty="0" smtClean="0"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2000" dirty="0" smtClean="0"/>
              <a:t>As legendas indicam os símbolos e seus significados a serem utilizados em qualquer desenho. </a:t>
            </a:r>
          </a:p>
        </p:txBody>
      </p:sp>
    </p:spTree>
    <p:extLst>
      <p:ext uri="{BB962C8B-B14F-4D97-AF65-F5344CB8AC3E}">
        <p14:creationId xmlns:p14="http://schemas.microsoft.com/office/powerpoint/2010/main" val="161503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accent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8981" y="5289754"/>
            <a:ext cx="1351936" cy="816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08488" y="469900"/>
            <a:ext cx="3352800" cy="249299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Área e perímetro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 área do terreno deverá ser compatível com a área formada pela poligonal do desenho. (perímetro)</a:t>
            </a:r>
          </a:p>
        </p:txBody>
      </p:sp>
    </p:spTree>
    <p:extLst>
      <p:ext uri="{BB962C8B-B14F-4D97-AF65-F5344CB8AC3E}">
        <p14:creationId xmlns:p14="http://schemas.microsoft.com/office/powerpoint/2010/main" val="273687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487228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accent1"/>
                </a:solidFill>
                <a:latin typeface="Montserrat" pitchFamily="2" charset="0"/>
              </a:rPr>
              <a:t>Projeto planimétrico.</a:t>
            </a:r>
            <a:endParaRPr lang="pt-BR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8981" y="5289754"/>
            <a:ext cx="1351936" cy="816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08488" y="469900"/>
            <a:ext cx="3352800" cy="249299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Escala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 escala indica o padrão de redução de um desenho. Neste exemplo, existe uma redução de 1 para 250.</a:t>
            </a:r>
          </a:p>
        </p:txBody>
      </p:sp>
    </p:spTree>
    <p:extLst>
      <p:ext uri="{BB962C8B-B14F-4D97-AF65-F5344CB8AC3E}">
        <p14:creationId xmlns:p14="http://schemas.microsoft.com/office/powerpoint/2010/main" val="3359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2" cy="6857995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17203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Sobre escalas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8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108488" y="6364441"/>
            <a:ext cx="12083510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Memorial descritivo e o levantamento planimétrico.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3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Memorial descritivo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415845" y="2585884"/>
            <a:ext cx="3038168" cy="393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2" idx="3"/>
            <a:endCxn id="9" idx="1"/>
          </p:cNvCxnSpPr>
          <p:nvPr/>
        </p:nvCxnSpPr>
        <p:spPr>
          <a:xfrm flipV="1">
            <a:off x="4454013" y="2620485"/>
            <a:ext cx="1022555" cy="1620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5476568" y="773825"/>
            <a:ext cx="6204155" cy="369331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DESCRIÇÃO DA POLIGONAL DA ÁREA A SER DESMEMBRADA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Inicia-se a descrição desta poligonal no ponto denominado </a:t>
            </a:r>
            <a:r>
              <a:rPr lang="pt-BR" sz="2000" b="1" dirty="0" smtClean="0"/>
              <a:t>0=PP</a:t>
            </a:r>
            <a:r>
              <a:rPr lang="pt-BR" sz="2000" dirty="0" smtClean="0"/>
              <a:t> situado no entroncamento da Rua </a:t>
            </a:r>
            <a:r>
              <a:rPr lang="pt-BR" sz="2000" dirty="0" err="1" smtClean="0"/>
              <a:t>Antonio</a:t>
            </a:r>
            <a:r>
              <a:rPr lang="pt-BR" sz="2000" dirty="0" smtClean="0"/>
              <a:t> </a:t>
            </a:r>
            <a:r>
              <a:rPr lang="pt-BR" sz="2000" dirty="0" err="1" smtClean="0"/>
              <a:t>Moletta</a:t>
            </a:r>
            <a:r>
              <a:rPr lang="pt-BR" sz="2000" dirty="0" smtClean="0"/>
              <a:t> Filho com a Estrada de Servidão. Deste, segue-se por </a:t>
            </a:r>
            <a:r>
              <a:rPr lang="pt-BR" sz="2000" b="1" dirty="0" smtClean="0"/>
              <a:t>13,00m</a:t>
            </a:r>
            <a:r>
              <a:rPr lang="pt-BR" sz="2000" dirty="0" smtClean="0"/>
              <a:t> com azimute </a:t>
            </a:r>
            <a:r>
              <a:rPr lang="pt-BR" sz="2000" b="1" dirty="0" smtClean="0"/>
              <a:t>82º30’38’’ </a:t>
            </a:r>
            <a:r>
              <a:rPr lang="pt-BR" sz="2000" dirty="0" smtClean="0"/>
              <a:t>até chegar ao </a:t>
            </a:r>
            <a:r>
              <a:rPr lang="pt-BR" sz="2000" b="1" dirty="0" smtClean="0"/>
              <a:t>ponto 1</a:t>
            </a:r>
            <a:r>
              <a:rPr lang="pt-BR" sz="2000" dirty="0" smtClean="0"/>
              <a:t>, até aqui confrontamos a estrada de servidão com a Rua </a:t>
            </a:r>
            <a:r>
              <a:rPr lang="pt-BR" sz="2000" dirty="0" err="1" smtClean="0"/>
              <a:t>Antonio</a:t>
            </a:r>
            <a:r>
              <a:rPr lang="pt-BR" sz="2000" dirty="0" smtClean="0"/>
              <a:t> </a:t>
            </a:r>
            <a:r>
              <a:rPr lang="pt-BR" sz="2000" dirty="0" err="1" smtClean="0"/>
              <a:t>Moletta</a:t>
            </a:r>
            <a:r>
              <a:rPr lang="pt-BR" sz="2000" dirty="0" smtClean="0"/>
              <a:t> Filho. </a:t>
            </a:r>
            <a:endParaRPr lang="pt-B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66036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Tipos de ângulos horizontais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275303" y="564024"/>
            <a:ext cx="4444180" cy="16777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A </a:t>
            </a:r>
            <a:r>
              <a:rPr lang="pt-BR" sz="2000" dirty="0" err="1" smtClean="0"/>
              <a:t>planimetria</a:t>
            </a:r>
            <a:r>
              <a:rPr lang="pt-BR" sz="2000" dirty="0" smtClean="0"/>
              <a:t> trabalha com </a:t>
            </a:r>
            <a:r>
              <a:rPr lang="pt-BR" sz="2000" b="1" dirty="0" smtClean="0"/>
              <a:t>ângulos horizontais</a:t>
            </a:r>
            <a:r>
              <a:rPr lang="pt-BR" sz="2000" dirty="0" smtClean="0"/>
              <a:t>, para a qual emprega-se um equipamento denominado de teodolito. Os ângulos horizontais podem ser classificados da seguinte maneira: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62980" y="3553953"/>
            <a:ext cx="2256503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Ângulos horizontais</a:t>
            </a:r>
          </a:p>
        </p:txBody>
      </p:sp>
      <p:cxnSp>
        <p:nvCxnSpPr>
          <p:cNvPr id="3" name="Conector reto 2"/>
          <p:cNvCxnSpPr>
            <a:stCxn id="7" idx="3"/>
          </p:cNvCxnSpPr>
          <p:nvPr/>
        </p:nvCxnSpPr>
        <p:spPr>
          <a:xfrm>
            <a:off x="4719483" y="3758177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5633883" y="3553953"/>
            <a:ext cx="1268362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Deflexões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5348746" y="2042448"/>
            <a:ext cx="0" cy="34314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5633880" y="1855946"/>
            <a:ext cx="1818971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Ângulos diretos</a:t>
            </a:r>
          </a:p>
        </p:txBody>
      </p:sp>
      <p:cxnSp>
        <p:nvCxnSpPr>
          <p:cNvPr id="17" name="Conector reto 16"/>
          <p:cNvCxnSpPr/>
          <p:nvPr/>
        </p:nvCxnSpPr>
        <p:spPr>
          <a:xfrm>
            <a:off x="5338911" y="2052280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338907" y="5473906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5658628" y="5269682"/>
            <a:ext cx="1666404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 orientação</a:t>
            </a:r>
          </a:p>
        </p:txBody>
      </p:sp>
      <p:cxnSp>
        <p:nvCxnSpPr>
          <p:cNvPr id="20" name="Conector reto 19"/>
          <p:cNvCxnSpPr/>
          <p:nvPr/>
        </p:nvCxnSpPr>
        <p:spPr>
          <a:xfrm>
            <a:off x="7452851" y="2039786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8386915" y="1587502"/>
            <a:ext cx="0" cy="9045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spaço Reservado para Conteúdo 2"/>
          <p:cNvSpPr txBox="1">
            <a:spLocks/>
          </p:cNvSpPr>
          <p:nvPr/>
        </p:nvSpPr>
        <p:spPr>
          <a:xfrm>
            <a:off x="8367251" y="1319784"/>
            <a:ext cx="100289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Interno</a:t>
            </a:r>
          </a:p>
        </p:txBody>
      </p:sp>
      <p:sp>
        <p:nvSpPr>
          <p:cNvPr id="24" name="Espaço Reservado para Conteúdo 2"/>
          <p:cNvSpPr txBox="1">
            <a:spLocks/>
          </p:cNvSpPr>
          <p:nvPr/>
        </p:nvSpPr>
        <p:spPr>
          <a:xfrm>
            <a:off x="8367250" y="2317650"/>
            <a:ext cx="100289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Externo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6902245" y="3758177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/>
          <p:nvPr/>
        </p:nvCxnSpPr>
        <p:spPr>
          <a:xfrm>
            <a:off x="7836309" y="3305893"/>
            <a:ext cx="0" cy="9045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ço Reservado para Conteúdo 2"/>
          <p:cNvSpPr txBox="1">
            <a:spLocks/>
          </p:cNvSpPr>
          <p:nvPr/>
        </p:nvSpPr>
        <p:spPr>
          <a:xfrm>
            <a:off x="7816644" y="3038175"/>
            <a:ext cx="1238865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Esquerda</a:t>
            </a:r>
          </a:p>
        </p:txBody>
      </p:sp>
      <p:sp>
        <p:nvSpPr>
          <p:cNvPr id="28" name="Espaço Reservado para Conteúdo 2"/>
          <p:cNvSpPr txBox="1">
            <a:spLocks/>
          </p:cNvSpPr>
          <p:nvPr/>
        </p:nvSpPr>
        <p:spPr>
          <a:xfrm>
            <a:off x="7816644" y="4036041"/>
            <a:ext cx="904569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Direita</a:t>
            </a:r>
          </a:p>
        </p:txBody>
      </p:sp>
      <p:cxnSp>
        <p:nvCxnSpPr>
          <p:cNvPr id="29" name="Conector reto 28"/>
          <p:cNvCxnSpPr/>
          <p:nvPr/>
        </p:nvCxnSpPr>
        <p:spPr>
          <a:xfrm>
            <a:off x="7325032" y="5507859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/>
          <p:nvPr/>
        </p:nvCxnSpPr>
        <p:spPr>
          <a:xfrm>
            <a:off x="8259096" y="5055575"/>
            <a:ext cx="0" cy="9045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ço Reservado para Conteúdo 2"/>
          <p:cNvSpPr txBox="1">
            <a:spLocks/>
          </p:cNvSpPr>
          <p:nvPr/>
        </p:nvSpPr>
        <p:spPr>
          <a:xfrm>
            <a:off x="8239432" y="4787857"/>
            <a:ext cx="816078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Rumo</a:t>
            </a:r>
          </a:p>
        </p:txBody>
      </p:sp>
      <p:sp>
        <p:nvSpPr>
          <p:cNvPr id="32" name="Espaço Reservado para Conteúdo 2"/>
          <p:cNvSpPr txBox="1">
            <a:spLocks/>
          </p:cNvSpPr>
          <p:nvPr/>
        </p:nvSpPr>
        <p:spPr>
          <a:xfrm>
            <a:off x="8239431" y="5785723"/>
            <a:ext cx="1061885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Azimute</a:t>
            </a:r>
          </a:p>
        </p:txBody>
      </p:sp>
    </p:spTree>
    <p:extLst>
      <p:ext uri="{BB962C8B-B14F-4D97-AF65-F5344CB8AC3E}">
        <p14:creationId xmlns:p14="http://schemas.microsoft.com/office/powerpoint/2010/main" val="243770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Tipos de ângulos horizontais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7148050" y="998084"/>
            <a:ext cx="1268362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Deflexões</a:t>
            </a:r>
          </a:p>
        </p:txBody>
      </p:sp>
      <p:sp>
        <p:nvSpPr>
          <p:cNvPr id="23" name="Espaço Reservado para Conteúdo 2"/>
          <p:cNvSpPr txBox="1">
            <a:spLocks/>
          </p:cNvSpPr>
          <p:nvPr/>
        </p:nvSpPr>
        <p:spPr>
          <a:xfrm>
            <a:off x="4943156" y="3595656"/>
            <a:ext cx="123395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Interno</a:t>
            </a:r>
          </a:p>
        </p:txBody>
      </p:sp>
      <p:sp>
        <p:nvSpPr>
          <p:cNvPr id="24" name="Espaço Reservado para Conteúdo 2"/>
          <p:cNvSpPr txBox="1">
            <a:spLocks/>
          </p:cNvSpPr>
          <p:nvPr/>
        </p:nvSpPr>
        <p:spPr>
          <a:xfrm>
            <a:off x="4478584" y="1420122"/>
            <a:ext cx="114546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Externo</a:t>
            </a:r>
          </a:p>
        </p:txBody>
      </p:sp>
      <p:sp>
        <p:nvSpPr>
          <p:cNvPr id="27" name="Espaço Reservado para Conteúdo 2"/>
          <p:cNvSpPr txBox="1">
            <a:spLocks/>
          </p:cNvSpPr>
          <p:nvPr/>
        </p:nvSpPr>
        <p:spPr>
          <a:xfrm>
            <a:off x="6037006" y="1545932"/>
            <a:ext cx="1475003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Esquerda</a:t>
            </a:r>
          </a:p>
        </p:txBody>
      </p:sp>
      <p:sp>
        <p:nvSpPr>
          <p:cNvPr id="28" name="Espaço Reservado para Conteúdo 2"/>
          <p:cNvSpPr txBox="1">
            <a:spLocks/>
          </p:cNvSpPr>
          <p:nvPr/>
        </p:nvSpPr>
        <p:spPr>
          <a:xfrm>
            <a:off x="8288593" y="1934716"/>
            <a:ext cx="1170041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Direita</a:t>
            </a:r>
          </a:p>
        </p:txBody>
      </p:sp>
      <p:sp>
        <p:nvSpPr>
          <p:cNvPr id="31" name="Espaço Reservado para Conteúdo 2"/>
          <p:cNvSpPr txBox="1">
            <a:spLocks/>
          </p:cNvSpPr>
          <p:nvPr/>
        </p:nvSpPr>
        <p:spPr>
          <a:xfrm>
            <a:off x="8150940" y="3277089"/>
            <a:ext cx="816078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Rumo</a:t>
            </a:r>
          </a:p>
        </p:txBody>
      </p:sp>
      <p:sp>
        <p:nvSpPr>
          <p:cNvPr id="32" name="Espaço Reservado para Conteúdo 2"/>
          <p:cNvSpPr txBox="1">
            <a:spLocks/>
          </p:cNvSpPr>
          <p:nvPr/>
        </p:nvSpPr>
        <p:spPr>
          <a:xfrm>
            <a:off x="7089055" y="5478567"/>
            <a:ext cx="1061885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Azimute</a:t>
            </a:r>
          </a:p>
        </p:txBody>
      </p:sp>
      <p:sp>
        <p:nvSpPr>
          <p:cNvPr id="2" name="Retângulo 1"/>
          <p:cNvSpPr/>
          <p:nvPr/>
        </p:nvSpPr>
        <p:spPr>
          <a:xfrm>
            <a:off x="402130" y="806367"/>
            <a:ext cx="2737310" cy="13234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O </a:t>
            </a:r>
            <a:r>
              <a:rPr lang="pt-BR" sz="2000" b="1" dirty="0"/>
              <a:t>rumo</a:t>
            </a:r>
            <a:r>
              <a:rPr lang="pt-BR" sz="2000" dirty="0"/>
              <a:t> é o menor ângulo formado entre a linha Norte-Sul e o alinhamento.</a:t>
            </a:r>
          </a:p>
        </p:txBody>
      </p:sp>
    </p:spTree>
    <p:extLst>
      <p:ext uri="{BB962C8B-B14F-4D97-AF65-F5344CB8AC3E}">
        <p14:creationId xmlns:p14="http://schemas.microsoft.com/office/powerpoint/2010/main" val="230478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6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Tipos de ângulos horizontais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7148050" y="998084"/>
            <a:ext cx="1268362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Deflexões</a:t>
            </a:r>
          </a:p>
        </p:txBody>
      </p:sp>
      <p:sp>
        <p:nvSpPr>
          <p:cNvPr id="23" name="Espaço Reservado para Conteúdo 2"/>
          <p:cNvSpPr txBox="1">
            <a:spLocks/>
          </p:cNvSpPr>
          <p:nvPr/>
        </p:nvSpPr>
        <p:spPr>
          <a:xfrm>
            <a:off x="4943156" y="3595656"/>
            <a:ext cx="123395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Interno</a:t>
            </a:r>
          </a:p>
        </p:txBody>
      </p:sp>
      <p:sp>
        <p:nvSpPr>
          <p:cNvPr id="24" name="Espaço Reservado para Conteúdo 2"/>
          <p:cNvSpPr txBox="1">
            <a:spLocks/>
          </p:cNvSpPr>
          <p:nvPr/>
        </p:nvSpPr>
        <p:spPr>
          <a:xfrm>
            <a:off x="4478584" y="1420122"/>
            <a:ext cx="1145462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Externo</a:t>
            </a:r>
          </a:p>
        </p:txBody>
      </p:sp>
      <p:sp>
        <p:nvSpPr>
          <p:cNvPr id="27" name="Espaço Reservado para Conteúdo 2"/>
          <p:cNvSpPr txBox="1">
            <a:spLocks/>
          </p:cNvSpPr>
          <p:nvPr/>
        </p:nvSpPr>
        <p:spPr>
          <a:xfrm>
            <a:off x="6037006" y="1545932"/>
            <a:ext cx="1475003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Esquerda</a:t>
            </a:r>
          </a:p>
        </p:txBody>
      </p:sp>
      <p:sp>
        <p:nvSpPr>
          <p:cNvPr id="28" name="Espaço Reservado para Conteúdo 2"/>
          <p:cNvSpPr txBox="1">
            <a:spLocks/>
          </p:cNvSpPr>
          <p:nvPr/>
        </p:nvSpPr>
        <p:spPr>
          <a:xfrm>
            <a:off x="8288593" y="1934716"/>
            <a:ext cx="1170041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Direita</a:t>
            </a:r>
          </a:p>
        </p:txBody>
      </p:sp>
      <p:sp>
        <p:nvSpPr>
          <p:cNvPr id="31" name="Espaço Reservado para Conteúdo 2"/>
          <p:cNvSpPr txBox="1">
            <a:spLocks/>
          </p:cNvSpPr>
          <p:nvPr/>
        </p:nvSpPr>
        <p:spPr>
          <a:xfrm>
            <a:off x="8150940" y="3277089"/>
            <a:ext cx="816078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Rumo</a:t>
            </a:r>
          </a:p>
        </p:txBody>
      </p:sp>
      <p:sp>
        <p:nvSpPr>
          <p:cNvPr id="32" name="Espaço Reservado para Conteúdo 2"/>
          <p:cNvSpPr txBox="1">
            <a:spLocks/>
          </p:cNvSpPr>
          <p:nvPr/>
        </p:nvSpPr>
        <p:spPr>
          <a:xfrm>
            <a:off x="7089055" y="5478567"/>
            <a:ext cx="1061885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Azimute</a:t>
            </a:r>
          </a:p>
        </p:txBody>
      </p:sp>
      <p:sp>
        <p:nvSpPr>
          <p:cNvPr id="2" name="Retângulo 1"/>
          <p:cNvSpPr/>
          <p:nvPr/>
        </p:nvSpPr>
        <p:spPr>
          <a:xfrm>
            <a:off x="402130" y="806367"/>
            <a:ext cx="2737310" cy="224676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O </a:t>
            </a:r>
            <a:r>
              <a:rPr lang="pt-BR" sz="2000" b="1" dirty="0" smtClean="0"/>
              <a:t>Azimute </a:t>
            </a:r>
            <a:r>
              <a:rPr lang="pt-BR" sz="2000" dirty="0" smtClean="0"/>
              <a:t>é a medida do ângulo formado entre o Norte e o alinhamento do próximo segmento de poligonal, medido </a:t>
            </a:r>
            <a:r>
              <a:rPr lang="pt-BR" sz="2000" b="1" dirty="0" smtClean="0"/>
              <a:t>SEMPRE no sentido horário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544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7" name="Retângulo 6"/>
          <p:cNvSpPr/>
          <p:nvPr/>
        </p:nvSpPr>
        <p:spPr>
          <a:xfrm>
            <a:off x="1415845" y="2866563"/>
            <a:ext cx="3038168" cy="584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7" idx="3"/>
            <a:endCxn id="9" idx="1"/>
          </p:cNvCxnSpPr>
          <p:nvPr/>
        </p:nvCxnSpPr>
        <p:spPr>
          <a:xfrm flipV="1">
            <a:off x="4454013" y="3082149"/>
            <a:ext cx="904569" cy="76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5358582" y="773825"/>
            <a:ext cx="6322142" cy="461664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DESCRIÇÃO DA POLIGONAL DA ÁREA A SER DESMEMBRADA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 partir deste deflete-se a direita e segue-se por </a:t>
            </a:r>
            <a:r>
              <a:rPr lang="pt-BR" sz="2000" b="1" dirty="0" smtClean="0"/>
              <a:t>15,24m</a:t>
            </a:r>
            <a:r>
              <a:rPr lang="pt-BR" sz="2000" dirty="0" smtClean="0"/>
              <a:t> com azimute de </a:t>
            </a:r>
            <a:r>
              <a:rPr lang="pt-BR" sz="2000" b="1" dirty="0" smtClean="0"/>
              <a:t>155º2’51’’ </a:t>
            </a:r>
            <a:r>
              <a:rPr lang="pt-BR" sz="2000" dirty="0" smtClean="0"/>
              <a:t>até encontrar o </a:t>
            </a:r>
            <a:r>
              <a:rPr lang="pt-BR" sz="2000" b="1" dirty="0" smtClean="0"/>
              <a:t>ponto 13</a:t>
            </a:r>
            <a:r>
              <a:rPr lang="pt-BR" sz="2000" dirty="0" smtClean="0"/>
              <a:t>; deste deflete-se a esquerda e segue-se por </a:t>
            </a:r>
            <a:r>
              <a:rPr lang="pt-BR" sz="2000" b="1" dirty="0" smtClean="0"/>
              <a:t>20,54m</a:t>
            </a:r>
            <a:r>
              <a:rPr lang="pt-BR" sz="2000" dirty="0" smtClean="0"/>
              <a:t> com azimute de </a:t>
            </a:r>
            <a:r>
              <a:rPr lang="pt-BR" sz="2000" b="1" dirty="0" smtClean="0"/>
              <a:t>133º48’5’’ </a:t>
            </a:r>
            <a:r>
              <a:rPr lang="pt-BR" sz="2000" dirty="0" smtClean="0"/>
              <a:t>até encontrar o </a:t>
            </a:r>
            <a:r>
              <a:rPr lang="pt-BR" sz="2000" b="1" dirty="0" smtClean="0"/>
              <a:t>ponto 14; </a:t>
            </a:r>
            <a:r>
              <a:rPr lang="pt-BR" sz="2000" dirty="0" smtClean="0"/>
              <a:t>deste deflete-se a direita e segue-se por </a:t>
            </a:r>
            <a:r>
              <a:rPr lang="pt-BR" sz="2000" b="1" dirty="0" smtClean="0"/>
              <a:t>63,12m</a:t>
            </a:r>
            <a:r>
              <a:rPr lang="pt-BR" sz="2000" dirty="0" smtClean="0"/>
              <a:t> com azimute de </a:t>
            </a:r>
            <a:r>
              <a:rPr lang="pt-BR" sz="2000" b="1" dirty="0" smtClean="0"/>
              <a:t>144º30’16’’ </a:t>
            </a:r>
            <a:r>
              <a:rPr lang="pt-BR" sz="2000" dirty="0" smtClean="0"/>
              <a:t>até encontrar o </a:t>
            </a:r>
            <a:r>
              <a:rPr lang="pt-BR" sz="2000" b="1" dirty="0" smtClean="0"/>
              <a:t>ponto 15</a:t>
            </a:r>
            <a:r>
              <a:rPr lang="pt-BR" sz="2000" dirty="0" smtClean="0"/>
              <a:t>; deste deflete-se a esquerda e segue-se por </a:t>
            </a:r>
            <a:r>
              <a:rPr lang="pt-BR" sz="2000" b="1" dirty="0" smtClean="0"/>
              <a:t>21,36m</a:t>
            </a:r>
            <a:r>
              <a:rPr lang="pt-BR" sz="2000" dirty="0" smtClean="0"/>
              <a:t> com azimute de </a:t>
            </a:r>
            <a:r>
              <a:rPr lang="pt-BR" sz="2000" b="1" dirty="0" smtClean="0"/>
              <a:t>129º42’40’’ </a:t>
            </a:r>
            <a:r>
              <a:rPr lang="pt-BR" sz="2000" dirty="0" smtClean="0"/>
              <a:t>até o </a:t>
            </a:r>
            <a:r>
              <a:rPr lang="pt-BR" sz="2000" b="1" dirty="0" smtClean="0"/>
              <a:t>ponto 16</a:t>
            </a:r>
            <a:r>
              <a:rPr lang="pt-BR" sz="2000" dirty="0" smtClean="0"/>
              <a:t>.</a:t>
            </a:r>
            <a:endParaRPr lang="pt-BR" sz="2000" b="1" dirty="0" smtClean="0"/>
          </a:p>
        </p:txBody>
      </p:sp>
      <p:sp>
        <p:nvSpPr>
          <p:cNvPr id="13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Memorial descritivo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0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PLANIMETRIA</a:t>
            </a:r>
          </a:p>
        </p:txBody>
      </p:sp>
      <p:sp>
        <p:nvSpPr>
          <p:cNvPr id="7" name="Retângulo 6"/>
          <p:cNvSpPr/>
          <p:nvPr/>
        </p:nvSpPr>
        <p:spPr>
          <a:xfrm>
            <a:off x="1415845" y="3332340"/>
            <a:ext cx="3038168" cy="584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7" idx="3"/>
            <a:endCxn id="9" idx="1"/>
          </p:cNvCxnSpPr>
          <p:nvPr/>
        </p:nvCxnSpPr>
        <p:spPr>
          <a:xfrm flipV="1">
            <a:off x="4454013" y="2851317"/>
            <a:ext cx="904569" cy="7733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5358582" y="773825"/>
            <a:ext cx="6322142" cy="4154984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DESCRIÇÃO DA POLIGONAL DA ÁREA A SER DESMEMBRADA</a:t>
            </a:r>
          </a:p>
          <a:p>
            <a:endParaRPr lang="pt-BR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/>
              <a:t>Até aqui confrontando com o LOTE 02 objeto deste desmembramento. A partir deste deflete-se a direita e segue-se </a:t>
            </a:r>
            <a:r>
              <a:rPr lang="pt-BR" sz="2000" b="1" dirty="0" smtClean="0"/>
              <a:t>14,20m</a:t>
            </a:r>
            <a:r>
              <a:rPr lang="pt-BR" sz="2000" dirty="0" smtClean="0"/>
              <a:t> com azimute </a:t>
            </a:r>
            <a:r>
              <a:rPr lang="pt-BR" sz="2000" b="1" dirty="0" smtClean="0"/>
              <a:t>266º1’17’’ </a:t>
            </a:r>
            <a:r>
              <a:rPr lang="pt-BR" sz="2000" dirty="0" smtClean="0"/>
              <a:t>até encontrar o </a:t>
            </a:r>
            <a:r>
              <a:rPr lang="pt-BR" sz="2000" b="1" dirty="0" smtClean="0"/>
              <a:t>ponto 10</a:t>
            </a:r>
            <a:r>
              <a:rPr lang="pt-BR" sz="2000" dirty="0" smtClean="0"/>
              <a:t>, até aqui confrontando com o terreno LOTE 03 também objeto deste desmembramento. A partir deste deflete-se a direita e segue-se por </a:t>
            </a:r>
            <a:r>
              <a:rPr lang="pt-BR" sz="2000" b="1" dirty="0" smtClean="0"/>
              <a:t>17,78m</a:t>
            </a:r>
            <a:r>
              <a:rPr lang="pt-BR" sz="2000" dirty="0" smtClean="0"/>
              <a:t> com azimute </a:t>
            </a:r>
            <a:r>
              <a:rPr lang="pt-BR" sz="2000" b="1" dirty="0" smtClean="0"/>
              <a:t>316º27’37’</a:t>
            </a:r>
            <a:r>
              <a:rPr lang="pt-BR" sz="2000" dirty="0" smtClean="0"/>
              <a:t>’ até encontrar o </a:t>
            </a:r>
            <a:r>
              <a:rPr lang="pt-BR" sz="2000" b="1" dirty="0" smtClean="0"/>
              <a:t>ponto 11</a:t>
            </a:r>
            <a:r>
              <a:rPr lang="pt-BR" sz="2000" dirty="0"/>
              <a:t>;</a:t>
            </a:r>
            <a:r>
              <a:rPr lang="pt-BR" sz="2000" dirty="0" smtClean="0"/>
              <a:t> </a:t>
            </a:r>
            <a:endParaRPr lang="pt-BR" sz="2000" b="1" dirty="0" smtClean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Memorial descritivo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6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TAREFA</a:t>
            </a:r>
          </a:p>
        </p:txBody>
      </p:sp>
      <p:sp>
        <p:nvSpPr>
          <p:cNvPr id="9" name="Retângulo 8"/>
          <p:cNvSpPr/>
          <p:nvPr/>
        </p:nvSpPr>
        <p:spPr>
          <a:xfrm>
            <a:off x="108488" y="469900"/>
            <a:ext cx="11961592" cy="147732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 smtClean="0"/>
              <a:t>Exercício 1</a:t>
            </a:r>
            <a:endParaRPr lang="pt-BR" sz="2000" b="1" dirty="0"/>
          </a:p>
          <a:p>
            <a:pPr algn="just">
              <a:lnSpc>
                <a:spcPct val="150000"/>
              </a:lnSpc>
            </a:pPr>
            <a:r>
              <a:rPr lang="pt-BR" sz="2000" dirty="0"/>
              <a:t>Um terreno, em </a:t>
            </a:r>
            <a:r>
              <a:rPr lang="pt-BR" sz="2000" u="sng" dirty="0"/>
              <a:t>forma de paralelogramo</a:t>
            </a:r>
            <a:r>
              <a:rPr lang="pt-BR" sz="2000" dirty="0"/>
              <a:t>, foi levantado </a:t>
            </a:r>
            <a:r>
              <a:rPr lang="pt-BR" sz="2000" dirty="0" smtClean="0"/>
              <a:t>conforme o </a:t>
            </a:r>
            <a:r>
              <a:rPr lang="pt-BR" sz="2000" dirty="0"/>
              <a:t>croqui abaixo, obtendo-se os seguintes dados</a:t>
            </a:r>
            <a:r>
              <a:rPr lang="pt-BR" sz="2000" dirty="0" smtClean="0"/>
              <a:t>: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a) A-B = 60,00m; b) α = 60º30'15" e β = 129º25'20</a:t>
            </a:r>
            <a:r>
              <a:rPr lang="pt-BR" sz="2000" dirty="0" smtClean="0"/>
              <a:t>"</a:t>
            </a:r>
            <a:endParaRPr lang="pt-BR" sz="2000" dirty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Material para a disciplina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81000" y="2382914"/>
            <a:ext cx="34747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/>
              <a:t>Determinar:</a:t>
            </a:r>
          </a:p>
          <a:p>
            <a:r>
              <a:rPr lang="pt-BR" sz="2000" dirty="0"/>
              <a:t>1) O perímetro do polígono;</a:t>
            </a:r>
          </a:p>
          <a:p>
            <a:r>
              <a:rPr lang="pt-BR" sz="2000" dirty="0"/>
              <a:t>2) As coordenadas retangulares dos vértices B, C e D, considerando-se o alinhamento A-B sobre o eixo X e o ponto A na origem, isto é, A(0,00; 0,00);</a:t>
            </a:r>
          </a:p>
        </p:txBody>
      </p:sp>
    </p:spTree>
    <p:extLst>
      <p:ext uri="{BB962C8B-B14F-4D97-AF65-F5344CB8AC3E}">
        <p14:creationId xmlns:p14="http://schemas.microsoft.com/office/powerpoint/2010/main" val="50780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15878</TotalTime>
  <Words>1087</Words>
  <Application>Microsoft Office PowerPoint</Application>
  <PresentationFormat>Widescreen</PresentationFormat>
  <Paragraphs>145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Montserrat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Britto</dc:creator>
  <cp:lastModifiedBy>Marcos Britto</cp:lastModifiedBy>
  <cp:revision>253</cp:revision>
  <cp:lastPrinted>2023-03-07T20:52:12Z</cp:lastPrinted>
  <dcterms:created xsi:type="dcterms:W3CDTF">2022-12-27T23:36:38Z</dcterms:created>
  <dcterms:modified xsi:type="dcterms:W3CDTF">2024-02-24T18:50:01Z</dcterms:modified>
</cp:coreProperties>
</file>